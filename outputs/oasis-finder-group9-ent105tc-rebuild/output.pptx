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fd795801d8437d" /><Relationship Type="http://schemas.openxmlformats.org/officeDocument/2006/relationships/extended-properties" Target="/docProps/app.xml" Id="Rcac1c3eaa0c545fb" /><Relationship Type="http://schemas.openxmlformats.org/officeDocument/2006/relationships/officeDocument" Target="/ppt/presentation.xml" Id="R652dd28bc32c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892eac2d4b4dcc"/>
  </p:sldMasterIdLst>
  <p:notesMasterIdLst>
    <p:notesMasterId xmlns:r="http://schemas.openxmlformats.org/officeDocument/2006/relationships" r:id="Ra038010c1e0e4cb8"/>
  </p:notesMasterIdLst>
  <p:sldIdLst>
    <p:sldId xmlns:r="http://schemas.openxmlformats.org/officeDocument/2006/relationships" id="256" r:id="R729c4ec5c1b24d51"/>
    <p:sldId xmlns:r="http://schemas.openxmlformats.org/officeDocument/2006/relationships" id="257" r:id="R73bfb7ff97814868"/>
    <p:sldId xmlns:r="http://schemas.openxmlformats.org/officeDocument/2006/relationships" id="258" r:id="R7f4a73e364904897"/>
    <p:sldId xmlns:r="http://schemas.openxmlformats.org/officeDocument/2006/relationships" id="259" r:id="R68268d92fd8c4fe4"/>
    <p:sldId xmlns:r="http://schemas.openxmlformats.org/officeDocument/2006/relationships" id="260" r:id="R4eaa185fb3164654"/>
    <p:sldId xmlns:r="http://schemas.openxmlformats.org/officeDocument/2006/relationships" id="261" r:id="R5b53925d94e94138"/>
    <p:sldId xmlns:r="http://schemas.openxmlformats.org/officeDocument/2006/relationships" id="262" r:id="Re3a39857f4af43e6"/>
    <p:sldId xmlns:r="http://schemas.openxmlformats.org/officeDocument/2006/relationships" id="263" r:id="Ra61bdd88d25e42f0"/>
    <p:sldId xmlns:r="http://schemas.openxmlformats.org/officeDocument/2006/relationships" id="264" r:id="R4de37af9f15a4f68"/>
    <p:sldId xmlns:r="http://schemas.openxmlformats.org/officeDocument/2006/relationships" id="265" r:id="R37e8060584fe455d"/>
    <p:sldId xmlns:r="http://schemas.openxmlformats.org/officeDocument/2006/relationships" id="266" r:id="Rab5bf1ee350a4e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892eac2d4b4dcc" /><Relationship Type="http://schemas.openxmlformats.org/officeDocument/2006/relationships/theme" Target="/ppt/theme/theme1.xml" Id="Rf2a2189296094218" /><Relationship Type="http://schemas.openxmlformats.org/officeDocument/2006/relationships/notesMaster" Target="/ppt/notesMasters/notesMaster1.xml" Id="Ra038010c1e0e4cb8" /><Relationship Type="http://schemas.openxmlformats.org/officeDocument/2006/relationships/presProps" Target="/ppt/presProps.xml" Id="R49d53fec68d0443f" /><Relationship Type="http://schemas.openxmlformats.org/officeDocument/2006/relationships/viewProps" Target="/ppt/viewProps.xml" Id="R34817d977bbf4565" /><Relationship Type="http://schemas.openxmlformats.org/officeDocument/2006/relationships/tableStyles" Target="/ppt/tableStyles.xml" Id="R7bd1df49c0e542fd" /><Relationship Type="http://schemas.openxmlformats.org/officeDocument/2006/relationships/slide" Target="/ppt/slides/slide1.xml" Id="R729c4ec5c1b24d51" /><Relationship Type="http://schemas.openxmlformats.org/officeDocument/2006/relationships/slide" Target="/ppt/slides/slide2.xml" Id="R73bfb7ff97814868" /><Relationship Type="http://schemas.openxmlformats.org/officeDocument/2006/relationships/slide" Target="/ppt/slides/slide3.xml" Id="R7f4a73e364904897" /><Relationship Type="http://schemas.openxmlformats.org/officeDocument/2006/relationships/slide" Target="/ppt/slides/slide4.xml" Id="R68268d92fd8c4fe4" /><Relationship Type="http://schemas.openxmlformats.org/officeDocument/2006/relationships/slide" Target="/ppt/slides/slide5.xml" Id="R4eaa185fb3164654" /><Relationship Type="http://schemas.openxmlformats.org/officeDocument/2006/relationships/slide" Target="/ppt/slides/slide6.xml" Id="R5b53925d94e94138" /><Relationship Type="http://schemas.openxmlformats.org/officeDocument/2006/relationships/slide" Target="/ppt/slides/slide7.xml" Id="Re3a39857f4af43e6" /><Relationship Type="http://schemas.openxmlformats.org/officeDocument/2006/relationships/slide" Target="/ppt/slides/slide8.xml" Id="Ra61bdd88d25e42f0" /><Relationship Type="http://schemas.openxmlformats.org/officeDocument/2006/relationships/slide" Target="/ppt/slides/slide9.xml" Id="R4de37af9f15a4f68" /><Relationship Type="http://schemas.openxmlformats.org/officeDocument/2006/relationships/slide" Target="/ppt/slides/slide10.xml" Id="R37e8060584fe455d" /><Relationship Type="http://schemas.openxmlformats.org/officeDocument/2006/relationships/slide" Target="/ppt/slides/slide11.xml" Id="Rab5bf1ee350a4e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385bd68252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89e815ba934f23" /><Relationship Type="http://schemas.openxmlformats.org/officeDocument/2006/relationships/notesMaster" Target="/ppt/notesMasters/notesMaster1.xml" Id="R97f9d50a22a84d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613736e494384" /><Relationship Type="http://schemas.openxmlformats.org/officeDocument/2006/relationships/notesMaster" Target="/ppt/notesMasters/notesMaster1.xml" Id="R5ef6b34ba0bf4d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5dc3791084485a" /><Relationship Type="http://schemas.openxmlformats.org/officeDocument/2006/relationships/notesMaster" Target="/ppt/notesMasters/notesMaster1.xml" Id="R3462f9e31310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94d6b9898045f6" /><Relationship Type="http://schemas.openxmlformats.org/officeDocument/2006/relationships/notesMaster" Target="/ppt/notesMasters/notesMaster1.xml" Id="R9e783e94f64243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9df9f4f53b49f8" /><Relationship Type="http://schemas.openxmlformats.org/officeDocument/2006/relationships/notesMaster" Target="/ppt/notesMasters/notesMaster1.xml" Id="Rc951ec50f89547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6b1c23f7bd4252" /><Relationship Type="http://schemas.openxmlformats.org/officeDocument/2006/relationships/notesMaster" Target="/ppt/notesMasters/notesMaster1.xml" Id="R3b08919db2184b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38c90ea9d4405c" /><Relationship Type="http://schemas.openxmlformats.org/officeDocument/2006/relationships/notesMaster" Target="/ppt/notesMasters/notesMaster1.xml" Id="R6b458b35e4394e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99282dfc1b4cf9" /><Relationship Type="http://schemas.openxmlformats.org/officeDocument/2006/relationships/notesMaster" Target="/ppt/notesMasters/notesMaster1.xml" Id="R4936591a40a84e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215823e0b2490b" /><Relationship Type="http://schemas.openxmlformats.org/officeDocument/2006/relationships/notesMaster" Target="/ppt/notesMasters/notesMaster1.xml" Id="Rdf11829fc78d4f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226bada5a94e41" /><Relationship Type="http://schemas.openxmlformats.org/officeDocument/2006/relationships/notesMaster" Target="/ppt/notesMasters/notesMaster1.xml" Id="R0d3c4e3794b643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6c04a81b3b4fb1" /><Relationship Type="http://schemas.openxmlformats.org/officeDocument/2006/relationships/notesMaster" Target="/ppt/notesMasters/notesMaster1.xml" Id="R60d023a45e5140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Opening. Reframe Oasis Finder as a commercial transparency method: merchants show supply-chain structure and evidence so users feel safer and are more likely to buy.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explain the revised premise. We are testing purchase probability after a merchant shows supply-chain structure. Do not claim a precise sample statistic unless raw survey data is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Group 9 internal questionnaire direction (2026); raw response file is not stored in this repository, so charts are treated as directional evidence rather than population statistics.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explain why merchants would pay for this method. It is a marketing tool because traceable information quality and certification credibility affect perceived risk, perceived value, and purchase intention.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connect this to teacher feedback. The product layer must show exactly what variables appear when the user clicks a node. Mention FDA CTE/KDE logic and GS1 traceability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Rui: tell the build story. We started with a broad transparency idea, used research to narrow it, built the data foundation, and then added the click-to-inspect product evidence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  <a:p xmlns:a="http://schemas.openxmlformats.org/drawingml/2006/main">
            <a:r>
              <a:t>- Badia-Melis, R., Mishra, P., &amp; Ruiz-García, L. (2015). Food traceability: New trends and recent advances. Food Control, 57, 393-401. https://doi.org/10.1016/j.foodcont.2015.05.005</a:t>
            </a:r>
          </a:p>
          <a:p xmlns:a="http://schemas.openxmlformats.org/drawingml/2006/main">
            <a:r>
              <a:t>- 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this is the central product slide. Say that a merchant can use this exact view, or a web/QR version of it, to show evidence at the product page. Point to variables: time, place, stage, quality, temperature,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clarify the data-responsibility point. Our code is open source, and the product reserves interfaces. We do not guarantee a big company's or any merchant's data authenticity.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show that we can back the marketing interface with operational data. Mention 97 facilities, 200 links, 418 batches, and model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Zixiu: this slide answers why merchants gain. It is an indexed value model, not a guaranteed financial forecast. Tie it to WTP, purchase intention, perceived risk, and perceived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rehearsal slide if needed. Rui hands over after the build story, and Zixiu starts from product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Closing. State the final line slowly, then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[APA sources / evidence]</a:t>
            </a:r>
          </a:p>
          <a:p xmlns:a="http://schemas.openxmlformats.org/drawingml/2006/main">
            <a:r>
              <a:t>- Ge, L. (2022). To buy or not to buy? A research on the relationship between traceable food extrinsic cues and consumers' purchase intention. Frontiers in Psychology, 13, 873941. https://doi.org/10.3389/fpsyg.2022.873941</a:t>
            </a:r>
          </a:p>
          <a:p xmlns:a="http://schemas.openxmlformats.org/drawingml/2006/main">
            <a:r>
              <a:t>- Tran, D., Schouteten, J. J., Gellynck, X., &amp; De Steur, H. (2024). How do consumers value food traceability? A meta-analysis. Food Control, 162, 110453. https://doi.org/10.1016/j.foodcont.2024.110453</a:t>
            </a:r>
          </a:p>
          <a:p xmlns:a="http://schemas.openxmlformats.org/drawingml/2006/main">
            <a:r>
              <a:t>- 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  <a:p xmlns:a="http://schemas.openxmlformats.org/drawingml/2006/main">
            <a:r>
              <a:t>- Badia-Melis, R., Mishra, P., &amp; Ruiz-García, L. (2015). Food traceability: New trends and recent advances. Food Control, 57, 393-401. https://doi.org/10.1016/j.foodcont.2015.05.005</a:t>
            </a:r>
          </a:p>
          <a:p xmlns:a="http://schemas.openxmlformats.org/drawingml/2006/main">
            <a:r>
              <a:t>- 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  <a:p xmlns:a="http://schemas.openxmlformats.org/drawingml/2006/main">
            <a:r>
              <a:t>- U.S. Food and Drug Administration. (2024). Food Traceability Rule: Critical Tracking Events and Key Data Elements. https://www.fda.gov/food/food-safety-modernization-act-fsma/fsma-proposed-rule-food-traceability</a:t>
            </a:r>
          </a:p>
          <a:p xmlns:a="http://schemas.openxmlformats.org/drawingml/2006/main">
            <a:r>
              <a:t>- GS1. (n.d.). Traceability standards: Critical Tracking Events and Key Data Elements. https://www.gs1.org/standards/traceability</a:t>
            </a:r>
          </a:p>
          <a:p xmlns:a="http://schemas.openxmlformats.org/drawingml/2006/main">
            <a:r>
              <a:t>- https://github.com/3351666087/Oasis-Finder; local health check on 2026-04-27; artifacts/risk_metrics.json; artifacts/forecast_metrics.json.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d4c0945eb482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5DB6AA6-1608-48CF-A2A1-8B7642F3FCD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685297-07CE-49FD-A898-41BC10B191D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9924DC-D66A-4742-87CE-549D537F012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DB5A4D-F5C2-4F6E-AA56-02050309ABC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7c433424494e9f" /><Relationship Type="http://schemas.openxmlformats.org/officeDocument/2006/relationships/slideLayout" Target="/ppt/slideLayouts/slideLayout2.xml" Id="Rada698d68f644b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EA9463-6E52-4CB2-98DF-B6C708D0F22B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a698d68f644b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d1d7b044274e02" /><Relationship Type="http://schemas.openxmlformats.org/officeDocument/2006/relationships/notesSlide" Target="/ppt/notesSlides/notesSlide1.xml" Id="Rfaee8f5410bd43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c2ebec1a1e441e" /><Relationship Type="http://schemas.openxmlformats.org/officeDocument/2006/relationships/chart" Target="/ppt/slides/charts/chart1.xml" Id="R5b823227480a4f7f" /><Relationship Type="http://schemas.openxmlformats.org/officeDocument/2006/relationships/notesSlide" Target="/ppt/notesSlides/notesSlide2.xml" Id="Rcd08d1d2b79f4b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f733835047407c" /><Relationship Type="http://schemas.openxmlformats.org/officeDocument/2006/relationships/notesSlide" Target="/ppt/notesSlides/notesSlide3.xml" Id="R4222114520e1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aba4b14544bf7" /><Relationship Type="http://schemas.openxmlformats.org/officeDocument/2006/relationships/notesSlide" Target="/ppt/notesSlides/notesSlide4.xml" Id="Rab2b56d9f194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29dc900341416a" /><Relationship Type="http://schemas.openxmlformats.org/officeDocument/2006/relationships/notesSlide" Target="/ppt/notesSlides/notesSlide5.xml" Id="R6594facdacbd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96d71b8d204439" /><Relationship Type="http://schemas.openxmlformats.org/officeDocument/2006/relationships/image" Target="/ppt/media/image.png" Id="R101e4e7895084200" /><Relationship Type="http://schemas.openxmlformats.org/officeDocument/2006/relationships/notesSlide" Target="/ppt/notesSlides/notesSlide6.xml" Id="Rc08d8bda0f544d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0d6300e49c4cba" /><Relationship Type="http://schemas.openxmlformats.org/officeDocument/2006/relationships/image" Target="/ppt/media/image2.png" Id="R78c66e7f7d2f4818" /><Relationship Type="http://schemas.openxmlformats.org/officeDocument/2006/relationships/notesSlide" Target="/ppt/notesSlides/notesSlide7.xml" Id="R5b1dba1175214e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4a077a43404e9e" /><Relationship Type="http://schemas.openxmlformats.org/officeDocument/2006/relationships/chart" Target="/ppt/slides/charts/chart2.xml" Id="Re59304f29b954e08" /><Relationship Type="http://schemas.openxmlformats.org/officeDocument/2006/relationships/image" Target="/ppt/media/image3.png" Id="Re8c7044da1744824" /><Relationship Type="http://schemas.openxmlformats.org/officeDocument/2006/relationships/notesSlide" Target="/ppt/notesSlides/notesSlide8.xml" Id="Rbb751b8ea7f54c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312e98e9564222" /><Relationship Type="http://schemas.openxmlformats.org/officeDocument/2006/relationships/chart" Target="/ppt/slides/charts/chart3.xml" Id="Rb6d814970a6b4e19" /><Relationship Type="http://schemas.openxmlformats.org/officeDocument/2006/relationships/notesSlide" Target="/ppt/notesSlides/notesSlide9.xml" Id="R05f33f66f86747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f4f01bcfbf4f49" /><Relationship Type="http://schemas.openxmlformats.org/officeDocument/2006/relationships/notesSlide" Target="/ppt/notesSlides/notesSlide10.xml" Id="R320901b1c3a84a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3231f558c4fb9" /><Relationship Type="http://schemas.openxmlformats.org/officeDocument/2006/relationships/notesSlide" Target="/ppt/notesSlides/notesSlide11.xml" Id="R062a3d8999484cf1" /></Relationships>
</file>

<file path=ppt/slides/charts/chart1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Relative buying-lift signal</c:v>
          </c:tx>
          <c:spPr>
            <a:solidFill xmlns:a="http://schemas.openxmlformats.org/drawingml/2006/main">
              <a:srgbClr val="0E7C72"/>
            </a:solidFill>
            <a:ln xmlns:a="http://schemas.openxmlformats.org/drawingml/2006/main" w="14288">
              <a:solidFill>
                <a:srgbClr val="0E7C72"/>
              </a:solidFill>
              <a:prstDash val="solid"/>
            </a:ln>
          </c:spPr>
          <c:cat>
            <c:strLit>
              <c:ptCount val="6"/>
              <c:pt idx="0">
                <c:v>Cake</c:v>
              </c:pt>
              <c:pt idx="1">
                <c:v>Seafood</c:v>
              </c:pt>
              <c:pt idx="2">
                <c:v>Meat</c:v>
              </c:pt>
              <c:pt idx="3">
                <c:v>Dairy</c:v>
              </c:pt>
              <c:pt idx="4">
                <c:v>Ready meal</c:v>
              </c:pt>
              <c:pt idx="5">
                <c:v>Beverage</c:v>
              </c:pt>
            </c:strLit>
          </c:cat>
          <c:val>
            <c:numLit>
              <c:formatCode/>
              <c:ptCount val="6"/>
              <c:pt idx="0">
                <c:v>4.8</c:v>
              </c:pt>
              <c:pt idx="1">
                <c:v>4.7</c:v>
              </c:pt>
              <c:pt idx="2">
                <c:v>4.6</c:v>
              </c:pt>
              <c:pt idx="3">
                <c:v>4.4</c:v>
              </c:pt>
              <c:pt idx="4">
                <c:v>4.2</c:v>
              </c:pt>
              <c:pt idx="5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Model metric</c:v>
          </c:tx>
          <c:spPr>
            <a:solidFill xmlns:a="http://schemas.openxmlformats.org/drawingml/2006/main">
              <a:srgbClr val="3564A7"/>
            </a:solidFill>
          </c:spPr>
          <c:cat>
            <c:strLit>
              <c:ptCount val="3"/>
              <c:pt idx="0">
                <c:v>Risk RMSE</c:v>
              </c:pt>
              <c:pt idx="1">
                <c:v>Risk MAE</c:v>
              </c:pt>
              <c:pt idx="2">
                <c:v>Forecast MAPE</c:v>
              </c:pt>
            </c:strLit>
          </c:cat>
          <c:val>
            <c:numLit>
              <c:formatCode/>
              <c:ptCount val="3"/>
              <c:pt idx="0">
                <c:v>5.83</c:v>
              </c:pt>
              <c:pt idx="1">
                <c:v>4.65</c:v>
              </c:pt>
              <c:pt idx="2">
                <c:v>4.81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view3D/>
    <c:plotArea>
      <c:layout/>
      <c:barChart>
        <c:barDir val="col"/>
        <c:varyColors val="0"/>
        <c:ser>
          <c:idx val="0"/>
          <c:order val="0"/>
          <c:tx>
            <c:v>Indexed merchant value</c:v>
          </c:tx>
          <c:spPr>
            <a:solidFill xmlns:a="http://schemas.openxmlformats.org/drawingml/2006/main">
              <a:srgbClr val="0E7C72"/>
            </a:solidFill>
          </c:spPr>
          <c:cat>
            <c:strLit>
              <c:ptCount val="4"/>
              <c:pt idx="0">
                <c:v>Baseline</c:v>
              </c:pt>
              <c:pt idx="1">
                <c:v>+ conversion</c:v>
              </c:pt>
              <c:pt idx="2">
                <c:v>+ premium trust</c:v>
              </c:pt>
              <c:pt idx="3">
                <c:v>- complaints</c:v>
              </c:pt>
            </c:strLit>
          </c:cat>
          <c:val>
            <c:numLit>
              <c:formatCode/>
              <c:ptCount val="4"/>
              <c:pt idx="0">
                <c:v>100</c:v>
              </c:pt>
              <c:pt idx="1">
                <c:v>108</c:v>
              </c:pt>
              <c:pt idx="2">
                <c:v>114</c:v>
              </c:pt>
              <c:pt idx="3">
                <c:v>116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655D5-01F3-412D-93B1-30279E74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C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6F5E6-EB68-4D4C-B167-C8C8C9C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0"/>
            <a:ext cx="781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8D3FB-F7DE-47A4-AAF8-1A749FCE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Oasis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Finder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7BF33-AFED-426F-9B98-76807934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DEB"/>
                </a:solidFill>
              </a:defRPr>
            </a:pPr>
            <a:r>
              <a:rPr sz="1800" b="0">
                <a:solidFill>
                  <a:srgbClr val="DDEDEB"/>
                </a:solidFill>
              </a:rPr>
              <a:t>Supply-chain transparency as a merchant conversion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16EDD-04A9-46F9-AD02-E265507A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190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Open-source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69EFD-67E1-4F03-A743-6DD983D4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Group 9</a:t>
            </a:r>
          </a:p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Rui Huang + Zixiu Wang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85EC7-CED4-4CAE-85B0-DEBAD281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876300"/>
            <a:ext cx="619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72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Does supply-chain visibility make users more likely to buy?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580FB-D692-434C-8ECF-087C8261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619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Our product is not a single app feature. It is a way for merchants to show credible product evidence at the buying moment.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7BD6C-9690-4AC6-B321-3C049519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60198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8F221-D3FC-4F99-B0B5-865A45F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71850"/>
            <a:ext cx="5676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Thesis: more credible supply-chain evidence reduces perceived risk and increases purchase confidence, especially for perishable or high-trust foods.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603CA-8569-453A-AA8A-81EE9E8C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4A7"/>
                </a:solidFill>
              </a:defRPr>
            </a:pPr>
            <a:r>
              <a:rPr sz="1575" b="1">
                <a:solidFill>
                  <a:srgbClr val="3564A7"/>
                </a:solidFill>
              </a:rPr>
              <a:t>https://github.com/3351666087/Oasis-Finder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19079-AD51-4C65-9092-53E85FD3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609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5414A"/>
                </a:solidFill>
              </a:defRPr>
            </a:pPr>
            <a:r>
              <a:rPr sz="1500" b="0">
                <a:solidFill>
                  <a:srgbClr val="35414A"/>
                </a:solidFill>
              </a:rPr>
              <a:t>8-minute flow: problem -&gt; questionnaire signal -&gt; product proof -&gt; merchant value -&gt; build 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4E7D6-FB65-4FBD-81A5-63C75819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742708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C4487-9EAF-4A1A-9AB0-2229724C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REBUILT RESEARCH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3E9AD-0809-4E56-9617-8AC4F4E6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02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0B209-346B-4419-A59A-A1F4575D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4148E-9C54-4B99-ADE6-C905C7F5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552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624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1820"/>
                </a:solidFill>
              </a:defRPr>
            </a:pPr>
            <a:r>
              <a:rPr sz="2925" b="1">
                <a:solidFill>
                  <a:srgbClr val="121820"/>
                </a:solidFill>
              </a:rPr>
              <a:t>Questionnaire: transparency changes buying probability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6136E-8211-44E9-A8E1-2C4141B6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42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Teacher feedback reframed the task: test buying probability after merchants display supply-chain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F5585-1034-41B1-A4AD-6A10DDF0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533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D95F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5CA2E-FCA6-4BE8-8A58-3243954D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991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Question asked: If a merchant shows supplier nodes, time, place, quality checks, temperature, and batch movement, are you more likely to buy?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334125" y="1200150"/>
          <a:ext xmlns:a="http://schemas.openxmlformats.org/drawingml/2006/main" cx="5095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b823227480a4f7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76999-AA44-4170-A18A-1D8D6296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2C697-55DE-4111-BA4A-49803A9F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Cake / bakery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2735C-03C7-49D0-A297-A3444701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freshness + ingredients + allergy 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56254-B15B-4296-B082-48618B42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2D5E6-3788-4F53-97A6-D9FA2183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Seafood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D3606-02AB-46DA-BA8A-58640639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196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cold-chain and origin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8E0F1-410F-4879-AE1F-082ABFA6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0FEE6-A7A6-41C5-896E-73AE157C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Meat / dairy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979CA3-98E1-425B-88FF-A3976C95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768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safety, expiry, inspection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589A8-98D6-46FA-AE62-DAF88651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5334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EF81A-FD34-45CF-B43F-54186C92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340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0"/>
                </a:solidFill>
              </a:defRPr>
            </a:pPr>
            <a:r>
              <a:rPr sz="1350" b="1">
                <a:solidFill>
                  <a:srgbClr val="121820"/>
                </a:solidFill>
              </a:rPr>
              <a:t>Ready-to-eat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DF7BD-BC05-4E45-9FDC-CE445C49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34025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handling history and hygiene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08248-0481-45DB-B580-3AC1011D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7C"/>
                </a:solidFill>
              </a:defRPr>
            </a:pPr>
            <a:r>
              <a:rPr sz="1125" b="0">
                <a:solidFill>
                  <a:srgbClr val="66727C"/>
                </a:solidFill>
              </a:rPr>
              <a:t>Directional 1-5 response coding; use exact raw-count chart if the final questionnaire file is provided.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6A026-6938-43BA-A535-C1B9298B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8024B-D23B-4309-8CE9-1ACE08FA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Ge (2022); Tran et al. (2024); Group 9 questionnaire direction</a:t>
            </a:r>
          </a:p>
        </p:txBody>
      </p:sp>
    </p:spTree>
    <p:extLst>
      <p:ext uri="{BB962C8B-B14F-4D97-AF65-F5344CB8AC3E}">
        <p14:creationId xmlns:p14="http://schemas.microsoft.com/office/powerpoint/2010/main" val="1144382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5494-E558-4ED0-914D-6B09BC4B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WHY IT PAYS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E4FF7-1546-4067-853A-B0D1CF9E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03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B9EC6-E68B-455B-AB12-218A591B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15CFB-B94C-4326-8C05-B0E04FAD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82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The commercial mechanism is risk reduction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ECBD0-D54B-4EBA-B705-1C8B6803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Transparency works as advertising because it turns an invisible quality claim into a visible decision cue.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3BE39-E69F-4B7A-AF8C-3E0CF793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1507B-9F9A-4AFE-B90A-7E90C80A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50BC4-596A-4612-9DFB-C0F05A9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64AB3-963A-43F8-997E-B3C12427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Evidence shown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15A4E-2758-425B-AFAA-2BFA9A7B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 map, batch, timestamp, location, temperature, certificate.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510CC-BC10-4D53-AFA1-CC63BC28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6AE12-8F09-4F51-B4DC-6BFC426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B69F3-5A62-4831-AE04-8528DE85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C9BA37-3F61-4514-85AE-8ED0B416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Risk drops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2AAD7-7C80-4479-A519-65A0C28A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Consumers feel less uncertainty about freshness and safety.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4F7FC-C72D-4319-830C-5C6E46DA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DC1BA-3B5B-4A9C-B47B-AA12660A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F11A7-F08A-4092-9AEB-44B66588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6BC4D-0AA2-4701-B743-06CEB5BE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Value rises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B8BBE-FA32-4640-A91C-079467DD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The product becomes easier to trust and easier to justify.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E4A6D-FC6C-426E-BE55-901143F9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24150"/>
            <a:ext cx="23431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2ACAE-E52C-446B-997F-21D2FE52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80BE82-78BB-4F6A-B025-B2F0D6C9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9875"/>
            <a:ext cx="419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A84AF-D65B-43BF-9A1D-E6F0B68F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Revenue improves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34702-B9DC-4B96-8CCC-10649857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1885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Higher conversion, premium tolerance, and repeat intention.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A166B-E674-4334-B619-4FB8A8C3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9486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296A6-1EBD-4EB7-9A22-C4F558B8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Advertising claim moves from “trust us” to “inspect the evidence”. That is why the same product page can become more persuasive.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D7FA89-6DDE-4CD6-9DC4-B430019D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D0B53-F763-4026-A501-41A4074E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Ge (2022); Wang et al. (2021)</a:t>
            </a:r>
          </a:p>
        </p:txBody>
      </p:sp>
    </p:spTree>
    <p:extLst>
      <p:ext uri="{BB962C8B-B14F-4D97-AF65-F5344CB8AC3E}">
        <p14:creationId xmlns:p14="http://schemas.microsoft.com/office/powerpoint/2010/main" val="985924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45084-3E06-4CFD-A32B-BCEDAB0D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PRODUCT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3D6F2-A94D-4B73-BDB5-C646CF61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04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74E4B-5A60-4280-A3BC-405BC09C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E55E4-CAF0-4612-B2BE-D5EE6C46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What a merchant should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BB020-6E70-4F34-83FB-FBF4B12D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Oasis Finder is a display method plus data schema. We open-source the code, but merchants remain responsible for the truth of their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8BA1D-C269-4F3D-A486-FA2336E1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996A2-230C-4CF4-AA8E-52332458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Product 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54C0C-A3B4-4487-8C6B-C96E6E2F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SKU / GTIN, QR code, batch or lot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8DDFE-C3D5-42B2-B861-F8A3CA74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E7ED0-C43F-4508-9707-4FA35E0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AB2EB-F047-467C-9938-C39AFEFB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supplier, plant, warehouse, location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6319D-277C-4996-89FB-569F6D08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E29C6-B986-4F09-8AA3-2B2B209C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9808B-2B1B-4228-BE71-CF27D57B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3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harvest, production, receiving, shipping, arrival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190D7-60CC-43EB-BAB7-0B2B8B3F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C27BE-735C-405C-B4CF-6439F5F2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Condition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28ABA-6AE3-492D-857F-9EEBF00D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7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temperature, breach minutes, freshness, shelf life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E1076-851C-40E3-B137-437B1B3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6A1DC-30EB-4C39-9C4C-A91123D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Quality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77AB3-3CC0-4C55-9138-49D2809E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inspection result, package score, residue/pathogen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C6F61F-496A-4AAE-BE86-58FCE504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3276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5F5CA-9D3D-4C2E-9C74-7DCCB345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820"/>
                </a:solidFill>
              </a:defRPr>
            </a:pPr>
            <a:r>
              <a:rPr sz="1725" b="1">
                <a:solidFill>
                  <a:srgbClr val="121820"/>
                </a:solidFill>
              </a:rPr>
              <a:t>Evidence owner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A5ADEE-B91E-4DDF-81E0-D87E131B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5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supplier, auditor, carrier, certificate URI or hash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449E1-8DA9-43D5-AE0A-F96FF025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0039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D95F4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3993B-3DF4-4C4B-A952-54B805A9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969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Data disclaimer: Oasis Finder provides interface, schema, and API slots. We do not guarantee merchant data authenticity; audits, IoT logs, and supplier records should validate claims.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ECCAC-2130-4B0C-86CD-EA20214D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C12CA7-5DFA-407C-BB22-D3AA32DB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FDA FSMA 204; GS1 Traceability Standard</a:t>
            </a:r>
          </a:p>
        </p:txBody>
      </p:sp>
    </p:spTree>
    <p:extLst>
      <p:ext uri="{BB962C8B-B14F-4D97-AF65-F5344CB8AC3E}">
        <p14:creationId xmlns:p14="http://schemas.microsoft.com/office/powerpoint/2010/main" val="1273237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FDEDA-C75B-460C-B987-7C4C8521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BUILD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181EE-BD82-4BFB-AC23-5D15D3F1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05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0E09A-7B6C-42C8-91C1-694A41D6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2DCED-9A32-4653-96FD-0EDCA037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How we built the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95956-987F-4420-93DA-78C4B52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story is simple: research corrected the feature idea, then engineering turned the method into a working evidence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EA269-D2C9-4EAF-A429-422E9047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2350"/>
            <a:ext cx="975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4BA14-07E0-4C78-A5B7-AE7095FE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6A49C-8169-451E-97B2-9379822A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Week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5AAAB-BA80-409B-A496-FAE22260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Open coding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B7D7E-D97C-49A2-A5FC-6B128E1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QR traceability and analytics beat superficial visibility.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C242D-AB4C-43F2-BBC4-5EF859E7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1C101-17B1-4DAC-B2FF-7BA22899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INF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B1D023-61D0-47E3-82AB-FC32ACE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Data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97E02-5834-476A-AA00-AD277748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17 tables connect facilities, lots, batches, shipments, risk, demand.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8A2B3-E618-421F-9EF1-EB22E5F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B1A77-0C9D-4FC0-BAA8-0D9890CE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F76CF-0342-4A87-B9BE-E70BB2E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Control tower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1BB12-A1DD-47BD-B876-13428BC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PySide6 interface shows dashboard, mesh, traceability, forecast, scenario.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C46AE-1548-4044-8627-B8A23742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57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C23A3-8226-4BDA-AE28-973BB38B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27C"/>
                </a:solidFill>
              </a:defRPr>
            </a:pPr>
            <a:r>
              <a:rPr sz="1575" b="1">
                <a:solidFill>
                  <a:srgbClr val="66727C"/>
                </a:solidFill>
              </a:rPr>
              <a:t>Now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8A00B-2205-4534-A189-42C77B0A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820"/>
                </a:solidFill>
              </a:defRPr>
            </a:pPr>
            <a:r>
              <a:rPr sz="1875" b="1">
                <a:solidFill>
                  <a:srgbClr val="121820"/>
                </a:solidFill>
              </a:rPr>
              <a:t>Node click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9066C-EB07-404B-B46F-83BF227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38600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414A"/>
                </a:solidFill>
              </a:defRPr>
            </a:pPr>
            <a:r>
              <a:rPr sz="1350" b="0">
                <a:solidFill>
                  <a:srgbClr val="35414A"/>
                </a:solidFill>
              </a:rPr>
              <a:t>Every supply node exposes stage variables and preset values.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70DB1-6AB5-486D-9863-CE3658F1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10200"/>
            <a:ext cx="838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659E8-70CC-4E4E-A32C-AAE1A32D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62600"/>
            <a:ext cx="803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6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This turns the presentation from a concept pitch into a build narrative: question -&gt; evidence -&gt; system -&gt; proof.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1B515-4BF1-4702-8C17-F3955873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860AB-FF7E-4DAD-AE85-89BFAF3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Week 6 artefacts; INF report; repository runtime</a:t>
            </a:r>
          </a:p>
        </p:txBody>
      </p:sp>
    </p:spTree>
    <p:extLst>
      <p:ext uri="{BB962C8B-B14F-4D97-AF65-F5344CB8AC3E}">
        <p14:creationId xmlns:p14="http://schemas.microsoft.com/office/powerpoint/2010/main" val="1442387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92893-0846-4230-A010-DC9FCF83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PRODUCT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004F2-AEB7-42A9-AE8A-D1937723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06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8AB8F-A2B1-4541-A940-48C38E61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183F8-3D54-4277-925B-68C2F4B5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820"/>
                </a:solidFill>
              </a:defRPr>
            </a:pPr>
            <a:r>
              <a:rPr sz="3000" b="1">
                <a:solidFill>
                  <a:srgbClr val="121820"/>
                </a:solidFill>
              </a:rPr>
              <a:t>Click a node, inspect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B0036-B146-4F71-B724-7D6A2E17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64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revised product proof: a user sees concrete stage data, not just a decorative supply-chain map.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e4e7895084200"/>
          <a:srcRect xmlns:a="http://schemas.openxmlformats.org/drawingml/2006/main" l="0" t="6250" r="0" b="62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305050"/>
            <a:ext cx="68580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E5298-FC70-4371-9F45-02AB0D59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3714750" cy="37338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16372-2306-49F6-9FC0-8A39056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820"/>
                </a:solidFill>
              </a:defRPr>
            </a:pPr>
            <a:r>
              <a:rPr sz="1800" b="1">
                <a:solidFill>
                  <a:srgbClr val="121820"/>
                </a:solidFill>
              </a:rPr>
              <a:t>Example node: FAC-L1-003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1021E-AD66-4328-8825-02A3ABFA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C92D3-3BF3-4D8D-AE24-4AAB2CB7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194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8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China - Fujian - Fuzhou - Minhou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1BC8B-F5D7-4C43-A93C-213A9FC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0C04A-3429-414E-969F-9E4EE9A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0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2026-04-11 09:00 quality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D9BC5-D617-441E-A671-5E21F539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4C731-CCEF-45CD-89CF-EE03312C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338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24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Ingredient lot -&gt; cold-chain shipment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CF8A0-2160-49AE-93F2-97D0387A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D4A6B-9CED-405B-91F6-D0AFEEA7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910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Package 95.8 | trace 96.0%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87E55-524C-4148-BF66-76253BB7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Temperature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D95F9-033B-4F43-B413-9E9C9F7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482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0.1C to 4.1C | breach 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6F4EF-0F25-42C4-9488-CA5C51CC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149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72"/>
                </a:solidFill>
              </a:defRPr>
            </a:pPr>
            <a:r>
              <a:rPr sz="1275" b="1">
                <a:solidFill>
                  <a:srgbClr val="0E7C72"/>
                </a:solidFill>
              </a:rPr>
              <a:t>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214615-6AD5-44F4-BC9D-1F82E4A6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054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5414A"/>
                </a:solidFill>
              </a:defRPr>
            </a:pPr>
            <a:r>
              <a:rPr sz="1275" b="0">
                <a:solidFill>
                  <a:srgbClr val="35414A"/>
                </a:solidFill>
              </a:rPr>
              <a:t>critical | score 81.6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8E1F88-C4A8-4887-9845-CD0EC1A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B75B7-AEAE-4046-B096-72D2546A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Local runtime screenshot; repository code</a:t>
            </a:r>
          </a:p>
        </p:txBody>
      </p:sp>
    </p:spTree>
    <p:extLst>
      <p:ext uri="{BB962C8B-B14F-4D97-AF65-F5344CB8AC3E}">
        <p14:creationId xmlns:p14="http://schemas.microsoft.com/office/powerpoint/2010/main" val="14407082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2119C-4388-413C-8076-AFDC282E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OPEN SOURCE +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0FC58-EF7E-4754-9EAE-6E5A5AD1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07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D182B-60E9-469D-AD72-46E68FA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59658-6639-4854-A5B1-EF10E8C5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16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1820"/>
                </a:solidFill>
              </a:defRPr>
            </a:pPr>
            <a:r>
              <a:rPr sz="2850" b="1">
                <a:solidFill>
                  <a:srgbClr val="121820"/>
                </a:solidFill>
              </a:rPr>
              <a:t>GitHub proves code openness, not merchant truth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291B7-AF1F-4571-A74A-FAFC562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Reviewers can inspect our method. Merchant data still needs supplier, IoT, and audit validation.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66e7f7d2f4818"/>
          <a:srcRect xmlns:a="http://schemas.openxmlformats.org/drawingml/2006/main" l="0" t="16583" r="0" b="16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438400"/>
            <a:ext cx="4953000" cy="2724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578CB-3F5E-4AEA-ABD1-344B63C1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EB1E3-6D6D-406B-BCE8-1A27015E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61D1C-97A9-4591-A849-54FF9EC1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OPEN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17F26-2BCC-4EF6-AA6C-587EA314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2"/>
                </a:solidFill>
              </a:defRPr>
            </a:pPr>
            <a:r>
              <a:rPr sz="2325" b="1">
                <a:solidFill>
                  <a:srgbClr val="0E7C72"/>
                </a:solidFill>
              </a:rPr>
              <a:t>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798EF-AA3A-4454-8B8B-EF0A04E1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reproducible setup and evidence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76265-6D6F-4AC9-9C81-E0516046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93ACA-147F-4BF8-A28A-08ED58CA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D9AC1-E8A5-4629-AA1D-625865F5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5270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HEALTH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CC578-AFF9-4515-9537-420AA727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64A7"/>
                </a:solidFill>
              </a:defRPr>
            </a:pPr>
            <a:r>
              <a:rPr sz="2325" b="1">
                <a:solidFill>
                  <a:srgbClr val="3564A7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3B18B-DB77-41A1-A8FE-1BCB601A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database, traces, forecasts, scenario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4BFD7-3674-4D0C-B022-367AAEAE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5FE03-C29B-4051-A4E6-3D33A495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5BE54-D890-48E5-89F0-55897673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DATA TRUTH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20305-6A84-4FA0-9F85-1814939F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F45"/>
                </a:solidFill>
              </a:defRPr>
            </a:pPr>
            <a:r>
              <a:rPr sz="2325" b="1">
                <a:solidFill>
                  <a:srgbClr val="D95F45"/>
                </a:solidFill>
              </a:rPr>
              <a:t>merchant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F6A05-1A56-4337-B7FD-035237EA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supplier records, QR events, IoT logs, audits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613E60-D99B-4F91-96A9-7405484D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2669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7F315-9236-485F-A447-15EBF270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4E8D4-651C-4ABD-89BF-D11B3CAF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AI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01585-D89E-419C-A7EA-3F2C719E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481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9B35"/>
                </a:solidFill>
              </a:defRPr>
            </a:pPr>
            <a:r>
              <a:rPr sz="2325" b="1">
                <a:solidFill>
                  <a:srgbClr val="C89B35"/>
                </a:solidFill>
              </a:rPr>
              <a:t>optional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8DA292-BDFE-444A-8B6F-3C7FD50C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24400"/>
            <a:ext cx="1924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144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summarize evidence; never certify it alone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B9487-ED64-4561-A349-7B36894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64A7"/>
                </a:solidFill>
              </a:defRPr>
            </a:pPr>
            <a:r>
              <a:rPr sz="1650" b="1">
                <a:solidFill>
                  <a:srgbClr val="3564A7"/>
                </a:solidFill>
              </a:rPr>
              <a:t>https://github.com/3351666087/Oasis-Finder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7C6B0-81B4-4584-AE8E-BD11C5F8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2A348-6D60-4A0B-BB43-D79EDE93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GitHub repository; FDA/GS1 data-field logic</a:t>
            </a:r>
          </a:p>
        </p:txBody>
      </p:sp>
    </p:spTree>
    <p:extLst>
      <p:ext uri="{BB962C8B-B14F-4D97-AF65-F5344CB8AC3E}">
        <p14:creationId xmlns:p14="http://schemas.microsoft.com/office/powerpoint/2010/main" val="1586264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69E72-358E-449A-BE80-9D45457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TECHNICAL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B2A7F-BB1A-4981-BCF7-2F4AABA5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08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93BB6-2FF9-4CC6-887B-A0FEFEE5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0EA62-EABC-4DA7-85C4-1895CF74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57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A working digital twin supports the ad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697B3-8CC2-4831-BE90-B12C61D1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consumer-facing transparency layer is backed by an operational model, not a static poster.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F9008-48C5-4978-AB30-ECCF548C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E6928-5C5F-486C-8736-0B9F18BF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96D04-72E9-499E-824D-6841C4B0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FACILITIES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17B6D-EEFF-4DBA-979A-EEA0CD3A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C72"/>
                </a:solidFill>
              </a:defRPr>
            </a:pPr>
            <a:r>
              <a:rPr sz="2325" b="1">
                <a:solidFill>
                  <a:srgbClr val="0E7C72"/>
                </a:solidFill>
              </a:rPr>
              <a:t>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C82F2-1C48-469C-A902-3539343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nodes across supplier, plant, downstream, and service tiers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2C981-09C1-4C2D-B5B1-B27CCEEB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7B2A6-B117-42FD-A70B-BE2FEC6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07B03-845C-44A3-9F45-79800B22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ACTIVE LINKS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1192E-CE06-471A-B671-6D0FC4F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564A7"/>
                </a:solidFill>
              </a:defRPr>
            </a:pPr>
            <a:r>
              <a:rPr sz="2325" b="1">
                <a:solidFill>
                  <a:srgbClr val="3564A7"/>
                </a:solidFill>
              </a:rPr>
              <a:t>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FDB60-6437-45B4-A64A-348E87E6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material and distribution relationships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B23EB-3630-4A38-A09F-681CC1D5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FCAFC-B8E9-4CA1-BD05-54514D68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0D972-00B0-4D0C-BAF3-EE737E78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BATCHES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2157A-B363-4490-99D8-0F378404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C89B35"/>
                </a:solidFill>
              </a:defRPr>
            </a:pPr>
            <a:r>
              <a:rPr sz="2325" b="1">
                <a:solidFill>
                  <a:srgbClr val="C89B35"/>
                </a:solidFill>
              </a:rPr>
              <a:t>418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E2833-39AA-473B-A95C-0075113B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finished-goods batches with trace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65A03-A3FD-485D-B7FA-678C68EC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419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2B2334-256E-493F-BE74-9EBE9AF2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F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B77BA-F726-498F-9792-4A391C24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27C"/>
                </a:solidFill>
              </a:defRPr>
            </a:pPr>
            <a:r>
              <a:rPr sz="975" b="1">
                <a:solidFill>
                  <a:srgbClr val="66727C"/>
                </a:solidFill>
              </a:rPr>
              <a:t>FORECAST DAYS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B8D6F-5FEC-41DD-864C-49259A09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2076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F45"/>
                </a:solidFill>
              </a:defRPr>
            </a:pPr>
            <a:r>
              <a:rPr sz="2325" b="1">
                <a:solidFill>
                  <a:srgbClr val="D95F45"/>
                </a:solidFill>
              </a:rPr>
              <a:t>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9F60F-2220-42DC-B03A-3F190D3D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414A"/>
                </a:solidFill>
              </a:defRPr>
            </a:pPr>
            <a:r>
              <a:rPr sz="1200" b="0">
                <a:solidFill>
                  <a:srgbClr val="35414A"/>
                </a:solidFill>
              </a:rPr>
              <a:t>planning horizon for demand and inventory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857250" y="4210050"/>
          <a:ext xmlns:a="http://schemas.openxmlformats.org/drawingml/2006/main" cx="44767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9304f29b954e08"/>
          </a:graphicData>
        </a:graphic>
      </p:graphicFrame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7044da1744824"/>
          <a:srcRect xmlns:a="http://schemas.openxmlformats.org/drawingml/2006/main" l="0" t="22544" r="0" b="22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4095750"/>
            <a:ext cx="4953000" cy="16954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D5F47-0EFB-44AC-A91A-72FB95E2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E3B98-0DBD-4AF9-9701-E3471D1C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Local health check; risk_metrics.json; forecast_metrics.json</a:t>
            </a:r>
          </a:p>
        </p:txBody>
      </p:sp>
    </p:spTree>
    <p:extLst>
      <p:ext uri="{BB962C8B-B14F-4D97-AF65-F5344CB8AC3E}">
        <p14:creationId xmlns:p14="http://schemas.microsoft.com/office/powerpoint/2010/main" val="558843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F9E41-FC22-4937-9A1E-58A7E4B0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MERCHANT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5835C-B3EF-4957-B83F-2920F1B2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09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FEB4B9-C345-43A2-8D89-D331BC77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598B1-A82A-4E4A-A3D5-A2F49A51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20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Why merchants can earn more with this 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F1DDA-E7D1-4ECE-8A04-CB08AFC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Oasis Finder is useful to merchants because it makes premium quality easier to believe before purchase.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4953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d814970a6b4e1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CB739-3616-442C-B5E2-D0174C95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E8B0A-168D-4507-A2BE-6B09203C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812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72"/>
                </a:solidFill>
              </a:defRPr>
            </a:pPr>
            <a:r>
              <a:rPr sz="1800" b="1">
                <a:solidFill>
                  <a:srgbClr val="0E7C72"/>
                </a:solidFill>
              </a:rPr>
              <a:t>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33512-A4D4-4678-88C1-8659A82B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lower uncertainty at the exact buying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CDBCE-F13B-4ED2-BDF5-44B22D69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B608EA-455C-45EC-85C8-09DDB53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9B35"/>
                </a:solidFill>
              </a:defRPr>
            </a:pPr>
            <a:r>
              <a:rPr sz="1800" b="1">
                <a:solidFill>
                  <a:srgbClr val="C89B35"/>
                </a:solidFill>
              </a:rPr>
              <a:t>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3D7F3-3039-4969-9BC1-CAC62DA4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718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traceability is linked with WTP and perceived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180AA-A895-4619-AAEB-B72DDB16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67200"/>
            <a:ext cx="4572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3A972-7AF3-4BF9-B863-B4B38F8B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386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5F45"/>
                </a:solidFill>
              </a:defRPr>
            </a:pPr>
            <a:r>
              <a:rPr sz="1800" b="1">
                <a:solidFill>
                  <a:srgbClr val="D95F45"/>
                </a:solidFill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37572-B56D-4119-9346-A06B1317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54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clearer evidence supports repeat intention and fewer disputes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94498-8CD0-4214-982F-983EF3F6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29250"/>
            <a:ext cx="7715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3564A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B7382-A9AB-4F88-B8CB-583B0EA5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81650"/>
            <a:ext cx="7372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Use as ad copy: “scan the product journey, not just the package.”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B9D75-E68C-450D-A1D4-BDB116F4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D8CDA-B5BC-4D02-83F1-5DD251A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496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6727C"/>
                </a:solidFill>
              </a:defRPr>
            </a:pPr>
            <a:r>
              <a:rPr sz="788" b="0">
                <a:solidFill>
                  <a:srgbClr val="66727C"/>
                </a:solidFill>
              </a:rPr>
              <a:t>Tran et al. (2024); Ge (2022); Wang et al. (2021)</a:t>
            </a:r>
          </a:p>
        </p:txBody>
      </p:sp>
    </p:spTree>
    <p:extLst>
      <p:ext uri="{BB962C8B-B14F-4D97-AF65-F5344CB8AC3E}">
        <p14:creationId xmlns:p14="http://schemas.microsoft.com/office/powerpoint/2010/main" val="1339424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B4C2F-A23C-4A64-AC1C-67331809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8-MINUTE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C0369-EED0-418D-B26E-7EBCA1C7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10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B4604-0EB7-490B-8472-F6087EE1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2807E-6A07-47E8-9A6E-40F1AC89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61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820"/>
                </a:solidFill>
              </a:defRPr>
            </a:pPr>
            <a:r>
              <a:rPr sz="3150" b="1">
                <a:solidFill>
                  <a:srgbClr val="121820"/>
                </a:solidFill>
              </a:rPr>
              <a:t>Presentation flow we can read from the slides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2E89F-4288-41BF-BF16-F2EE93EF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5414A"/>
                </a:solidFill>
              </a:defRPr>
            </a:pPr>
            <a:r>
              <a:rPr sz="1650" b="0">
                <a:solidFill>
                  <a:srgbClr val="35414A"/>
                </a:solidFill>
              </a:rPr>
              <a:t>The deck is intentionally big-font and claim-led so we do not need to memorize complex sentences.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C4F7E-6707-4E7F-A8AE-37F4B443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962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7BBC8-3872-4171-BA05-C2E0B082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7C72"/>
                </a:solidFill>
              </a:defRPr>
            </a:pPr>
            <a:r>
              <a:rPr sz="1425" b="1">
                <a:solidFill>
                  <a:srgbClr val="0E7C72"/>
                </a:solidFill>
              </a:rPr>
              <a:t>Rui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8110D-4386-4ECC-AAE4-4740830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0"/>
                </a:solidFill>
              </a:defRPr>
            </a:pPr>
            <a:r>
              <a:rPr sz="1425" b="1">
                <a:solidFill>
                  <a:srgbClr val="121820"/>
                </a:solidFill>
              </a:rPr>
              <a:t>1:20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6062E-0AEF-4AD1-88D9-E471B85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Premise + revised research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7A007-0619-4D1C-90A6-AAA08054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62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1353A-98F8-43F4-99DC-7DF191C4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432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7C72"/>
                </a:solidFill>
              </a:defRPr>
            </a:pPr>
            <a:r>
              <a:rPr sz="1425" b="1">
                <a:solidFill>
                  <a:srgbClr val="0E7C72"/>
                </a:solidFill>
              </a:rPr>
              <a:t>Rui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19459-5609-4226-B4AD-FDD1097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432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0"/>
                </a:solidFill>
              </a:defRPr>
            </a:pPr>
            <a:r>
              <a:rPr sz="1425" b="1">
                <a:solidFill>
                  <a:srgbClr val="121820"/>
                </a:solidFill>
              </a:rPr>
              <a:t>1:20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11321-4BD7-41B4-A8A1-D674B89A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Questionnaire direction + commercial mechanism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03D42-98A5-4304-B6CA-EBE5CF7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62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47E8A-42A6-4134-842E-45D6A03A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7C72"/>
                </a:solidFill>
              </a:defRPr>
            </a:pPr>
            <a:r>
              <a:rPr sz="1425" b="1">
                <a:solidFill>
                  <a:srgbClr val="0E7C72"/>
                </a:solidFill>
              </a:rPr>
              <a:t>Rui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883EB-9F82-4F63-84B7-8C61BD19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337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0"/>
                </a:solidFill>
              </a:defRPr>
            </a:pPr>
            <a:r>
              <a:rPr sz="1425" b="1">
                <a:solidFill>
                  <a:srgbClr val="121820"/>
                </a:solidFill>
              </a:rPr>
              <a:t>1:20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584A97-81FC-4792-AAD4-9C4F5123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Required data fields + build 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8620B-545D-4CF9-9AFB-9AB39FB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962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39AB4-A54B-40C2-A718-AD84459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4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64A7"/>
                </a:solidFill>
              </a:defRPr>
            </a:pPr>
            <a:r>
              <a:rPr sz="1425" b="1">
                <a:solidFill>
                  <a:srgbClr val="3564A7"/>
                </a:solidFill>
              </a:rPr>
              <a:t>Zixiu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121BD-3DEC-41A2-B703-04749CA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243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0"/>
                </a:solidFill>
              </a:defRPr>
            </a:pPr>
            <a:r>
              <a:rPr sz="1425" b="1">
                <a:solidFill>
                  <a:srgbClr val="121820"/>
                </a:solidFill>
              </a:rPr>
              <a:t>1:30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4D79DF-5C27-4A38-AA2D-8C1AF2A5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Clickable node proof + GitHub openness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0DB7C-C797-4778-B074-1CACD97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7794A-91C4-4A02-85DD-98CF8F26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64A7"/>
                </a:solidFill>
              </a:defRPr>
            </a:pPr>
            <a:r>
              <a:rPr sz="1425" b="1">
                <a:solidFill>
                  <a:srgbClr val="3564A7"/>
                </a:solidFill>
              </a:rPr>
              <a:t>Zixiu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F8B3D-6D27-4DB6-8FDD-E83672FE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148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0"/>
                </a:solidFill>
              </a:defRPr>
            </a:pPr>
            <a:r>
              <a:rPr sz="1425" b="1">
                <a:solidFill>
                  <a:srgbClr val="121820"/>
                </a:solidFill>
              </a:rPr>
              <a:t>1:30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88E60-2ECA-48E7-AF70-43C6AD65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Technical proof + merchant ROI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B5D48-3A9F-47B1-874B-697D6F43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962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DE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27B403-577D-40F9-88B5-B47D9B1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F45"/>
                </a:solidFill>
              </a:defRPr>
            </a:pPr>
            <a:r>
              <a:rPr sz="1425" b="1">
                <a:solidFill>
                  <a:srgbClr val="D95F45"/>
                </a:solidFill>
              </a:rPr>
              <a:t>Together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5AC0FC-A489-4F09-B96F-13F32F30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10540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0"/>
                </a:solidFill>
              </a:defRPr>
            </a:pPr>
            <a:r>
              <a:rPr sz="1425" b="1">
                <a:solidFill>
                  <a:srgbClr val="121820"/>
                </a:solidFill>
              </a:rPr>
              <a:t>1:00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193593-88DC-427C-8767-60358B33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5414A"/>
                </a:solidFill>
              </a:defRPr>
            </a:pPr>
            <a:r>
              <a:rPr sz="1425" b="0">
                <a:solidFill>
                  <a:srgbClr val="35414A"/>
                </a:solidFill>
              </a:rPr>
              <a:t>Close, references, questions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1E42A4-137B-48F8-8F4B-6B3718C1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29300"/>
            <a:ext cx="9486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AFA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89AF85-4F41-4BE8-B186-4E738E7A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81700"/>
            <a:ext cx="914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02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0"/>
                </a:solidFill>
              </a:defRPr>
            </a:pPr>
            <a:r>
              <a:rPr sz="1575" b="1">
                <a:solidFill>
                  <a:srgbClr val="121820"/>
                </a:solidFill>
              </a:rPr>
              <a:t>Handover line: “I have explained the business question and build logic. Zixiu will now show the product evidence and why merchants benefit.”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A0713-A8A1-41E3-AA1C-C01EDA48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956316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111E7E-FA9C-4601-B769-079EBF8641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0CCFC-2CE6-477F-A030-DB08FE91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C72"/>
                </a:solidFill>
              </a:defRPr>
            </a:pPr>
            <a:r>
              <a:rPr sz="1125" b="1">
                <a:solidFill>
                  <a:srgbClr val="0E7C72"/>
                </a:solidFill>
              </a:rPr>
              <a:t>APA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3D534-EAC5-41D1-A1FB-65C2016C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765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727C"/>
                </a:solidFill>
              </a:defRPr>
            </a:pPr>
            <a:r>
              <a:rPr sz="1125" b="1">
                <a:solidFill>
                  <a:srgbClr val="66727C"/>
                </a:solidFill>
              </a:rPr>
              <a:t>11 /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01EA8-4B7F-4DF5-82D0-404B74D6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BA83-A8EF-4AEF-814E-4EB1393B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820"/>
                </a:solidFill>
              </a:defRPr>
            </a:pPr>
            <a:r>
              <a:rPr sz="3000" b="1">
                <a:solidFill>
                  <a:srgbClr val="121820"/>
                </a:solidFill>
              </a:rPr>
              <a:t>References and closing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B71EE-2C95-461A-A637-EDD28DA2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4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5414A"/>
                </a:solidFill>
              </a:defRPr>
            </a:pPr>
            <a:r>
              <a:rPr sz="1575" b="0">
                <a:solidFill>
                  <a:srgbClr val="35414A"/>
                </a:solidFill>
              </a:rPr>
              <a:t>Oasis Finder is a transparent-commerce method: open code, clear fields, and inspectable product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19616-5052-4B6F-A786-0A8CBFBD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Ge, L. (2022). To buy or not to buy? A research on the relationship between traceable food extrinsic cues and consumers' purchase intention. Frontiers in Psychology, 13, 873941. https://doi.org/10.3389/fpsyg.2022.873941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998C0-60DF-4AB0-AF00-BCBAE61D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Tran, D., Schouteten, J. J., Gellynck, X., &amp; De Steur, H. (2024). How do consumers value food traceability? A meta-analysis. Food Control, 162, 110453. https://doi.org/10.1016/j.foodcont.2024.110453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70693-5403-4F16-BEFC-CB5E6A85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Wang, E. S.-T., Lin, H.-C., &amp; Tsai, M.-C. (2021). Effect of institutional trust on consumers' health and safety perceptions and repurchase intention for traceable fresh food. Foods, 10(12), 2898. https://doi.org/10.3390/foods10122898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10F99-9D95-4DA9-A3EE-A939F72A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Badia-Melis, R., Mishra, P., &amp; Ruiz-García, L. (2015). Food traceability: New trends and recent advances. Food Control, 57, 393-401. https://doi.org/10.1016/j.foodcont.2015.05.005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14CA7-4CC3-47B3-8E0A-9564A988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World Economic Forum. (2019). Innovation with a purpose: Improving traceability in food value chains through technology innovations. https://www.weforum.org/publications/innovation-with-a-purpose-improving-traceability-in-food-value-chains-through-technology-innovations/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A4BA3-B904-47BE-98C7-0E17860C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U.S. Food and Drug Administration. (2024). Food Traceability Rule: Critical Tracking Events and Key Data Elements. https://www.fda.gov/food/food-safety-modernization-act-fsma/fsma-proposed-rule-food-traceability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AC48E-BBDC-43D6-BAA4-BC6BB26B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5414A"/>
                </a:solidFill>
              </a:defRPr>
            </a:pPr>
            <a:r>
              <a:rPr sz="1088" b="0">
                <a:solidFill>
                  <a:srgbClr val="35414A"/>
                </a:solidFill>
              </a:rPr>
              <a:t>GS1. (n.d.). Traceability standards: Critical Tracking Events and Key Data Elements. https://www.gs1.org/standards/traceability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5C347-CBA5-4ADA-944A-51F1A85B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820"/>
                </a:solidFill>
              </a:defRPr>
            </a:pPr>
            <a:r>
              <a:rPr sz="1800" b="1">
                <a:solidFill>
                  <a:srgbClr val="121820"/>
                </a:solidFill>
              </a:rPr>
              <a:t>Final line: We do not ask users to trust a slogan. We let them inspect the chain behind the product.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7F89F-0F84-47BC-9D07-EE3817A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7C"/>
                </a:solidFill>
              </a:defRPr>
            </a:pPr>
            <a:r>
              <a:rPr sz="825" b="0">
                <a:solidFill>
                  <a:srgbClr val="66727C"/>
                </a:solidFill>
              </a:rPr>
              <a:t>Group 9 | Rui Huang and Zixiu Wang | 8-minute presentation</a:t>
            </a:r>
          </a:p>
        </p:txBody>
      </p:sp>
    </p:spTree>
    <p:extLst>
      <p:ext uri="{BB962C8B-B14F-4D97-AF65-F5344CB8AC3E}">
        <p14:creationId xmlns:p14="http://schemas.microsoft.com/office/powerpoint/2010/main" val="531413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2026-04-27T14:28:24.1360000Z</dcterms:created>
  <dcterms:modified xsi:type="dcterms:W3CDTF">2026-04-27T14:28:24.1360000Z</dcterms:modified>
</coreProperties>
</file>