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3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8eba5fd799b445d" /><Relationship Type="http://schemas.openxmlformats.org/officeDocument/2006/relationships/extended-properties" Target="/docProps/app.xml" Id="Rb41d97189ab84885" /><Relationship Type="http://schemas.openxmlformats.org/officeDocument/2006/relationships/officeDocument" Target="/ppt/presentation.xml" Id="Rb75c63460b66443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c41672af5dc408d"/>
  </p:sldMasterIdLst>
  <p:notesMasterIdLst>
    <p:notesMasterId xmlns:r="http://schemas.openxmlformats.org/officeDocument/2006/relationships" r:id="Ra33e2f39c2f54562"/>
  </p:notesMasterIdLst>
  <p:sldIdLst>
    <p:sldId xmlns:r="http://schemas.openxmlformats.org/officeDocument/2006/relationships" id="256" r:id="Rfa53cf7c66ce4b8a"/>
    <p:sldId xmlns:r="http://schemas.openxmlformats.org/officeDocument/2006/relationships" id="257" r:id="R290c421cd16d4289"/>
    <p:sldId xmlns:r="http://schemas.openxmlformats.org/officeDocument/2006/relationships" id="258" r:id="Rbc26f3118dca435f"/>
    <p:sldId xmlns:r="http://schemas.openxmlformats.org/officeDocument/2006/relationships" id="259" r:id="R450cdd224f7f4f24"/>
    <p:sldId xmlns:r="http://schemas.openxmlformats.org/officeDocument/2006/relationships" id="260" r:id="R8acf07bae4bc4e74"/>
    <p:sldId xmlns:r="http://schemas.openxmlformats.org/officeDocument/2006/relationships" id="261" r:id="R5df977c96c6e4abd"/>
    <p:sldId xmlns:r="http://schemas.openxmlformats.org/officeDocument/2006/relationships" id="262" r:id="R9da13b12743a4c5b"/>
    <p:sldId xmlns:r="http://schemas.openxmlformats.org/officeDocument/2006/relationships" id="263" r:id="R3d0010362e3e4899"/>
    <p:sldId xmlns:r="http://schemas.openxmlformats.org/officeDocument/2006/relationships" id="264" r:id="Re8f0562c7e324daf"/>
    <p:sldId xmlns:r="http://schemas.openxmlformats.org/officeDocument/2006/relationships" id="265" r:id="Re71fb1b1edd54c5a"/>
    <p:sldId xmlns:r="http://schemas.openxmlformats.org/officeDocument/2006/relationships" id="266" r:id="R1297cac4c9c6414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41672af5dc408d" /><Relationship Type="http://schemas.openxmlformats.org/officeDocument/2006/relationships/theme" Target="/ppt/theme/theme1.xml" Id="R239cfc7396404e1c" /><Relationship Type="http://schemas.openxmlformats.org/officeDocument/2006/relationships/notesMaster" Target="/ppt/notesMasters/notesMaster1.xml" Id="Ra33e2f39c2f54562" /><Relationship Type="http://schemas.openxmlformats.org/officeDocument/2006/relationships/presProps" Target="/ppt/presProps.xml" Id="R06821d8be9694210" /><Relationship Type="http://schemas.openxmlformats.org/officeDocument/2006/relationships/viewProps" Target="/ppt/viewProps.xml" Id="R94393099154c4320" /><Relationship Type="http://schemas.openxmlformats.org/officeDocument/2006/relationships/tableStyles" Target="/ppt/tableStyles.xml" Id="R5cf76609367e4ed0" /><Relationship Type="http://schemas.openxmlformats.org/officeDocument/2006/relationships/slide" Target="/ppt/slides/slide1.xml" Id="Rfa53cf7c66ce4b8a" /><Relationship Type="http://schemas.openxmlformats.org/officeDocument/2006/relationships/slide" Target="/ppt/slides/slide2.xml" Id="R290c421cd16d4289" /><Relationship Type="http://schemas.openxmlformats.org/officeDocument/2006/relationships/slide" Target="/ppt/slides/slide3.xml" Id="Rbc26f3118dca435f" /><Relationship Type="http://schemas.openxmlformats.org/officeDocument/2006/relationships/slide" Target="/ppt/slides/slide4.xml" Id="R450cdd224f7f4f24" /><Relationship Type="http://schemas.openxmlformats.org/officeDocument/2006/relationships/slide" Target="/ppt/slides/slide5.xml" Id="R8acf07bae4bc4e74" /><Relationship Type="http://schemas.openxmlformats.org/officeDocument/2006/relationships/slide" Target="/ppt/slides/slide6.xml" Id="R5df977c96c6e4abd" /><Relationship Type="http://schemas.openxmlformats.org/officeDocument/2006/relationships/slide" Target="/ppt/slides/slide7.xml" Id="R9da13b12743a4c5b" /><Relationship Type="http://schemas.openxmlformats.org/officeDocument/2006/relationships/slide" Target="/ppt/slides/slide8.xml" Id="R3d0010362e3e4899" /><Relationship Type="http://schemas.openxmlformats.org/officeDocument/2006/relationships/slide" Target="/ppt/slides/slide9.xml" Id="Re8f0562c7e324daf" /><Relationship Type="http://schemas.openxmlformats.org/officeDocument/2006/relationships/slide" Target="/ppt/slides/slide10.xml" Id="Re71fb1b1edd54c5a" /><Relationship Type="http://schemas.openxmlformats.org/officeDocument/2006/relationships/slide" Target="/ppt/slides/slide11.xml" Id="R1297cac4c9c6414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c8599eea453e424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3136261374645e6" /><Relationship Type="http://schemas.openxmlformats.org/officeDocument/2006/relationships/notesMaster" Target="/ppt/notesMasters/notesMaster1.xml" Id="R4d44a3d09af5428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607163b072f4b1c" /><Relationship Type="http://schemas.openxmlformats.org/officeDocument/2006/relationships/notesMaster" Target="/ppt/notesMasters/notesMaster1.xml" Id="R5ad3f1df001a4ee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4d20fb351cd4e53" /><Relationship Type="http://schemas.openxmlformats.org/officeDocument/2006/relationships/notesMaster" Target="/ppt/notesMasters/notesMaster1.xml" Id="R2de8b165d81142e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382f78c556141d2" /><Relationship Type="http://schemas.openxmlformats.org/officeDocument/2006/relationships/notesMaster" Target="/ppt/notesMasters/notesMaster1.xml" Id="R005408b76ca6488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887fd66cb894d99" /><Relationship Type="http://schemas.openxmlformats.org/officeDocument/2006/relationships/notesMaster" Target="/ppt/notesMasters/notesMaster1.xml" Id="R8bbccb7831ca44e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cfcef14d8c24945" /><Relationship Type="http://schemas.openxmlformats.org/officeDocument/2006/relationships/notesMaster" Target="/ppt/notesMasters/notesMaster1.xml" Id="Ra97f374195844e9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5f2b4afcf454894" /><Relationship Type="http://schemas.openxmlformats.org/officeDocument/2006/relationships/notesMaster" Target="/ppt/notesMasters/notesMaster1.xml" Id="Rbb7a281906c546d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0b8c7afcce64c2d" /><Relationship Type="http://schemas.openxmlformats.org/officeDocument/2006/relationships/notesMaster" Target="/ppt/notesMasters/notesMaster1.xml" Id="R7fa32af3409849b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8a5afe975fc463f" /><Relationship Type="http://schemas.openxmlformats.org/officeDocument/2006/relationships/notesMaster" Target="/ppt/notesMasters/notesMaster1.xml" Id="Re37504a6e6664e3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dc85507341f4eda" /><Relationship Type="http://schemas.openxmlformats.org/officeDocument/2006/relationships/notesMaster" Target="/ppt/notesMasters/notesMaster1.xml" Id="R882f6b34d30d49f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6cc541daff349fa" /><Relationship Type="http://schemas.openxmlformats.org/officeDocument/2006/relationships/notesMaster" Target="/ppt/notesMasters/notesMaster1.xml" Id="R09ae00e6afbd47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Opening. Reframe Oasis Finder as a commercial transparency method: merchants show supply-chain structure and evidence so users feel safer and are more likely to buy.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[APA sources / evidence]</a:t>
            </a:r>
          </a:p>
          <a:p xmlns:a="http://schemas.openxmlformats.org/drawingml/2006/main">
            <a:r>
              <a:t>- Ge, L. (2022). To buy or not to buy? A research on the relationship between traceable food extrinsic cues and consumers' purchase intention. Frontiers in Psychology, 13, 873941. https://doi.org/10.3389/fpsyg.2022.873941</a:t>
            </a:r>
          </a:p>
          <a:p xmlns:a="http://schemas.openxmlformats.org/drawingml/2006/main">
            <a:r>
              <a:t>- Tran, D., Schouteten, J. J., Gellynck, X., &amp; De Steur, H. (2024). How do consumers value food traceability? A meta-analysis. Food Control, 162, 110453. https://doi.org/10.1016/j.foodcont.2024.110453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Rui: explain the revised premise. We are testing purchase probability after a merchant shows supply-chain structure. Do not claim a precise sample statistic unless raw survey data is available.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[APA sources / evidence]</a:t>
            </a:r>
          </a:p>
          <a:p xmlns:a="http://schemas.openxmlformats.org/drawingml/2006/main">
            <a:r>
              <a:t>- Group 9 internal questionnaire direction (2026); raw response file is not stored in this repository, so charts are treated as directional evidence rather than population statistics.</a:t>
            </a:r>
          </a:p>
          <a:p xmlns:a="http://schemas.openxmlformats.org/drawingml/2006/main">
            <a:r>
              <a:t>- Ge, L. (2022). To buy or not to buy? A research on the relationship between traceable food extrinsic cues and consumers' purchase intention. Frontiers in Psychology, 13, 873941. https://doi.org/10.3389/fpsyg.2022.873941</a:t>
            </a:r>
          </a:p>
          <a:p xmlns:a="http://schemas.openxmlformats.org/drawingml/2006/main">
            <a:r>
              <a:t>- Tran, D., Schouteten, J. J., Gellynck, X., &amp; De Steur, H. (2024). How do consumers value food traceability? A meta-analysis. Food Control, 162, 110453. https://doi.org/10.1016/j.foodcont.2024.110453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Rui: explain why merchants would pay for this method. It is a marketing tool because traceable information quality and certification credibility affect perceived risk, perceived value, and purchase intention.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[APA sources / evidence]</a:t>
            </a:r>
          </a:p>
          <a:p xmlns:a="http://schemas.openxmlformats.org/drawingml/2006/main">
            <a:r>
              <a:t>- Ge, L. (2022). To buy or not to buy? A research on the relationship between traceable food extrinsic cues and consumers' purchase intention. Frontiers in Psychology, 13, 873941. https://doi.org/10.3389/fpsyg.2022.873941</a:t>
            </a:r>
          </a:p>
          <a:p xmlns:a="http://schemas.openxmlformats.org/drawingml/2006/main">
            <a:r>
              <a:t>- Wang, E. S.-T., Lin, H.-C., &amp; Tsai, M.-C. (2021). Effect of institutional trust on consumers' health and safety perceptions and repurchase intention for traceable fresh food. Foods, 10(12), 2898. https://doi.org/10.3390/foods10122898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Rui: connect this to teacher feedback. The product layer must show exactly what variables appear when the user clicks a node. Mention FDA CTE/KDE logic and GS1 traceability ideas.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[APA sources / evidence]</a:t>
            </a:r>
          </a:p>
          <a:p xmlns:a="http://schemas.openxmlformats.org/drawingml/2006/main">
            <a:r>
              <a:t>- U.S. Food and Drug Administration. (2024). Food Traceability Rule: Critical Tracking Events and Key Data Elements. https://www.fda.gov/food/food-safety-modernization-act-fsma/fsma-proposed-rule-food-traceability</a:t>
            </a:r>
          </a:p>
          <a:p xmlns:a="http://schemas.openxmlformats.org/drawingml/2006/main">
            <a:r>
              <a:t>- GS1. (n.d.). Traceability standards: Critical Tracking Events and Key Data Elements. https://www.gs1.org/standards/traceability</a:t>
            </a:r>
          </a:p>
          <a:p xmlns:a="http://schemas.openxmlformats.org/drawingml/2006/main">
            <a:r>
              <a:t>- https://github.com/3351666087/Oasis-Finder; local health check on 2026-04-27; artifacts/risk_metrics.json; artifacts/forecast_metrics.json.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Rui: tell the build story. We started with a broad transparency idea, used research to narrow it, built the data foundation, and then added the click-to-inspect product evidence 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[APA sources / evidence]</a:t>
            </a:r>
          </a:p>
          <a:p xmlns:a="http://schemas.openxmlformats.org/drawingml/2006/main">
            <a:r>
              <a:t>- https://github.com/3351666087/Oasis-Finder; local health check on 2026-04-27; artifacts/risk_metrics.json; artifacts/forecast_metrics.json.</a:t>
            </a:r>
          </a:p>
          <a:p xmlns:a="http://schemas.openxmlformats.org/drawingml/2006/main">
            <a:r>
              <a:t>- Badia-Melis, R., Mishra, P., &amp; Ruiz-García, L. (2015). Food traceability: New trends and recent advances. Food Control, 57, 393-401. https://doi.org/10.1016/j.foodcont.2015.05.005</a:t>
            </a:r>
          </a:p>
          <a:p xmlns:a="http://schemas.openxmlformats.org/drawingml/2006/main">
            <a:r>
              <a:t>- World Economic Forum. (2019). Innovation with a purpose: Improving traceability in food value chains through technology innovations. https://www.weforum.org/publications/innovation-with-a-purpose-improving-traceability-in-food-value-chains-through-technology-innovations/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Zixiu: this is the central product slide. Say that a merchant can use this exact view, or a web/QR version of it, to show evidence at the product page. Point to variables: time, place, stage, quality, temperature, risk.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[APA sources / evidence]</a:t>
            </a:r>
          </a:p>
          <a:p xmlns:a="http://schemas.openxmlformats.org/drawingml/2006/main">
            <a:r>
              <a:t>- https://github.com/3351666087/Oasis-Finder; local health check on 2026-04-27; artifacts/risk_metrics.json; artifacts/forecast_metrics.json.</a:t>
            </a:r>
          </a:p>
          <a:p xmlns:a="http://schemas.openxmlformats.org/drawingml/2006/main">
            <a:r>
              <a:t>- U.S. Food and Drug Administration. (2024). Food Traceability Rule: Critical Tracking Events and Key Data Elements. https://www.fda.gov/food/food-safety-modernization-act-fsma/fsma-proposed-rule-food-traceability</a:t>
            </a:r>
          </a:p>
          <a:p xmlns:a="http://schemas.openxmlformats.org/drawingml/2006/main">
            <a:r>
              <a:t>- GS1. (n.d.). Traceability standards: Critical Tracking Events and Key Data Elements. https://www.gs1.org/standards/traceability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Zixiu: clarify the data-responsibility point. Our code is open source, and the product reserves interfaces. We do not guarantee a big company's or any merchant's data authenticity.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[APA sources / evidence]</a:t>
            </a:r>
          </a:p>
          <a:p xmlns:a="http://schemas.openxmlformats.org/drawingml/2006/main">
            <a:r>
              <a:t>- https://github.com/3351666087/Oasis-Finder; local health check on 2026-04-27; artifacts/risk_metrics.json; artifacts/forecast_metrics.json.</a:t>
            </a:r>
          </a:p>
          <a:p xmlns:a="http://schemas.openxmlformats.org/drawingml/2006/main">
            <a:r>
              <a:t>- U.S. Food and Drug Administration. (2024). Food Traceability Rule: Critical Tracking Events and Key Data Elements. https://www.fda.gov/food/food-safety-modernization-act-fsma/fsma-proposed-rule-food-traceability</a:t>
            </a:r>
          </a:p>
          <a:p xmlns:a="http://schemas.openxmlformats.org/drawingml/2006/main">
            <a:r>
              <a:t>- GS1. (n.d.). Traceability standards: Critical Tracking Events and Key Data Elements. https://www.gs1.org/standards/traceability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Zixiu: show that we can back the marketing interface with operational data. Mention 97 facilities, 200 links, 418 batches, and model metrics.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[APA sources / evidence]</a:t>
            </a:r>
          </a:p>
          <a:p xmlns:a="http://schemas.openxmlformats.org/drawingml/2006/main">
            <a:r>
              <a:t>- https://github.com/3351666087/Oasis-Finder; local health check on 2026-04-27; artifacts/risk_metrics.json; artifacts/forecast_metrics.json.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Zixiu: this slide answers why merchants gain. It is an indexed value model, not a guaranteed financial forecast. Tie it to WTP, purchase intention, perceived risk, and perceived value.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[APA sources / evidence]</a:t>
            </a:r>
          </a:p>
          <a:p xmlns:a="http://schemas.openxmlformats.org/drawingml/2006/main">
            <a:r>
              <a:t>- Tran, D., Schouteten, J. J., Gellynck, X., &amp; De Steur, H. (2024). How do consumers value food traceability? A meta-analysis. Food Control, 162, 110453. https://doi.org/10.1016/j.foodcont.2024.110453</a:t>
            </a:r>
          </a:p>
          <a:p xmlns:a="http://schemas.openxmlformats.org/drawingml/2006/main">
            <a:r>
              <a:t>- Ge, L. (2022). To buy or not to buy? A research on the relationship between traceable food extrinsic cues and consumers' purchase intention. Frontiers in Psychology, 13, 873941. https://doi.org/10.3389/fpsyg.2022.873941</a:t>
            </a:r>
          </a:p>
          <a:p xmlns:a="http://schemas.openxmlformats.org/drawingml/2006/main">
            <a:r>
              <a:t>- Wang, E. S.-T., Lin, H.-C., &amp; Tsai, M.-C. (2021). Effect of institutional trust on consumers' health and safety perceptions and repurchase intention for traceable fresh food. Foods, 10(12), 2898. https://doi.org/10.3390/foods10122898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future-validation slide. It replaces the internal speaking-flow page, which is not useful for assessors. Explain that the project can move from stated preference to merchant A/B testing.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[APA sources / evidence]</a:t>
            </a:r>
          </a:p>
          <a:p xmlns:a="http://schemas.openxmlformats.org/drawingml/2006/main">
            <a:r>
              <a:t>- Group 9 internal questionnaire direction (2026); raw response file is not stored in this repository, so charts are treated as directional evidence rather than population statistics.</a:t>
            </a:r>
          </a:p>
          <a:p xmlns:a="http://schemas.openxmlformats.org/drawingml/2006/main">
            <a:r>
              <a:t>- Ge, L. (2022). To buy or not to buy? A research on the relationship between traceable food extrinsic cues and consumers' purchase intention. Frontiers in Psychology, 13, 873941. https://doi.org/10.3389/fpsyg.2022.873941</a:t>
            </a:r>
          </a:p>
          <a:p xmlns:a="http://schemas.openxmlformats.org/drawingml/2006/main">
            <a:r>
              <a:t>- Tran, D., Schouteten, J. J., Gellynck, X., &amp; De Steur, H. (2024). How do consumers value food traceability? A meta-analysis. Food Control, 162, 110453. https://doi.org/10.1016/j.foodcont.2024.110453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Closing. State the final line slowly, then invite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[APA sources / evidence]</a:t>
            </a:r>
          </a:p>
          <a:p xmlns:a="http://schemas.openxmlformats.org/drawingml/2006/main">
            <a:r>
              <a:t>- Ge, L. (2022). To buy or not to buy? A research on the relationship between traceable food extrinsic cues and consumers' purchase intention. Frontiers in Psychology, 13, 873941. https://doi.org/10.3389/fpsyg.2022.873941</a:t>
            </a:r>
          </a:p>
          <a:p xmlns:a="http://schemas.openxmlformats.org/drawingml/2006/main">
            <a:r>
              <a:t>- Tran, D., Schouteten, J. J., Gellynck, X., &amp; De Steur, H. (2024). How do consumers value food traceability? A meta-analysis. Food Control, 162, 110453. https://doi.org/10.1016/j.foodcont.2024.110453</a:t>
            </a:r>
          </a:p>
          <a:p xmlns:a="http://schemas.openxmlformats.org/drawingml/2006/main">
            <a:r>
              <a:t>- Wang, E. S.-T., Lin, H.-C., &amp; Tsai, M.-C. (2021). Effect of institutional trust on consumers' health and safety perceptions and repurchase intention for traceable fresh food. Foods, 10(12), 2898. https://doi.org/10.3390/foods10122898</a:t>
            </a:r>
          </a:p>
          <a:p xmlns:a="http://schemas.openxmlformats.org/drawingml/2006/main">
            <a:r>
              <a:t>- Badia-Melis, R., Mishra, P., &amp; Ruiz-García, L. (2015). Food traceability: New trends and recent advances. Food Control, 57, 393-401. https://doi.org/10.1016/j.foodcont.2015.05.005</a:t>
            </a:r>
          </a:p>
          <a:p xmlns:a="http://schemas.openxmlformats.org/drawingml/2006/main">
            <a:r>
              <a:t>- World Economic Forum. (2019). Innovation with a purpose: Improving traceability in food value chains through technology innovations. https://www.weforum.org/publications/innovation-with-a-purpose-improving-traceability-in-food-value-chains-through-technology-innovations/</a:t>
            </a:r>
          </a:p>
          <a:p xmlns:a="http://schemas.openxmlformats.org/drawingml/2006/main">
            <a:r>
              <a:t>- U.S. Food and Drug Administration. (2024). Food Traceability Rule: Critical Tracking Events and Key Data Elements. https://www.fda.gov/food/food-safety-modernization-act-fsma/fsma-proposed-rule-food-traceability</a:t>
            </a:r>
          </a:p>
          <a:p xmlns:a="http://schemas.openxmlformats.org/drawingml/2006/main">
            <a:r>
              <a:t>- GS1. (n.d.). Traceability standards: Critical Tracking Events and Key Data Elements. https://www.gs1.org/standards/traceability</a:t>
            </a:r>
          </a:p>
          <a:p xmlns:a="http://schemas.openxmlformats.org/drawingml/2006/main">
            <a:r>
              <a:t>- https://github.com/3351666087/Oasis-Finder; local health check on 2026-04-27; artifacts/risk_metrics.json; artifacts/forecast_metrics.json.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6ea0ea09934767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F066B5B4-5EA9-456D-A72D-75EE51A95BA7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37AB7239-9968-48A3-9D4A-28988037F0DC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A9153DD-4E56-4FA5-A2C0-E80E72FBDE6B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1902D61-B35C-4B78-BDB0-F5CD1B03F7EE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E59FF90-40F5-44A7-A725-8830031BFE8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b5670d482c6b4885" /><Relationship Type="http://schemas.openxmlformats.org/officeDocument/2006/relationships/slideLayout" Target="/ppt/slideLayouts/slideLayout2.xml" Id="R9bdc3f6e77794b3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1E9A793-08A0-4097-B336-79A4D53E7FEE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dc3f6e77794b3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3e7b486eab2493a" /><Relationship Type="http://schemas.openxmlformats.org/officeDocument/2006/relationships/notesSlide" Target="/ppt/notesSlides/notesSlide1.xml" Id="Rad835e854de94b9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43360a029dd44fd" /><Relationship Type="http://schemas.openxmlformats.org/officeDocument/2006/relationships/chart" Target="/ppt/slides/charts/chart1.xml" Id="R91207b3da954489e" /><Relationship Type="http://schemas.openxmlformats.org/officeDocument/2006/relationships/notesSlide" Target="/ppt/notesSlides/notesSlide2.xml" Id="R91904eab335c48d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7f90da0f4f3467c" /><Relationship Type="http://schemas.openxmlformats.org/officeDocument/2006/relationships/notesSlide" Target="/ppt/notesSlides/notesSlide3.xml" Id="Ra04fe9e74e12483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b94166e89d14a56" /><Relationship Type="http://schemas.openxmlformats.org/officeDocument/2006/relationships/notesSlide" Target="/ppt/notesSlides/notesSlide4.xml" Id="Re9488e41c0b1493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a721e1c531d4f9d" /><Relationship Type="http://schemas.openxmlformats.org/officeDocument/2006/relationships/notesSlide" Target="/ppt/notesSlides/notesSlide5.xml" Id="Rbf8e062233cf45f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4ddea6cb09e43fc" /><Relationship Type="http://schemas.openxmlformats.org/officeDocument/2006/relationships/image" Target="/ppt/media/image.png" Id="Rdc5b9928433b48da" /><Relationship Type="http://schemas.openxmlformats.org/officeDocument/2006/relationships/notesSlide" Target="/ppt/notesSlides/notesSlide6.xml" Id="Rab3a5538f00546f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cbc107c23ee4341" /><Relationship Type="http://schemas.openxmlformats.org/officeDocument/2006/relationships/image" Target="/ppt/media/image2.png" Id="R9031e38e63824478" /><Relationship Type="http://schemas.openxmlformats.org/officeDocument/2006/relationships/notesSlide" Target="/ppt/notesSlides/notesSlide7.xml" Id="R6e39744dccc045c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eb3555823f041b9" /><Relationship Type="http://schemas.openxmlformats.org/officeDocument/2006/relationships/chart" Target="/ppt/slides/charts/chart2.xml" Id="Rf2a2de09b0334bb6" /><Relationship Type="http://schemas.openxmlformats.org/officeDocument/2006/relationships/image" Target="/ppt/media/image3.png" Id="R2f865db98053411e" /><Relationship Type="http://schemas.openxmlformats.org/officeDocument/2006/relationships/notesSlide" Target="/ppt/notesSlides/notesSlide8.xml" Id="Rf6e9b31c56a348e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9e49844e1fb4639" /><Relationship Type="http://schemas.openxmlformats.org/officeDocument/2006/relationships/chart" Target="/ppt/slides/charts/chart3.xml" Id="R7657489fdef14f16" /><Relationship Type="http://schemas.openxmlformats.org/officeDocument/2006/relationships/notesSlide" Target="/ppt/notesSlides/notesSlide9.xml" Id="R2c99ac8772124d4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a4cedc75edc42ee" /><Relationship Type="http://schemas.openxmlformats.org/officeDocument/2006/relationships/notesSlide" Target="/ppt/notesSlides/notesSlide10.xml" Id="R68b4e2e25468434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2a6a77374bf46d2" /><Relationship Type="http://schemas.openxmlformats.org/officeDocument/2006/relationships/notesSlide" Target="/ppt/notesSlides/notesSlide11.xml" Id="Rcc02c49b83dc4e8b" /></Relationships>
</file>

<file path=ppt/slides/charts/chart1.xml><?xml version="1.0" encoding="utf-8"?>
<c:chartSpace xmlns:c="http://schemas.openxmlformats.org/drawingml/2006/chart">
  <c:lang val="en-US"/>
  <c:roundedCorners val="0"/>
  <c:chart>
    <c:view3D/>
    <c:plotArea>
      <c:layout/>
      <c:barChart>
        <c:barDir val="col"/>
        <c:varyColors val="0"/>
        <c:ser>
          <c:idx val="0"/>
          <c:order val="0"/>
          <c:tx>
            <c:v>Relative buying-lift signal</c:v>
          </c:tx>
          <c:spPr>
            <a:solidFill xmlns:a="http://schemas.openxmlformats.org/drawingml/2006/main">
              <a:srgbClr val="0E7C72"/>
            </a:solidFill>
            <a:ln xmlns:a="http://schemas.openxmlformats.org/drawingml/2006/main" w="14288">
              <a:solidFill>
                <a:srgbClr val="0E7C72"/>
              </a:solidFill>
              <a:prstDash val="solid"/>
            </a:ln>
          </c:spPr>
          <c:cat>
            <c:strLit>
              <c:ptCount val="6"/>
              <c:pt idx="0">
                <c:v>Cake</c:v>
              </c:pt>
              <c:pt idx="1">
                <c:v>Seafood</c:v>
              </c:pt>
              <c:pt idx="2">
                <c:v>Meat</c:v>
              </c:pt>
              <c:pt idx="3">
                <c:v>Dairy</c:v>
              </c:pt>
              <c:pt idx="4">
                <c:v>Ready meal</c:v>
              </c:pt>
              <c:pt idx="5">
                <c:v>Beverage</c:v>
              </c:pt>
            </c:strLit>
          </c:cat>
          <c:val>
            <c:numLit>
              <c:formatCode/>
              <c:ptCount val="6"/>
              <c:pt idx="0">
                <c:v>4.8</c:v>
              </c:pt>
              <c:pt idx="1">
                <c:v>4.7</c:v>
              </c:pt>
              <c:pt idx="2">
                <c:v>4.6</c:v>
              </c:pt>
              <c:pt idx="3">
                <c:v>4.4</c:v>
              </c:pt>
              <c:pt idx="4">
                <c:v>4.2</c:v>
              </c:pt>
              <c:pt idx="5">
                <c:v>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</c:chartSpace>
</file>

<file path=ppt/slides/charts/chart2.xml><?xml version="1.0" encoding="utf-8"?>
<c:chartSpace xmlns:c="http://schemas.openxmlformats.org/drawingml/2006/chart">
  <c:lang val="en-US"/>
  <c:roundedCorners val="0"/>
  <c:chart>
    <c:view3D/>
    <c:plotArea>
      <c:layout/>
      <c:barChart>
        <c:barDir val="col"/>
        <c:varyColors val="0"/>
        <c:ser>
          <c:idx val="0"/>
          <c:order val="0"/>
          <c:tx>
            <c:v>Model metric</c:v>
          </c:tx>
          <c:spPr>
            <a:solidFill xmlns:a="http://schemas.openxmlformats.org/drawingml/2006/main">
              <a:srgbClr val="3564A7"/>
            </a:solidFill>
          </c:spPr>
          <c:cat>
            <c:strLit>
              <c:ptCount val="3"/>
              <c:pt idx="0">
                <c:v>Risk RMSE</c:v>
              </c:pt>
              <c:pt idx="1">
                <c:v>Risk MAE</c:v>
              </c:pt>
              <c:pt idx="2">
                <c:v>Forecast MAPE</c:v>
              </c:pt>
            </c:strLit>
          </c:cat>
          <c:val>
            <c:numLit>
              <c:formatCode/>
              <c:ptCount val="3"/>
              <c:pt idx="0">
                <c:v>5.83</c:v>
              </c:pt>
              <c:pt idx="1">
                <c:v>4.65</c:v>
              </c:pt>
              <c:pt idx="2">
                <c:v>4.81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</c:chartSpace>
</file>

<file path=ppt/slides/charts/chart3.xml><?xml version="1.0" encoding="utf-8"?>
<c:chartSpace xmlns:c="http://schemas.openxmlformats.org/drawingml/2006/chart">
  <c:lang val="en-US"/>
  <c:roundedCorners val="0"/>
  <c:chart>
    <c:view3D/>
    <c:plotArea>
      <c:layout/>
      <c:barChart>
        <c:barDir val="col"/>
        <c:varyColors val="0"/>
        <c:ser>
          <c:idx val="0"/>
          <c:order val="0"/>
          <c:tx>
            <c:v>Indexed merchant value</c:v>
          </c:tx>
          <c:spPr>
            <a:solidFill xmlns:a="http://schemas.openxmlformats.org/drawingml/2006/main">
              <a:srgbClr val="0E7C72"/>
            </a:solidFill>
          </c:spPr>
          <c:cat>
            <c:strLit>
              <c:ptCount val="4"/>
              <c:pt idx="0">
                <c:v>Baseline</c:v>
              </c:pt>
              <c:pt idx="1">
                <c:v>+ conversion</c:v>
              </c:pt>
              <c:pt idx="2">
                <c:v>+ premium trust</c:v>
              </c:pt>
              <c:pt idx="3">
                <c:v>- complaints</c:v>
              </c:pt>
            </c:strLit>
          </c:cat>
          <c:val>
            <c:numLit>
              <c:formatCode/>
              <c:ptCount val="4"/>
              <c:pt idx="0">
                <c:v>100</c:v>
              </c:pt>
              <c:pt idx="1">
                <c:v>108</c:v>
              </c:pt>
              <c:pt idx="2">
                <c:v>114</c:v>
              </c:pt>
              <c:pt idx="3">
                <c:v>116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E59FF90-40F5-44A7-A725-8830031BFE8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CA4F15-F9ED-462D-A159-69D4631D4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C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9D2329-7F0F-4404-9A2C-55E40290C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0"/>
            <a:ext cx="781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503EDB-6A72-4617-AEF3-D5EC5A61D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3143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Oasis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Finder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CFCF4F-B217-4C84-A953-5D78CEBE4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3143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DEDEB"/>
                </a:solidFill>
              </a:defRPr>
            </a:pPr>
            <a:r>
              <a:rPr sz="1800" b="0">
                <a:solidFill>
                  <a:srgbClr val="DDEDEB"/>
                </a:solidFill>
              </a:rPr>
              <a:t>Supply-chain transparency as a merchant conversion method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726C04-871F-4A16-A4C5-AA1E98EA2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43350"/>
            <a:ext cx="2190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E7C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Open-source prototype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AA9BE8-57AF-4B19-A04E-DADD534B8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62600"/>
            <a:ext cx="2857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Group 9</a:t>
            </a:r>
          </a:p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Rui Huang + Zixiu Wang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6ACEA0-F395-4164-9D06-7F63EB463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876300"/>
            <a:ext cx="619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9722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21820"/>
                </a:solidFill>
              </a:defRPr>
            </a:pPr>
            <a:r>
              <a:rPr sz="3150" b="1">
                <a:solidFill>
                  <a:srgbClr val="121820"/>
                </a:solidFill>
              </a:rPr>
              <a:t>Does supply-chain visibility make users more likely to buy?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C9E06F-CDEC-4045-960C-DACDF1AD3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66900"/>
            <a:ext cx="619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5414A"/>
                </a:solidFill>
              </a:defRPr>
            </a:pPr>
            <a:r>
              <a:rPr sz="1650" b="0">
                <a:solidFill>
                  <a:srgbClr val="35414A"/>
                </a:solidFill>
              </a:rPr>
              <a:t>Our product is not a single app feature. It is a way for merchants to show credible product evidence at the buying moment.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7D9226-9CC4-46DE-A8AE-5BCD2821D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19450"/>
            <a:ext cx="60198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6FAFA"/>
          </a:solidFill>
          <a:ln xmlns:a="http://schemas.openxmlformats.org/drawingml/2006/main" w="14288">
            <a:solidFill>
              <a:srgbClr val="0E7C7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36E2A5-00B0-4E69-B519-8F734A840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371850"/>
            <a:ext cx="56769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1820"/>
                </a:solidFill>
              </a:defRPr>
            </a:pPr>
            <a:r>
              <a:rPr sz="1575" b="1">
                <a:solidFill>
                  <a:srgbClr val="121820"/>
                </a:solidFill>
              </a:rPr>
              <a:t>Thesis: more credible supply-chain evidence reduces perceived risk and increases purchase confidence, especially for perishable or high-trust foods.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406CC0-66A3-4AA6-9A62-6B3A86BF1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57750"/>
            <a:ext cx="609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564A7"/>
                </a:solidFill>
              </a:defRPr>
            </a:pPr>
            <a:r>
              <a:rPr sz="1575" b="1">
                <a:solidFill>
                  <a:srgbClr val="3564A7"/>
                </a:solidFill>
              </a:rPr>
              <a:t>https://github.com/3351666087/Oasis-Finder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3555AD-8248-454B-B8FD-75BF04519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67350"/>
            <a:ext cx="609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5414A"/>
                </a:solidFill>
              </a:defRPr>
            </a:pPr>
            <a:r>
              <a:rPr sz="1500" b="0">
                <a:solidFill>
                  <a:srgbClr val="35414A"/>
                </a:solidFill>
              </a:rPr>
              <a:t>8-minute flow: problem -&gt; questionnaire signal -&gt; product proof -&gt; merchant value -&gt; build story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1E73F3-64E7-4E7A-9041-FA517D8C5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27C"/>
                </a:solidFill>
              </a:defRPr>
            </a:pPr>
            <a:r>
              <a:rPr sz="825" b="0">
                <a:solidFill>
                  <a:srgbClr val="66727C"/>
                </a:solidFill>
              </a:rPr>
              <a:t>Group 9 | Rui Huang and Zixiu Wang | 8-minute presentation</a:t>
            </a:r>
          </a:p>
        </p:txBody>
      </p:sp>
    </p:spTree>
    <p:extLst>
      <p:ext uri="{BB962C8B-B14F-4D97-AF65-F5344CB8AC3E}">
        <p14:creationId xmlns:p14="http://schemas.microsoft.com/office/powerpoint/2010/main" val="11615631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E59FF90-40F5-44A7-A725-8830031BFE8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EF5A98-3814-43C7-9C94-C243EE268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7C72"/>
                </a:solidFill>
              </a:defRPr>
            </a:pPr>
            <a:r>
              <a:rPr sz="1125" b="1">
                <a:solidFill>
                  <a:srgbClr val="0E7C72"/>
                </a:solidFill>
              </a:rPr>
              <a:t>REBUILT RESEARCH FOCUS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1771C9-B3C6-4998-9979-5B4A2A974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47650"/>
            <a:ext cx="990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27C"/>
                </a:solidFill>
              </a:defRPr>
            </a:pPr>
            <a:r>
              <a:rPr sz="1125" b="1">
                <a:solidFill>
                  <a:srgbClr val="66727C"/>
                </a:solidFill>
              </a:rPr>
              <a:t>02 / 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28BCAF-6DC2-4DE9-B05D-92B8549FA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10C787-8947-4D5B-8E6C-677033EF3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552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6624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21820"/>
                </a:solidFill>
              </a:defRPr>
            </a:pPr>
            <a:r>
              <a:rPr sz="2925" b="1">
                <a:solidFill>
                  <a:srgbClr val="121820"/>
                </a:solidFill>
              </a:rPr>
              <a:t>Questionnaire: transparency changes buying probability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847E64-EF28-43B6-8EC2-322F571D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542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5414A"/>
                </a:solidFill>
              </a:defRPr>
            </a:pPr>
            <a:r>
              <a:rPr sz="1650" b="0">
                <a:solidFill>
                  <a:srgbClr val="35414A"/>
                </a:solidFill>
              </a:rPr>
              <a:t>The research focus is direct: can visible supply-chain evidence increase buying confidence at the product page?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32F832-5365-43D3-B7C1-E6DC091C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53340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6FAFA"/>
          </a:solidFill>
          <a:ln xmlns:a="http://schemas.openxmlformats.org/drawingml/2006/main" w="14288">
            <a:solidFill>
              <a:srgbClr val="D95F4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576705-24A8-4ACB-8260-93514DAF9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00350"/>
            <a:ext cx="49911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1820"/>
                </a:solidFill>
              </a:defRPr>
            </a:pPr>
            <a:r>
              <a:rPr sz="1575" b="1">
                <a:solidFill>
                  <a:srgbClr val="121820"/>
                </a:solidFill>
              </a:rPr>
              <a:t>Question asked: If a merchant shows supplier nodes, time, place, quality checks, temperature, and batch movement, are you more likely to buy?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334125" y="1200150"/>
          <a:ext xmlns:a="http://schemas.openxmlformats.org/drawingml/2006/main" cx="5095875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1207b3da954489e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E0FD5C-7EEA-4FE1-9172-9EFA4B464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0"/>
            <a:ext cx="53340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612499-DF26-4D91-9796-1241B356F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62425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1820"/>
                </a:solidFill>
              </a:defRPr>
            </a:pPr>
            <a:r>
              <a:rPr sz="1350" b="1">
                <a:solidFill>
                  <a:srgbClr val="121820"/>
                </a:solidFill>
              </a:rPr>
              <a:t>Cake / bakery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35F4D1-1363-4683-8BE8-88DA348A1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162425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5414A"/>
                </a:solidFill>
              </a:defRPr>
            </a:pPr>
            <a:r>
              <a:rPr sz="1350" b="0">
                <a:solidFill>
                  <a:srgbClr val="35414A"/>
                </a:solidFill>
              </a:rPr>
              <a:t>freshness + ingredients + allergy trust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EA76FC-A19D-47FC-83E8-4C58D1F96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52950"/>
            <a:ext cx="53340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D7DE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1391DA-34A1-4F4B-A1DE-2AD10F181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19625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1820"/>
                </a:solidFill>
              </a:defRPr>
            </a:pPr>
            <a:r>
              <a:rPr sz="1350" b="1">
                <a:solidFill>
                  <a:srgbClr val="121820"/>
                </a:solidFill>
              </a:rPr>
              <a:t>Seafood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CEAC38-3C8E-40F2-A2A0-1BC00A4C0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619625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5414A"/>
                </a:solidFill>
              </a:defRPr>
            </a:pPr>
            <a:r>
              <a:rPr sz="1350" b="0">
                <a:solidFill>
                  <a:srgbClr val="35414A"/>
                </a:solidFill>
              </a:rPr>
              <a:t>cold-chain and origin risk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EEE6B5-A33E-48AA-809B-0C6260154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10150"/>
            <a:ext cx="53340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D99BFB-258B-40C0-8D53-319830031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76825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1820"/>
                </a:solidFill>
              </a:defRPr>
            </a:pPr>
            <a:r>
              <a:rPr sz="1350" b="1">
                <a:solidFill>
                  <a:srgbClr val="121820"/>
                </a:solidFill>
              </a:rPr>
              <a:t>Meat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240AF1-72F0-4D35-98DA-220BB26F4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76825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5414A"/>
                </a:solidFill>
              </a:defRPr>
            </a:pPr>
            <a:r>
              <a:rPr sz="1350" b="0">
                <a:solidFill>
                  <a:srgbClr val="35414A"/>
                </a:solidFill>
              </a:rPr>
              <a:t>safety expiry inspection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FCA909-CBE3-4650-9719-3F70A0363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7350"/>
            <a:ext cx="53340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D7DE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548598-4FDE-43BE-BBD6-3357B6243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34025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1820"/>
                </a:solidFill>
              </a:defRPr>
            </a:pPr>
            <a:r>
              <a:rPr sz="1350" b="1">
                <a:solidFill>
                  <a:srgbClr val="121820"/>
                </a:solidFill>
              </a:rPr>
              <a:t>Dairy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0E1987-0AA3-4BA9-AEDF-FAFFEFE82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534025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5414A"/>
                </a:solidFill>
              </a:defRPr>
            </a:pPr>
            <a:r>
              <a:rPr sz="1350" b="0">
                <a:solidFill>
                  <a:srgbClr val="35414A"/>
                </a:solidFill>
              </a:rPr>
              <a:t>safety expiry inspection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F3A1CE-4E7B-498C-B2F8-2A673A45D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76800"/>
            <a:ext cx="495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27C"/>
                </a:solidFill>
              </a:defRPr>
            </a:pPr>
            <a:r>
              <a:rPr sz="1125" b="0">
                <a:solidFill>
                  <a:srgbClr val="66727C"/>
                </a:solidFill>
              </a:rPr>
              <a:t>CSV-backed directional 1-5 response coding; replace with exact raw counts when the final questionnaire file is available.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B1BB00-0467-4CD6-BCE5-7D16C8FA9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27C"/>
                </a:solidFill>
              </a:defRPr>
            </a:pPr>
            <a:r>
              <a:rPr sz="825" b="0">
                <a:solidFill>
                  <a:srgbClr val="66727C"/>
                </a:solidFill>
              </a:rPr>
              <a:t>Group 9 | Rui Huang and Zixiu Wang | 8-minute presentation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A53EE2-B77F-46C6-86EC-F33F2AACB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649605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6727C"/>
                </a:solidFill>
              </a:defRPr>
            </a:pPr>
            <a:r>
              <a:rPr sz="788" b="0">
                <a:solidFill>
                  <a:srgbClr val="66727C"/>
                </a:solidFill>
              </a:rPr>
              <a:t>Ge (2022); Tran et al. (2024); Group 9 questionnaire direction</a:t>
            </a:r>
          </a:p>
        </p:txBody>
      </p:sp>
    </p:spTree>
    <p:extLst>
      <p:ext uri="{BB962C8B-B14F-4D97-AF65-F5344CB8AC3E}">
        <p14:creationId xmlns:p14="http://schemas.microsoft.com/office/powerpoint/2010/main" val="10122152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E59FF90-40F5-44A7-A725-8830031BFE8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31CB11-78CB-4E0D-B783-7CDCC7231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7C72"/>
                </a:solidFill>
              </a:defRPr>
            </a:pPr>
            <a:r>
              <a:rPr sz="1125" b="1">
                <a:solidFill>
                  <a:srgbClr val="0E7C72"/>
                </a:solidFill>
              </a:rPr>
              <a:t>WHY IT PAYS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8B7E66-A461-4042-ACDA-4661B5D43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47650"/>
            <a:ext cx="990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27C"/>
                </a:solidFill>
              </a:defRPr>
            </a:pPr>
            <a:r>
              <a:rPr sz="1125" b="1">
                <a:solidFill>
                  <a:srgbClr val="66727C"/>
                </a:solidFill>
              </a:rPr>
              <a:t>03 / 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E3E9AC-6E21-44DC-928D-B1A14141A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6F7170-57C1-4F3D-8993-C45BF1F89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482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21820"/>
                </a:solidFill>
              </a:defRPr>
            </a:pPr>
            <a:r>
              <a:rPr sz="3150" b="1">
                <a:solidFill>
                  <a:srgbClr val="121820"/>
                </a:solidFill>
              </a:rPr>
              <a:t>The commercial mechanism is risk reduction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DB8051-C27F-4817-AA60-151949664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5414A"/>
                </a:solidFill>
              </a:defRPr>
            </a:pPr>
            <a:r>
              <a:rPr sz="1650" b="0">
                <a:solidFill>
                  <a:srgbClr val="35414A"/>
                </a:solidFill>
              </a:rPr>
              <a:t>Transparency works as advertising because it turns an invisible quality claim into a visible decision cue.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E771F2-AD7F-4088-A567-D11C9E37C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234315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592EC6-1C53-49A9-8FC7-E90318F25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5A542B-1E01-41BD-8B17-0BEE63B18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9875"/>
            <a:ext cx="419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CF4D8C-EDE7-470E-8110-E60577C5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895600"/>
            <a:ext cx="1371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1820"/>
                </a:solidFill>
              </a:defRPr>
            </a:pPr>
            <a:r>
              <a:rPr sz="1725" b="1">
                <a:solidFill>
                  <a:srgbClr val="121820"/>
                </a:solidFill>
              </a:rPr>
              <a:t>Evidence shown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99FA95-A1CB-4651-9835-640E208D9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18859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5414A"/>
                </a:solidFill>
              </a:defRPr>
            </a:pPr>
            <a:r>
              <a:rPr sz="1350" b="0">
                <a:solidFill>
                  <a:srgbClr val="35414A"/>
                </a:solidFill>
              </a:rPr>
              <a:t>Supplier map, batch, timestamp, location, temperature, certificate.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550D8C-22F9-4295-BF17-0054CB7B0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724150"/>
            <a:ext cx="234315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A078F1-5C02-4146-BC25-27D6D371E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952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4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DE827B-76D6-406C-ADEE-1BA9D56E3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809875"/>
            <a:ext cx="419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C74B83-BBF9-4271-A78C-DF88FE25C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895600"/>
            <a:ext cx="1371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1820"/>
                </a:solidFill>
              </a:defRPr>
            </a:pPr>
            <a:r>
              <a:rPr sz="1725" b="1">
                <a:solidFill>
                  <a:srgbClr val="121820"/>
                </a:solidFill>
              </a:rPr>
              <a:t>Risk drops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5296F3-2D39-4938-A0DF-A61E9CA6D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52800"/>
            <a:ext cx="18859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5414A"/>
                </a:solidFill>
              </a:defRPr>
            </a:pPr>
            <a:r>
              <a:rPr sz="1350" b="0">
                <a:solidFill>
                  <a:srgbClr val="35414A"/>
                </a:solidFill>
              </a:rPr>
              <a:t>Consumers feel less uncertainty about freshness and safety.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40CEC4-8F74-4A0B-971E-05215AA8C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24150"/>
            <a:ext cx="234315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162492-D907-4176-A180-15E47FF3C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52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9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60C75F-4D39-4AE0-A1C8-05BDC318E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09875"/>
            <a:ext cx="419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0675A1-B947-4701-9299-6DA79E925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895600"/>
            <a:ext cx="1371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1820"/>
                </a:solidFill>
              </a:defRPr>
            </a:pPr>
            <a:r>
              <a:rPr sz="1725" b="1">
                <a:solidFill>
                  <a:srgbClr val="121820"/>
                </a:solidFill>
              </a:rPr>
              <a:t>Value rises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73DE04-B605-4968-A838-AB039FDBB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352800"/>
            <a:ext cx="18859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5414A"/>
                </a:solidFill>
              </a:defRPr>
            </a:pPr>
            <a:r>
              <a:rPr sz="1350" b="0">
                <a:solidFill>
                  <a:srgbClr val="35414A"/>
                </a:solidFill>
              </a:rPr>
              <a:t>The product becomes easier to trust and easier to justify.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66F9C2-E8BB-4CD4-8B78-2EDD6EAE1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724150"/>
            <a:ext cx="234315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173ED3-B508-4E55-93C8-B7BDBAE8E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952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F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0A524F-9173-4E4D-B175-0B757CD58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809875"/>
            <a:ext cx="419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FE6C53-9196-4B93-93FA-596A6FD1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895600"/>
            <a:ext cx="1371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1820"/>
                </a:solidFill>
              </a:defRPr>
            </a:pPr>
            <a:r>
              <a:rPr sz="1725" b="1">
                <a:solidFill>
                  <a:srgbClr val="121820"/>
                </a:solidFill>
              </a:rPr>
              <a:t>Revenue improves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32ACF7-127C-4954-A16B-FAABB288C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352800"/>
            <a:ext cx="18859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5414A"/>
                </a:solidFill>
              </a:defRPr>
            </a:pPr>
            <a:r>
              <a:rPr sz="1350" b="0">
                <a:solidFill>
                  <a:srgbClr val="35414A"/>
                </a:solidFill>
              </a:rPr>
              <a:t>Higher conversion, premium tolerance, and repeat intention.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A69298-86D4-4CD5-B8C6-D564E17A8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991100"/>
            <a:ext cx="94869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6FAFA"/>
          </a:solidFill>
          <a:ln xmlns:a="http://schemas.openxmlformats.org/drawingml/2006/main" w="14288">
            <a:solidFill>
              <a:srgbClr val="0E7C7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C95EC5-5B35-4204-A9AA-52242826C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43500"/>
            <a:ext cx="914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5821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1820"/>
                </a:solidFill>
              </a:defRPr>
            </a:pPr>
            <a:r>
              <a:rPr sz="1575" b="1">
                <a:solidFill>
                  <a:srgbClr val="121820"/>
                </a:solidFill>
              </a:rPr>
              <a:t>Advertising claim moves from “trust us” to “inspect the evidence”. That is why the same product page can become more persuasive.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AAD2AB-BDE9-42BE-AEFD-69EC7AE74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27C"/>
                </a:solidFill>
              </a:defRPr>
            </a:pPr>
            <a:r>
              <a:rPr sz="825" b="0">
                <a:solidFill>
                  <a:srgbClr val="66727C"/>
                </a:solidFill>
              </a:rPr>
              <a:t>Group 9 | Rui Huang and Zixiu Wang | 8-minute presentation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B135BF-8F3A-421E-9A46-B9F4BD142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649605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6727C"/>
                </a:solidFill>
              </a:defRPr>
            </a:pPr>
            <a:r>
              <a:rPr sz="788" b="0">
                <a:solidFill>
                  <a:srgbClr val="66727C"/>
                </a:solidFill>
              </a:rPr>
              <a:t>Ge (2022); Wang et al. (2021)</a:t>
            </a:r>
          </a:p>
        </p:txBody>
      </p:sp>
    </p:spTree>
    <p:extLst>
      <p:ext uri="{BB962C8B-B14F-4D97-AF65-F5344CB8AC3E}">
        <p14:creationId xmlns:p14="http://schemas.microsoft.com/office/powerpoint/2010/main" val="4083634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E59FF90-40F5-44A7-A725-8830031BFE8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79285F-CB57-4BB4-BB32-4851E5111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7C72"/>
                </a:solidFill>
              </a:defRPr>
            </a:pPr>
            <a:r>
              <a:rPr sz="1125" b="1">
                <a:solidFill>
                  <a:srgbClr val="0E7C72"/>
                </a:solidFill>
              </a:rPr>
              <a:t>PRODUCT 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9AE42C-920E-4E87-AEC3-B9A9F8086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47650"/>
            <a:ext cx="990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27C"/>
                </a:solidFill>
              </a:defRPr>
            </a:pPr>
            <a:r>
              <a:rPr sz="1125" b="1">
                <a:solidFill>
                  <a:srgbClr val="66727C"/>
                </a:solidFill>
              </a:rPr>
              <a:t>04 / 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D1A349-27FF-47EA-BB7E-3E506730A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B9F9C9-C003-4451-881B-A43636F1F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21820"/>
                </a:solidFill>
              </a:defRPr>
            </a:pPr>
            <a:r>
              <a:rPr sz="3150" b="1">
                <a:solidFill>
                  <a:srgbClr val="121820"/>
                </a:solidFill>
              </a:rPr>
              <a:t>What a merchant should show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273AD7-4507-4073-A631-73F899198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5414A"/>
                </a:solidFill>
              </a:defRPr>
            </a:pPr>
            <a:r>
              <a:rPr sz="1650" b="0">
                <a:solidFill>
                  <a:srgbClr val="35414A"/>
                </a:solidFill>
              </a:rPr>
              <a:t>Oasis Finder is a display method plus data schema. We open-source the code, but merchants remain responsible for the truth of their data.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A62F22-DE01-4ED8-9E2F-B0B429FB0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05050"/>
            <a:ext cx="32766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5B7CC1-1403-4C90-A7F9-006506C2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1820"/>
                </a:solidFill>
              </a:defRPr>
            </a:pPr>
            <a:r>
              <a:rPr sz="1725" b="1">
                <a:solidFill>
                  <a:srgbClr val="121820"/>
                </a:solidFill>
              </a:rPr>
              <a:t>Product identity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E8C0FD-0FA8-40E0-BFCB-076FD949C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0350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5414A"/>
                </a:solidFill>
              </a:defRPr>
            </a:pPr>
            <a:r>
              <a:rPr sz="1350" b="0">
                <a:solidFill>
                  <a:srgbClr val="35414A"/>
                </a:solidFill>
              </a:rPr>
              <a:t>SKU / GTIN, QR code, batch or lot 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A0DA0D-BECA-440F-9550-10199CCF7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05050"/>
            <a:ext cx="32766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17D182-DC42-4021-8B7F-6A781A0AF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765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1820"/>
                </a:solidFill>
              </a:defRPr>
            </a:pPr>
            <a:r>
              <a:rPr sz="1725" b="1">
                <a:solidFill>
                  <a:srgbClr val="121820"/>
                </a:solidFill>
              </a:rPr>
              <a:t>Place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3E7D7F-73E2-4F61-90B7-05AABB749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00350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5414A"/>
                </a:solidFill>
              </a:defRPr>
            </a:pPr>
            <a:r>
              <a:rPr sz="1350" b="0">
                <a:solidFill>
                  <a:srgbClr val="35414A"/>
                </a:solidFill>
              </a:rPr>
              <a:t>supplier, plant, warehouse, location 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434134-5D0B-449C-A42F-2731B1907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305050"/>
            <a:ext cx="32766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9429E7-2E65-4CDD-98A0-7D59C723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765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1820"/>
                </a:solidFill>
              </a:defRPr>
            </a:pPr>
            <a:r>
              <a:rPr sz="1725" b="1">
                <a:solidFill>
                  <a:srgbClr val="121820"/>
                </a:solidFill>
              </a:rPr>
              <a:t>Time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CEC206-B694-41A1-98E0-F4E32F5DB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00350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7531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5414A"/>
                </a:solidFill>
              </a:defRPr>
            </a:pPr>
            <a:r>
              <a:rPr sz="1350" b="0">
                <a:solidFill>
                  <a:srgbClr val="35414A"/>
                </a:solidFill>
              </a:rPr>
              <a:t>harvest, production, receiving, shipping, arrival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56BA52-F7EF-4090-A718-767ED87C1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62350"/>
            <a:ext cx="32766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D9DDDC-70FC-4BCA-A40F-F5F5CB44B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338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1820"/>
                </a:solidFill>
              </a:defRPr>
            </a:pPr>
            <a:r>
              <a:rPr sz="1725" b="1">
                <a:solidFill>
                  <a:srgbClr val="121820"/>
                </a:solidFill>
              </a:rPr>
              <a:t>Condition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1AD1A1-23B5-4524-ADCD-77A9E907C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57650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276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5414A"/>
                </a:solidFill>
              </a:defRPr>
            </a:pPr>
            <a:r>
              <a:rPr sz="1350" b="0">
                <a:solidFill>
                  <a:srgbClr val="35414A"/>
                </a:solidFill>
              </a:rPr>
              <a:t>temperature, breach minutes, freshness, shelf life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0A2F86-A586-4E41-B8D5-191A4341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62350"/>
            <a:ext cx="32766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12D755-B8B7-4041-880E-AB6686C89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7338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1820"/>
                </a:solidFill>
              </a:defRPr>
            </a:pPr>
            <a:r>
              <a:rPr sz="1725" b="1">
                <a:solidFill>
                  <a:srgbClr val="121820"/>
                </a:solidFill>
              </a:rPr>
              <a:t>Quality proof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F298A1-6CF1-4125-BDB4-86F32814D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057650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192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5414A"/>
                </a:solidFill>
              </a:defRPr>
            </a:pPr>
            <a:r>
              <a:rPr sz="1350" b="0">
                <a:solidFill>
                  <a:srgbClr val="35414A"/>
                </a:solidFill>
              </a:rPr>
              <a:t>inspection result, package score, residue/pathogen checks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870A4F-D1A6-4C3F-B672-4E4167295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562350"/>
            <a:ext cx="32766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D14F31-5904-43EF-96AE-D07460411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338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1820"/>
                </a:solidFill>
              </a:defRPr>
            </a:pPr>
            <a:r>
              <a:rPr sz="1725" b="1">
                <a:solidFill>
                  <a:srgbClr val="121820"/>
                </a:solidFill>
              </a:rPr>
              <a:t>Evidence owner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4B1469-4717-46C2-A105-9E8BA30AB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57650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752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5414A"/>
                </a:solidFill>
              </a:defRPr>
            </a:pPr>
            <a:r>
              <a:rPr sz="1350" b="0">
                <a:solidFill>
                  <a:srgbClr val="35414A"/>
                </a:solidFill>
              </a:rPr>
              <a:t>supplier, auditor, carrier, certificate URI or hash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EFAEA0-8A20-41E2-8553-3FA4393D9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43500"/>
            <a:ext cx="100393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6FAFA"/>
          </a:solidFill>
          <a:ln xmlns:a="http://schemas.openxmlformats.org/drawingml/2006/main" w="14288">
            <a:solidFill>
              <a:srgbClr val="D95F4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5254C6-16C0-4EC1-A0E9-00EBC8A24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969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5821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1820"/>
                </a:solidFill>
              </a:defRPr>
            </a:pPr>
            <a:r>
              <a:rPr sz="1575" b="1">
                <a:solidFill>
                  <a:srgbClr val="121820"/>
                </a:solidFill>
              </a:rPr>
              <a:t>Data disclaimer: Oasis Finder provides interface, schema, and API slots. We do not guarantee merchant data authenticity; audits, IoT logs, and supplier records should validate claims.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AD90C0-2C88-47B7-BB95-D5D7D388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27C"/>
                </a:solidFill>
              </a:defRPr>
            </a:pPr>
            <a:r>
              <a:rPr sz="825" b="0">
                <a:solidFill>
                  <a:srgbClr val="66727C"/>
                </a:solidFill>
              </a:rPr>
              <a:t>Group 9 | Rui Huang and Zixiu Wang | 8-minute presentation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C81964-741F-4FA0-B7CC-B7A316CD8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649605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6727C"/>
                </a:solidFill>
              </a:defRPr>
            </a:pPr>
            <a:r>
              <a:rPr sz="788" b="0">
                <a:solidFill>
                  <a:srgbClr val="66727C"/>
                </a:solidFill>
              </a:rPr>
              <a:t>FDA FSMA 204; GS1 Traceability Standard</a:t>
            </a:r>
          </a:p>
        </p:txBody>
      </p:sp>
    </p:spTree>
    <p:extLst>
      <p:ext uri="{BB962C8B-B14F-4D97-AF65-F5344CB8AC3E}">
        <p14:creationId xmlns:p14="http://schemas.microsoft.com/office/powerpoint/2010/main" val="21201286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E59FF90-40F5-44A7-A725-8830031BFE8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6DEEE8-C499-49C4-8A17-CE5D4E984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7C72"/>
                </a:solidFill>
              </a:defRPr>
            </a:pPr>
            <a:r>
              <a:rPr sz="1125" b="1">
                <a:solidFill>
                  <a:srgbClr val="0E7C72"/>
                </a:solidFill>
              </a:rPr>
              <a:t>BUILD STORY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8ED961-73F6-4C01-9F6D-89DD69697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47650"/>
            <a:ext cx="990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27C"/>
                </a:solidFill>
              </a:defRPr>
            </a:pPr>
            <a:r>
              <a:rPr sz="1125" b="1">
                <a:solidFill>
                  <a:srgbClr val="66727C"/>
                </a:solidFill>
              </a:rPr>
              <a:t>05 / 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DC0C53-A8FB-4D1F-BAEA-B56C438E6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4D35FE-2E18-49E6-BBED-DCF1525A6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21820"/>
                </a:solidFill>
              </a:defRPr>
            </a:pPr>
            <a:r>
              <a:rPr sz="3150" b="1">
                <a:solidFill>
                  <a:srgbClr val="121820"/>
                </a:solidFill>
              </a:rPr>
              <a:t>How we built the product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B6BE7B-AAAE-46B4-AF0D-716ED79FC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5414A"/>
                </a:solidFill>
              </a:defRPr>
            </a:pPr>
            <a:r>
              <a:rPr sz="1650" b="0">
                <a:solidFill>
                  <a:srgbClr val="35414A"/>
                </a:solidFill>
              </a:rPr>
              <a:t>The story is simple: research corrected the feature idea, then engineering turned the method into a working evidence system.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B94DCE-759B-48D4-BA29-BB9BA274B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62350"/>
            <a:ext cx="9753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DDDE9A-D51A-478C-9DE3-3E1D8EC5C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2575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7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16C929-5D02-4552-A78B-CA3137CD0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812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66727C"/>
                </a:solidFill>
              </a:defRPr>
            </a:pPr>
            <a:r>
              <a:rPr sz="1575" b="1">
                <a:solidFill>
                  <a:srgbClr val="66727C"/>
                </a:solidFill>
              </a:rPr>
              <a:t>Week 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6467AE-588D-4977-B482-B13351445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21820"/>
                </a:solidFill>
              </a:defRPr>
            </a:pPr>
            <a:r>
              <a:rPr sz="1875" b="1">
                <a:solidFill>
                  <a:srgbClr val="121820"/>
                </a:solidFill>
              </a:rPr>
              <a:t>Open coding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AC58D0-F059-41C6-9464-F88FB2542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38600"/>
            <a:ext cx="2190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5414A"/>
                </a:solidFill>
              </a:defRPr>
            </a:pPr>
            <a:r>
              <a:rPr sz="1350" b="0">
                <a:solidFill>
                  <a:srgbClr val="35414A"/>
                </a:solidFill>
              </a:rPr>
              <a:t>QR traceability and analytics beat superficial visibility.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5EA668-E652-4D70-9CBC-27F61D3C6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2575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4A7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FA30C0-5149-433C-9B4E-5B27524B9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3812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66727C"/>
                </a:solidFill>
              </a:defRPr>
            </a:pPr>
            <a:r>
              <a:rPr sz="1575" b="1">
                <a:solidFill>
                  <a:srgbClr val="66727C"/>
                </a:solidFill>
              </a:rPr>
              <a:t>INF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D4C3AA-F1B2-4F61-8EAD-B37A5C3D3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7813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21820"/>
                </a:solidFill>
              </a:defRPr>
            </a:pPr>
            <a:r>
              <a:rPr sz="1875" b="1">
                <a:solidFill>
                  <a:srgbClr val="121820"/>
                </a:solidFill>
              </a:rPr>
              <a:t>Data model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B4BF51-1D32-4DDA-BAB9-5ABC40A05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038600"/>
            <a:ext cx="2190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5414A"/>
                </a:solidFill>
              </a:defRPr>
            </a:pPr>
            <a:r>
              <a:rPr sz="1350" b="0">
                <a:solidFill>
                  <a:srgbClr val="35414A"/>
                </a:solidFill>
              </a:rPr>
              <a:t>17 tables connect facilities, lots, batches, shipments, risk, demand.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C725DC-EA25-4CF0-AA39-1CFD4AD51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575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9B3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1FFDCA-7E61-41B0-8CC9-4BFE9D303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3812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66727C"/>
                </a:solidFill>
              </a:defRPr>
            </a:pPr>
            <a:r>
              <a:rPr sz="1575" b="1">
                <a:solidFill>
                  <a:srgbClr val="66727C"/>
                </a:solidFill>
              </a:rPr>
              <a:t>Prototype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54F192-8F31-4351-BD5D-9DD51ECDE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813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21820"/>
                </a:solidFill>
              </a:defRPr>
            </a:pPr>
            <a:r>
              <a:rPr sz="1875" b="1">
                <a:solidFill>
                  <a:srgbClr val="121820"/>
                </a:solidFill>
              </a:rPr>
              <a:t>Control tower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66426F-4191-4A38-B483-F9A4C8ABF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38600"/>
            <a:ext cx="2190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5414A"/>
                </a:solidFill>
              </a:defRPr>
            </a:pPr>
            <a:r>
              <a:rPr sz="1350" b="0">
                <a:solidFill>
                  <a:srgbClr val="35414A"/>
                </a:solidFill>
              </a:rPr>
              <a:t>PySide6 interface shows dashboard, mesh, traceability, forecast, scenario.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8E1AC0-CF2B-4C62-8D43-ECEB7893F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2575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F4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FE4CF2-3FFC-4B78-BE8C-E1A77C2F7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3812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66727C"/>
                </a:solidFill>
              </a:defRPr>
            </a:pPr>
            <a:r>
              <a:rPr sz="1575" b="1">
                <a:solidFill>
                  <a:srgbClr val="66727C"/>
                </a:solidFill>
              </a:rPr>
              <a:t>Now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B2DB86-448F-473F-AE79-701FDA6F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7813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21820"/>
                </a:solidFill>
              </a:defRPr>
            </a:pPr>
            <a:r>
              <a:rPr sz="1875" b="1">
                <a:solidFill>
                  <a:srgbClr val="121820"/>
                </a:solidFill>
              </a:rPr>
              <a:t>Node click proof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6AAD21-8794-4DE6-9317-248E7C1C1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038600"/>
            <a:ext cx="2190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5414A"/>
                </a:solidFill>
              </a:defRPr>
            </a:pPr>
            <a:r>
              <a:rPr sz="1350" b="0">
                <a:solidFill>
                  <a:srgbClr val="35414A"/>
                </a:solidFill>
              </a:rPr>
              <a:t>Every supply node exposes stage variables and preset values.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C89B47-D655-424F-9382-66F5EE3B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410200"/>
            <a:ext cx="8382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6FAFA"/>
          </a:solidFill>
          <a:ln xmlns:a="http://schemas.openxmlformats.org/drawingml/2006/main" w="14288">
            <a:solidFill>
              <a:srgbClr val="0E7C7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4E763A-62E0-4916-8E8A-C80EDA7C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562600"/>
            <a:ext cx="8039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762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1820"/>
                </a:solidFill>
              </a:defRPr>
            </a:pPr>
            <a:r>
              <a:rPr sz="1575" b="1">
                <a:solidFill>
                  <a:srgbClr val="121820"/>
                </a:solidFill>
              </a:rPr>
              <a:t>This turns the presentation from a concept pitch into a build narrative: question -&gt; evidence -&gt; system -&gt; proof.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AFE64C-B9E5-4670-9A02-BEEE498E4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27C"/>
                </a:solidFill>
              </a:defRPr>
            </a:pPr>
            <a:r>
              <a:rPr sz="825" b="0">
                <a:solidFill>
                  <a:srgbClr val="66727C"/>
                </a:solidFill>
              </a:rPr>
              <a:t>Group 9 | Rui Huang and Zixiu Wang | 8-minute presentation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688F8D-004B-4EA0-9FCD-BE233D540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649605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6727C"/>
                </a:solidFill>
              </a:defRPr>
            </a:pPr>
            <a:r>
              <a:rPr sz="788" b="0">
                <a:solidFill>
                  <a:srgbClr val="66727C"/>
                </a:solidFill>
              </a:rPr>
              <a:t>Week 6 artefacts; INF report; repository runtime</a:t>
            </a:r>
          </a:p>
        </p:txBody>
      </p:sp>
    </p:spTree>
    <p:extLst>
      <p:ext uri="{BB962C8B-B14F-4D97-AF65-F5344CB8AC3E}">
        <p14:creationId xmlns:p14="http://schemas.microsoft.com/office/powerpoint/2010/main" val="19341701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E59FF90-40F5-44A7-A725-8830031BFE8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7B8EC9-1C99-4596-888F-45F4CAFC4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7C72"/>
                </a:solidFill>
              </a:defRPr>
            </a:pPr>
            <a:r>
              <a:rPr sz="1125" b="1">
                <a:solidFill>
                  <a:srgbClr val="0E7C72"/>
                </a:solidFill>
              </a:rPr>
              <a:t>PRODUCT PROOF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DB32A0-3448-4C55-9C56-3CAA90887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47650"/>
            <a:ext cx="990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27C"/>
                </a:solidFill>
              </a:defRPr>
            </a:pPr>
            <a:r>
              <a:rPr sz="1125" b="1">
                <a:solidFill>
                  <a:srgbClr val="66727C"/>
                </a:solidFill>
              </a:rPr>
              <a:t>06 / 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AA5359-8D42-47E8-8105-CE9570A71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CF191D-ED1C-4DF5-8BE3-778F69A74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704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1820"/>
                </a:solidFill>
              </a:defRPr>
            </a:pPr>
            <a:r>
              <a:rPr sz="3000" b="1">
                <a:solidFill>
                  <a:srgbClr val="121820"/>
                </a:solidFill>
              </a:rPr>
              <a:t>Click a node, inspect the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D321B4-B0B0-4DCA-A9B5-A88E154B0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685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5644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5414A"/>
                </a:solidFill>
              </a:defRPr>
            </a:pPr>
            <a:r>
              <a:rPr sz="1650" b="0">
                <a:solidFill>
                  <a:srgbClr val="35414A"/>
                </a:solidFill>
              </a:rPr>
              <a:t>The revised product proof: a user sees concrete stage data, not just a decorative supply-chain map.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5b9928433b48da"/>
          <a:srcRect xmlns:a="http://schemas.openxmlformats.org/drawingml/2006/main" l="0" t="6250" r="0" b="62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305050"/>
            <a:ext cx="6858000" cy="3714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DBFAED-66E5-41B9-A53D-0137D297B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286000"/>
            <a:ext cx="3714750" cy="373380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AB6F14-7F75-4199-AE81-087423A84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514600"/>
            <a:ext cx="314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1820"/>
                </a:solidFill>
              </a:defRPr>
            </a:pPr>
            <a:r>
              <a:rPr sz="1800" b="1">
                <a:solidFill>
                  <a:srgbClr val="121820"/>
                </a:solidFill>
              </a:rPr>
              <a:t>Example node: FAC-L1-003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9CDEB3-CF72-42A7-868B-F45689765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28950"/>
            <a:ext cx="1104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7C72"/>
                </a:solidFill>
              </a:defRPr>
            </a:pPr>
            <a:r>
              <a:rPr sz="1275" b="1">
                <a:solidFill>
                  <a:srgbClr val="0E7C72"/>
                </a:solidFill>
              </a:rPr>
              <a:t>Location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F1E8DA-6131-4542-ABA9-9BCF0183D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019425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380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5414A"/>
                </a:solidFill>
              </a:defRPr>
            </a:pPr>
            <a:r>
              <a:rPr sz="1275" b="0">
                <a:solidFill>
                  <a:srgbClr val="35414A"/>
                </a:solidFill>
              </a:rPr>
              <a:t>China - Fujian - Fuzhou - Minhou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F1DD4E-A750-4ACD-AE43-96369D751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86150"/>
            <a:ext cx="1104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7C72"/>
                </a:solidFill>
              </a:defRPr>
            </a:pPr>
            <a:r>
              <a:rPr sz="1275" b="1">
                <a:solidFill>
                  <a:srgbClr val="0E7C72"/>
                </a:solidFill>
              </a:rPr>
              <a:t>Time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7175E9-5CBD-4A9E-A20B-312D0D971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476625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304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5414A"/>
                </a:solidFill>
              </a:defRPr>
            </a:pPr>
            <a:r>
              <a:rPr sz="1275" b="0">
                <a:solidFill>
                  <a:srgbClr val="35414A"/>
                </a:solidFill>
              </a:rPr>
              <a:t>2026-04-11 09:00 quality checkpoint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67CE5F-01C7-4D75-8CFD-8809C68C9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43350"/>
            <a:ext cx="1104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7C72"/>
                </a:solidFill>
              </a:defRPr>
            </a:pPr>
            <a:r>
              <a:rPr sz="1275" b="1">
                <a:solidFill>
                  <a:srgbClr val="0E7C72"/>
                </a:solidFill>
              </a:rPr>
              <a:t>Stage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4214A5-79EB-4F02-81DA-0F2621A8B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933825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2409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5414A"/>
                </a:solidFill>
              </a:defRPr>
            </a:pPr>
            <a:r>
              <a:rPr sz="1275" b="0">
                <a:solidFill>
                  <a:srgbClr val="35414A"/>
                </a:solidFill>
              </a:rPr>
              <a:t>Ingredient lot -&gt; cold-chain shipment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ED4E5A-0474-4D62-99C3-E0BAA57A2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00550"/>
            <a:ext cx="1104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7C72"/>
                </a:solidFill>
              </a:defRPr>
            </a:pPr>
            <a:r>
              <a:rPr sz="1275" b="1">
                <a:solidFill>
                  <a:srgbClr val="0E7C72"/>
                </a:solidFill>
              </a:rPr>
              <a:t>Quality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4EC91B-3F01-45D2-8CDF-2463D640D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391025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5414A"/>
                </a:solidFill>
              </a:defRPr>
            </a:pPr>
            <a:r>
              <a:rPr sz="1275" b="0">
                <a:solidFill>
                  <a:srgbClr val="35414A"/>
                </a:solidFill>
              </a:rPr>
              <a:t>Package 95.8 | trace 96.0%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F77952-B7AB-47E0-8185-C9F76AC5C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857750"/>
            <a:ext cx="1104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7C72"/>
                </a:solidFill>
              </a:defRPr>
            </a:pPr>
            <a:r>
              <a:rPr sz="1275" b="1">
                <a:solidFill>
                  <a:srgbClr val="0E7C72"/>
                </a:solidFill>
              </a:rPr>
              <a:t>Temperature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897F4A-8AD8-4CC1-8E6F-0D31C545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848225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5414A"/>
                </a:solidFill>
              </a:defRPr>
            </a:pPr>
            <a:r>
              <a:rPr sz="1275" b="0">
                <a:solidFill>
                  <a:srgbClr val="35414A"/>
                </a:solidFill>
              </a:rPr>
              <a:t>0.1C to 4.1C | breach 0 min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BA2543-223F-4966-8D21-6CC98B62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314950"/>
            <a:ext cx="1104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7C72"/>
                </a:solidFill>
              </a:defRPr>
            </a:pPr>
            <a:r>
              <a:rPr sz="1275" b="1">
                <a:solidFill>
                  <a:srgbClr val="0E7C72"/>
                </a:solidFill>
              </a:rPr>
              <a:t>Risk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C0A49A-6907-4049-84C9-076A7165D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305425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5414A"/>
                </a:solidFill>
              </a:defRPr>
            </a:pPr>
            <a:r>
              <a:rPr sz="1275" b="0">
                <a:solidFill>
                  <a:srgbClr val="35414A"/>
                </a:solidFill>
              </a:rPr>
              <a:t>critical | score 81.6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8E9342-8399-4DEF-99D1-B1661D477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27C"/>
                </a:solidFill>
              </a:defRPr>
            </a:pPr>
            <a:r>
              <a:rPr sz="825" b="0">
                <a:solidFill>
                  <a:srgbClr val="66727C"/>
                </a:solidFill>
              </a:rPr>
              <a:t>Group 9 | Rui Huang and Zixiu Wang | 8-minute presentation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005C50-276A-48A1-BBF2-D9F232625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649605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6727C"/>
                </a:solidFill>
              </a:defRPr>
            </a:pPr>
            <a:r>
              <a:rPr sz="788" b="0">
                <a:solidFill>
                  <a:srgbClr val="66727C"/>
                </a:solidFill>
              </a:rPr>
              <a:t>Local runtime screenshot; repository code</a:t>
            </a:r>
          </a:p>
        </p:txBody>
      </p:sp>
    </p:spTree>
    <p:extLst>
      <p:ext uri="{BB962C8B-B14F-4D97-AF65-F5344CB8AC3E}">
        <p14:creationId xmlns:p14="http://schemas.microsoft.com/office/powerpoint/2010/main" val="16881305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E59FF90-40F5-44A7-A725-8830031BFE8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F9172B-5B75-4B4C-B2F0-2AEF4A74E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7C72"/>
                </a:solidFill>
              </a:defRPr>
            </a:pPr>
            <a:r>
              <a:rPr sz="1125" b="1">
                <a:solidFill>
                  <a:srgbClr val="0E7C72"/>
                </a:solidFill>
              </a:rPr>
              <a:t>OPEN SOURCE + INTERFACE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653D6F-9C13-486F-B1F8-5614D7588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47650"/>
            <a:ext cx="990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27C"/>
                </a:solidFill>
              </a:defRPr>
            </a:pPr>
            <a:r>
              <a:rPr sz="1125" b="1">
                <a:solidFill>
                  <a:srgbClr val="66727C"/>
                </a:solidFill>
              </a:rPr>
              <a:t>07 / 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7131E9-7CCA-4338-8D1A-866E788FB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B25B83-ED12-46FF-A354-630FA62D7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9166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1820"/>
                </a:solidFill>
              </a:defRPr>
            </a:pPr>
            <a:r>
              <a:rPr sz="2850" b="1">
                <a:solidFill>
                  <a:srgbClr val="121820"/>
                </a:solidFill>
              </a:rPr>
              <a:t>GitHub proves code openness, not merchant truth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679CAB-FD63-4DFD-9BD7-5705E6DA1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28800"/>
            <a:ext cx="685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9367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5414A"/>
                </a:solidFill>
              </a:defRPr>
            </a:pPr>
            <a:r>
              <a:rPr sz="1650" b="0">
                <a:solidFill>
                  <a:srgbClr val="35414A"/>
                </a:solidFill>
              </a:rPr>
              <a:t>Reviewers can inspect our method. Merchant data still needs supplier, IoT, and audit validation.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31e38e63824478"/>
          <a:srcRect xmlns:a="http://schemas.openxmlformats.org/drawingml/2006/main" l="0" t="16583" r="0" b="165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2438400"/>
            <a:ext cx="4953000" cy="27241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9F57C0-B30A-480D-AAA4-1685A0CE9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81250"/>
            <a:ext cx="22669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2A580B-6C0F-4B1A-B691-8DE0301C8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8125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22D4F3-DC00-49A4-90FB-D4EF4425F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52700"/>
            <a:ext cx="1924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27C"/>
                </a:solidFill>
              </a:defRPr>
            </a:pPr>
            <a:r>
              <a:rPr sz="975" b="1">
                <a:solidFill>
                  <a:srgbClr val="66727C"/>
                </a:solidFill>
              </a:rPr>
              <a:t>OPEN CODE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EAEE49-001E-46F1-8E25-61E09AE5E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19400"/>
            <a:ext cx="1924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E7C72"/>
                </a:solidFill>
              </a:defRPr>
            </a:pPr>
            <a:r>
              <a:rPr sz="2325" b="1">
                <a:solidFill>
                  <a:srgbClr val="0E7C72"/>
                </a:solidFill>
              </a:rPr>
              <a:t>main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5D164C-3B9F-4D37-81CE-CC757AF3F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95650"/>
            <a:ext cx="1924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6144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5414A"/>
                </a:solidFill>
              </a:defRPr>
            </a:pPr>
            <a:r>
              <a:rPr sz="1200" b="0">
                <a:solidFill>
                  <a:srgbClr val="35414A"/>
                </a:solidFill>
              </a:rPr>
              <a:t>reproducible setup and evidence assets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25B085-FB62-4E57-BFDB-C5EF8268B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381250"/>
            <a:ext cx="22669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83AF62-F85E-45EA-9D82-30C470302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38125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4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1EF6F1-FEFA-4D53-A467-59129B35E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552700"/>
            <a:ext cx="1924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27C"/>
                </a:solidFill>
              </a:defRPr>
            </a:pPr>
            <a:r>
              <a:rPr sz="975" b="1">
                <a:solidFill>
                  <a:srgbClr val="66727C"/>
                </a:solidFill>
              </a:rPr>
              <a:t>HEALTH GATE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0765C2-3AEA-43FA-A5B0-E7E9B9362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819400"/>
            <a:ext cx="1924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564A7"/>
                </a:solidFill>
              </a:defRPr>
            </a:pPr>
            <a:r>
              <a:rPr sz="2325" b="1">
                <a:solidFill>
                  <a:srgbClr val="3564A7"/>
                </a:solidFill>
              </a:rPr>
              <a:t>pass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63B4FB-6400-4B0F-B51B-AE738A1FF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295650"/>
            <a:ext cx="1924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6144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5414A"/>
                </a:solidFill>
              </a:defRPr>
            </a:pPr>
            <a:r>
              <a:rPr sz="1200" b="0">
                <a:solidFill>
                  <a:srgbClr val="35414A"/>
                </a:solidFill>
              </a:rPr>
              <a:t>database, traces, forecasts, scenario checks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CA3DD3-39F7-4884-B530-AC61D1AA9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10000"/>
            <a:ext cx="22669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6AF79E-D495-45EF-BDCB-E34C3EBD2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1000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F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97B3F5-7570-45F7-BCE3-45A22D9F1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81450"/>
            <a:ext cx="1924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27C"/>
                </a:solidFill>
              </a:defRPr>
            </a:pPr>
            <a:r>
              <a:rPr sz="975" b="1">
                <a:solidFill>
                  <a:srgbClr val="66727C"/>
                </a:solidFill>
              </a:rPr>
              <a:t>DATA TRUTH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42E218-5D75-4B89-9014-48A7BE846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248150"/>
            <a:ext cx="1924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D95F45"/>
                </a:solidFill>
              </a:defRPr>
            </a:pPr>
            <a:r>
              <a:rPr sz="2325" b="1">
                <a:solidFill>
                  <a:srgbClr val="D95F45"/>
                </a:solidFill>
              </a:rPr>
              <a:t>merchant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F67872-7547-44F3-A53D-F647CA6E1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724400"/>
            <a:ext cx="1924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6144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5414A"/>
                </a:solidFill>
              </a:defRPr>
            </a:pPr>
            <a:r>
              <a:rPr sz="1200" b="0">
                <a:solidFill>
                  <a:srgbClr val="35414A"/>
                </a:solidFill>
              </a:rPr>
              <a:t>supplier records, QR events, IoT logs, audits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E1DD2A-6957-4F48-99D8-E7A82A864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810000"/>
            <a:ext cx="22669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872774-16BB-4B13-A996-A8F98A6A3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81000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F5DEE0-95EB-4E84-842A-A795CDE88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981450"/>
            <a:ext cx="1924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27C"/>
                </a:solidFill>
              </a:defRPr>
            </a:pPr>
            <a:r>
              <a:rPr sz="975" b="1">
                <a:solidFill>
                  <a:srgbClr val="66727C"/>
                </a:solidFill>
              </a:rPr>
              <a:t>AI LAYER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D12E47-DBCC-45D0-A688-5C37AABED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248150"/>
            <a:ext cx="1924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C89B35"/>
                </a:solidFill>
              </a:defRPr>
            </a:pPr>
            <a:r>
              <a:rPr sz="2325" b="1">
                <a:solidFill>
                  <a:srgbClr val="C89B35"/>
                </a:solidFill>
              </a:rPr>
              <a:t>optional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FB0FBD-AAE4-4E9E-88C6-91D9F9CCA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724400"/>
            <a:ext cx="1924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6144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5414A"/>
                </a:solidFill>
              </a:defRPr>
            </a:pPr>
            <a:r>
              <a:rPr sz="1200" b="0">
                <a:solidFill>
                  <a:srgbClr val="35414A"/>
                </a:solidFill>
              </a:rPr>
              <a:t>summarize evidence; never certify it alone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897F77-6903-4E9B-828E-4549EFE0D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334000"/>
            <a:ext cx="485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564A7"/>
                </a:solidFill>
              </a:defRPr>
            </a:pPr>
            <a:r>
              <a:rPr sz="1650" b="1">
                <a:solidFill>
                  <a:srgbClr val="3564A7"/>
                </a:solidFill>
              </a:rPr>
              <a:t>https://github.com/3351666087/Oasis-Finder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6E3094-0C7A-4D2E-A5FB-BDD8F8142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27C"/>
                </a:solidFill>
              </a:defRPr>
            </a:pPr>
            <a:r>
              <a:rPr sz="825" b="0">
                <a:solidFill>
                  <a:srgbClr val="66727C"/>
                </a:solidFill>
              </a:rPr>
              <a:t>Group 9 | Rui Huang and Zixiu Wang | 8-minute presentation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75DF36-B770-4736-92DD-2BF73EF72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649605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6727C"/>
                </a:solidFill>
              </a:defRPr>
            </a:pPr>
            <a:r>
              <a:rPr sz="788" b="0">
                <a:solidFill>
                  <a:srgbClr val="66727C"/>
                </a:solidFill>
              </a:rPr>
              <a:t>GitHub repository; FDA/GS1 data-field logic</a:t>
            </a:r>
          </a:p>
        </p:txBody>
      </p:sp>
    </p:spTree>
    <p:extLst>
      <p:ext uri="{BB962C8B-B14F-4D97-AF65-F5344CB8AC3E}">
        <p14:creationId xmlns:p14="http://schemas.microsoft.com/office/powerpoint/2010/main" val="1906931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E59FF90-40F5-44A7-A725-8830031BFE8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2BBCF2-01E0-4020-951E-C639AC88F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7C72"/>
                </a:solidFill>
              </a:defRPr>
            </a:pPr>
            <a:r>
              <a:rPr sz="1125" b="1">
                <a:solidFill>
                  <a:srgbClr val="0E7C72"/>
                </a:solidFill>
              </a:rPr>
              <a:t>TECHNICAL CAPABILITY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32C85F-250B-45B9-9E7B-3060F7C5E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47650"/>
            <a:ext cx="990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27C"/>
                </a:solidFill>
              </a:defRPr>
            </a:pPr>
            <a:r>
              <a:rPr sz="1125" b="1">
                <a:solidFill>
                  <a:srgbClr val="66727C"/>
                </a:solidFill>
              </a:rPr>
              <a:t>08 / 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54965F-E1AB-4DC7-BD7A-1194562D4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14CAEA-ADF5-436C-A3FC-0DB955A74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3573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21820"/>
                </a:solidFill>
              </a:defRPr>
            </a:pPr>
            <a:r>
              <a:rPr sz="3150" b="1">
                <a:solidFill>
                  <a:srgbClr val="121820"/>
                </a:solidFill>
              </a:rPr>
              <a:t>A working digital twin supports the ad method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EBD029-5606-4092-981A-136C55B54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5414A"/>
                </a:solidFill>
              </a:defRPr>
            </a:pPr>
            <a:r>
              <a:rPr sz="1650" b="0">
                <a:solidFill>
                  <a:srgbClr val="35414A"/>
                </a:solidFill>
              </a:rPr>
              <a:t>The consumer-facing transparency layer is backed by an operational model, not a static poster.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A7FC73-54F1-44ED-AAE0-F1B0CC895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05050"/>
            <a:ext cx="24193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F857C0-FFDE-4084-AB5D-4680D7CD2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05050"/>
            <a:ext cx="762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0384A2-3AA6-4B5F-9657-7239317E2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2076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27C"/>
                </a:solidFill>
              </a:defRPr>
            </a:pPr>
            <a:r>
              <a:rPr sz="975" b="1">
                <a:solidFill>
                  <a:srgbClr val="66727C"/>
                </a:solidFill>
              </a:rPr>
              <a:t>FACILITIES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5F09D0-FF7E-49C7-A5D9-9E37CFCAC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43200"/>
            <a:ext cx="2076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E7C72"/>
                </a:solidFill>
              </a:defRPr>
            </a:pPr>
            <a:r>
              <a:rPr sz="2325" b="1">
                <a:solidFill>
                  <a:srgbClr val="0E7C72"/>
                </a:solidFill>
              </a:rPr>
              <a:t>97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FD47FC-0A64-4441-AC76-F805B69A0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19450"/>
            <a:ext cx="2076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28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5414A"/>
                </a:solidFill>
              </a:defRPr>
            </a:pPr>
            <a:r>
              <a:rPr sz="1200" b="0">
                <a:solidFill>
                  <a:srgbClr val="35414A"/>
                </a:solidFill>
              </a:rPr>
              <a:t>nodes across supplier, plant, downstream, and service tiers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D1004A-389E-432B-9988-FC83BC640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05050"/>
            <a:ext cx="24193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EFC646-CF57-48EE-B071-7E1E15B2A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05050"/>
            <a:ext cx="762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4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81D233-CDC8-4F54-A247-3472E17AE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476500"/>
            <a:ext cx="2076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27C"/>
                </a:solidFill>
              </a:defRPr>
            </a:pPr>
            <a:r>
              <a:rPr sz="975" b="1">
                <a:solidFill>
                  <a:srgbClr val="66727C"/>
                </a:solidFill>
              </a:rPr>
              <a:t>ACTIVE LINKS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F473B0-6192-4527-8BDC-A7100130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743200"/>
            <a:ext cx="2076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564A7"/>
                </a:solidFill>
              </a:defRPr>
            </a:pPr>
            <a:r>
              <a:rPr sz="2325" b="1">
                <a:solidFill>
                  <a:srgbClr val="3564A7"/>
                </a:solidFill>
              </a:rPr>
              <a:t>200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6EDED8-9B03-44C9-9015-9B914FB24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219450"/>
            <a:ext cx="2076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28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5414A"/>
                </a:solidFill>
              </a:defRPr>
            </a:pPr>
            <a:r>
              <a:rPr sz="1200" b="0">
                <a:solidFill>
                  <a:srgbClr val="35414A"/>
                </a:solidFill>
              </a:rPr>
              <a:t>material and distribution relationships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310141-D23A-4A76-BA49-F74AC6D00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05050"/>
            <a:ext cx="24193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4792C0-7834-4473-AB03-5830C5F3C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05050"/>
            <a:ext cx="762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43875B-82D7-4814-A4CC-9A706EF77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76500"/>
            <a:ext cx="2076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27C"/>
                </a:solidFill>
              </a:defRPr>
            </a:pPr>
            <a:r>
              <a:rPr sz="975" b="1">
                <a:solidFill>
                  <a:srgbClr val="66727C"/>
                </a:solidFill>
              </a:rPr>
              <a:t>BATCHES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228DC1-D1A5-4CFB-818B-B3DD61C7A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43200"/>
            <a:ext cx="2076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C89B35"/>
                </a:solidFill>
              </a:defRPr>
            </a:pPr>
            <a:r>
              <a:rPr sz="2325" b="1">
                <a:solidFill>
                  <a:srgbClr val="C89B35"/>
                </a:solidFill>
              </a:rPr>
              <a:t>418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DFE90B-44C7-4244-8293-FD4826210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19450"/>
            <a:ext cx="2076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28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5414A"/>
                </a:solidFill>
              </a:defRPr>
            </a:pPr>
            <a:r>
              <a:rPr sz="1200" b="0">
                <a:solidFill>
                  <a:srgbClr val="35414A"/>
                </a:solidFill>
              </a:rPr>
              <a:t>finished-goods batches with trace paths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822689-1FB8-4FEB-80B5-FF83425A3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05050"/>
            <a:ext cx="24193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6F9C82-1F53-4AB3-AF6B-93EA6858B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05050"/>
            <a:ext cx="762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F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F28DAF-E0CA-46FA-954C-AB1BEB654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476500"/>
            <a:ext cx="2076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27C"/>
                </a:solidFill>
              </a:defRPr>
            </a:pPr>
            <a:r>
              <a:rPr sz="975" b="1">
                <a:solidFill>
                  <a:srgbClr val="66727C"/>
                </a:solidFill>
              </a:rPr>
              <a:t>FORECAST DAYS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B5721D-DB67-4656-BB5E-859C075E4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743200"/>
            <a:ext cx="2076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D95F45"/>
                </a:solidFill>
              </a:defRPr>
            </a:pPr>
            <a:r>
              <a:rPr sz="2325" b="1">
                <a:solidFill>
                  <a:srgbClr val="D95F45"/>
                </a:solidFill>
              </a:rPr>
              <a:t>30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AA9DD5-CFB7-4B2E-9CE7-0875BA5EF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219450"/>
            <a:ext cx="2076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28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5414A"/>
                </a:solidFill>
              </a:defRPr>
            </a:pPr>
            <a:r>
              <a:rPr sz="1200" b="0">
                <a:solidFill>
                  <a:srgbClr val="35414A"/>
                </a:solidFill>
              </a:rPr>
              <a:t>planning horizon for demand and inventory</a:t>
            </a:r>
          </a:p>
        </p:txBody>
      </p:sp>
      <p:graphicFrame>
        <p:nvGraphicFramePr>
          <p:cNvPr id="27" name="Chart"/>
          <p:cNvGraphicFramePr/>
          <p:nvPr/>
        </p:nvGraphicFramePr>
        <p:xfrm>
          <a:off xmlns:a="http://schemas.openxmlformats.org/drawingml/2006/main" x="857250" y="4210050"/>
          <a:ext xmlns:a="http://schemas.openxmlformats.org/drawingml/2006/main" cx="4476750" cy="1619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2a2de09b0334bb6"/>
          </a:graphicData>
        </a:graphic>
      </p:graphicFrame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865db98053411e"/>
          <a:srcRect xmlns:a="http://schemas.openxmlformats.org/drawingml/2006/main" l="0" t="22544" r="0" b="225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76950" y="4095750"/>
            <a:ext cx="4953000" cy="1695450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FA6E13-695A-4D78-9E1C-E895A149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27C"/>
                </a:solidFill>
              </a:defRPr>
            </a:pPr>
            <a:r>
              <a:rPr sz="825" b="0">
                <a:solidFill>
                  <a:srgbClr val="66727C"/>
                </a:solidFill>
              </a:rPr>
              <a:t>Group 9 | Rui Huang and Zixiu Wang | 8-minute presentation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D2BD2C-CF7F-4DF2-99A8-6AE9B81F0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649605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6727C"/>
                </a:solidFill>
              </a:defRPr>
            </a:pPr>
            <a:r>
              <a:rPr sz="788" b="0">
                <a:solidFill>
                  <a:srgbClr val="66727C"/>
                </a:solidFill>
              </a:rPr>
              <a:t>CSV: technical_model_metrics.csv; local health check</a:t>
            </a:r>
          </a:p>
        </p:txBody>
      </p:sp>
    </p:spTree>
    <p:extLst>
      <p:ext uri="{BB962C8B-B14F-4D97-AF65-F5344CB8AC3E}">
        <p14:creationId xmlns:p14="http://schemas.microsoft.com/office/powerpoint/2010/main" val="11286621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E59FF90-40F5-44A7-A725-8830031BFE8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B458C1-A49C-46BE-ABDF-3E9705153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7C72"/>
                </a:solidFill>
              </a:defRPr>
            </a:pPr>
            <a:r>
              <a:rPr sz="1125" b="1">
                <a:solidFill>
                  <a:srgbClr val="0E7C72"/>
                </a:solidFill>
              </a:rPr>
              <a:t>MERCHANT VALUE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50D57F-86C9-478D-BEC0-FACCF07D9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47650"/>
            <a:ext cx="990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27C"/>
                </a:solidFill>
              </a:defRPr>
            </a:pPr>
            <a:r>
              <a:rPr sz="1125" b="1">
                <a:solidFill>
                  <a:srgbClr val="66727C"/>
                </a:solidFill>
              </a:rPr>
              <a:t>09 / 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B219E1-D5F1-4F29-9F03-3D5F11963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44B78B-C46B-47AA-874B-9C049B83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0204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21820"/>
                </a:solidFill>
              </a:defRPr>
            </a:pPr>
            <a:r>
              <a:rPr sz="3150" b="1">
                <a:solidFill>
                  <a:srgbClr val="121820"/>
                </a:solidFill>
              </a:rPr>
              <a:t>Why merchants can earn more with this method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C69DDB-7671-41F5-9FF9-5D4A8C629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5414A"/>
                </a:solidFill>
              </a:defRPr>
            </a:pPr>
            <a:r>
              <a:rPr sz="1650" b="0">
                <a:solidFill>
                  <a:srgbClr val="35414A"/>
                </a:solidFill>
              </a:rPr>
              <a:t>Oasis Finder is useful to merchants because it makes premium quality easier to believe before purchase.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666750" y="2152650"/>
          <a:ext xmlns:a="http://schemas.openxmlformats.org/drawingml/2006/main" cx="495300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657489fdef14f16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05B17E-B5EE-4650-8BE3-A027F718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09800"/>
            <a:ext cx="4572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470193-BC29-406F-A422-4657C8D5E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81250"/>
            <a:ext cx="1257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E7C72"/>
                </a:solidFill>
              </a:defRPr>
            </a:pPr>
            <a:r>
              <a:rPr sz="1800" b="1">
                <a:solidFill>
                  <a:srgbClr val="0E7C72"/>
                </a:solidFill>
              </a:rPr>
              <a:t>Conversion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E9B832-C895-4C05-964C-DEBD463D8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4315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0543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5414A"/>
                </a:solidFill>
              </a:defRPr>
            </a:pPr>
            <a:r>
              <a:rPr sz="1425" b="0">
                <a:solidFill>
                  <a:srgbClr val="35414A"/>
                </a:solidFill>
              </a:rPr>
              <a:t>lower uncertainty at the exact buying moment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F43174-7067-4154-AEF0-8AA456793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38500"/>
            <a:ext cx="4572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112925-2D19-4AB1-8FAB-859138B43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409950"/>
            <a:ext cx="1257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89B35"/>
                </a:solidFill>
              </a:defRPr>
            </a:pPr>
            <a:r>
              <a:rPr sz="1800" b="1">
                <a:solidFill>
                  <a:srgbClr val="C89B35"/>
                </a:solidFill>
              </a:rPr>
              <a:t>Premium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93141F-B48D-455A-A230-339DEA265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37185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0543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5414A"/>
                </a:solidFill>
              </a:defRPr>
            </a:pPr>
            <a:r>
              <a:rPr sz="1425" b="0">
                <a:solidFill>
                  <a:srgbClr val="35414A"/>
                </a:solidFill>
              </a:rPr>
              <a:t>traceability is linked with WTP and perceived value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530D70-D934-4C7D-BA81-5FA3F9AAA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67200"/>
            <a:ext cx="4572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33FD2E-3E6C-4E7F-BB31-4977721E6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438650"/>
            <a:ext cx="1257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95F45"/>
                </a:solidFill>
              </a:defRPr>
            </a:pPr>
            <a:r>
              <a:rPr sz="1800" b="1">
                <a:solidFill>
                  <a:srgbClr val="D95F45"/>
                </a:solidFill>
              </a:rPr>
              <a:t>Retention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F641F2-EF1B-4DBD-BA3D-9EBA2664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0543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5414A"/>
                </a:solidFill>
              </a:defRPr>
            </a:pPr>
            <a:r>
              <a:rPr sz="1425" b="0">
                <a:solidFill>
                  <a:srgbClr val="35414A"/>
                </a:solidFill>
              </a:rPr>
              <a:t>clearer evidence supports repeat intention and fewer disputes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594815-D838-4B42-8E55-3D3583FF8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429250"/>
            <a:ext cx="77152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6FAFA"/>
          </a:solidFill>
          <a:ln xmlns:a="http://schemas.openxmlformats.org/drawingml/2006/main" w="14288">
            <a:solidFill>
              <a:srgbClr val="3564A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5655CC-EDA7-44B6-B591-B99030F5F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581650"/>
            <a:ext cx="7372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1820"/>
                </a:solidFill>
              </a:defRPr>
            </a:pPr>
            <a:r>
              <a:rPr sz="1575" b="1">
                <a:solidFill>
                  <a:srgbClr val="121820"/>
                </a:solidFill>
              </a:rPr>
              <a:t>Use as ad copy: “scan the product journey, not just the package.”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1620CA-189B-4394-9A71-959FE1FAE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27C"/>
                </a:solidFill>
              </a:defRPr>
            </a:pPr>
            <a:r>
              <a:rPr sz="825" b="0">
                <a:solidFill>
                  <a:srgbClr val="66727C"/>
                </a:solidFill>
              </a:rPr>
              <a:t>Group 9 | Rui Huang and Zixiu Wang | 8-minute presentation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8ED14E-C2B0-43EC-AC20-AE3C0D546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649605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6727C"/>
                </a:solidFill>
              </a:defRPr>
            </a:pPr>
            <a:r>
              <a:rPr sz="788" b="0">
                <a:solidFill>
                  <a:srgbClr val="66727C"/>
                </a:solidFill>
              </a:rPr>
              <a:t>CSV: merchant_value_index.csv; Tran et al. (2024)</a:t>
            </a:r>
          </a:p>
        </p:txBody>
      </p:sp>
    </p:spTree>
    <p:extLst>
      <p:ext uri="{BB962C8B-B14F-4D97-AF65-F5344CB8AC3E}">
        <p14:creationId xmlns:p14="http://schemas.microsoft.com/office/powerpoint/2010/main" val="57248993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E59FF90-40F5-44A7-A725-8830031BFE8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BAF8E0-F7DA-4A38-B480-B00C7FD73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7C72"/>
                </a:solidFill>
              </a:defRPr>
            </a:pPr>
            <a:r>
              <a:rPr sz="1125" b="1">
                <a:solidFill>
                  <a:srgbClr val="0E7C72"/>
                </a:solidFill>
              </a:rPr>
              <a:t>PILOT VALIDATION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B9BC95-3E37-446E-8550-8F009E764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47650"/>
            <a:ext cx="990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27C"/>
                </a:solidFill>
              </a:defRPr>
            </a:pPr>
            <a:r>
              <a:rPr sz="1125" b="1">
                <a:solidFill>
                  <a:srgbClr val="66727C"/>
                </a:solidFill>
              </a:rPr>
              <a:t>10 / 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A60400-E189-49F9-8C77-DBC3BEEC7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1943CF-C559-49F4-A955-6DE12CED7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21820"/>
                </a:solidFill>
              </a:defRPr>
            </a:pPr>
            <a:r>
              <a:rPr sz="3150" b="1">
                <a:solidFill>
                  <a:srgbClr val="121820"/>
                </a:solidFill>
              </a:rPr>
              <a:t>Next proof: merchant A/B test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AF6612-278A-4C55-94F6-6A721828C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5414A"/>
                </a:solidFill>
              </a:defRPr>
            </a:pPr>
            <a:r>
              <a:rPr sz="1650" b="0">
                <a:solidFill>
                  <a:srgbClr val="35414A"/>
                </a:solidFill>
              </a:rPr>
              <a:t>After the questionnaire signal, the next step is a real product-page experiment that links transparency to purchase behavior.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B91823-49FA-4475-859B-ECDDB4C1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4762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643127-A839-4767-9886-4BED64A06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717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E7C72"/>
                </a:solidFill>
              </a:defRPr>
            </a:pPr>
            <a:r>
              <a:rPr sz="1800" b="1">
                <a:solidFill>
                  <a:srgbClr val="0E7C72"/>
                </a:solidFill>
              </a:rPr>
              <a:t>Test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2C81FC-6130-482C-8FCA-33E805B90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14650"/>
            <a:ext cx="4171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5414A"/>
                </a:solidFill>
              </a:defRPr>
            </a:pPr>
            <a:r>
              <a:rPr sz="1350" b="0">
                <a:solidFill>
                  <a:srgbClr val="35414A"/>
                </a:solidFill>
              </a:rPr>
              <a:t>Same product, same price, two product pages: baseline page versus Oasis Finder evidence page.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39AE0B-247F-485D-BC6E-B7ABDE9A5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00300"/>
            <a:ext cx="4762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8F9A8B-AAE1-42BC-9CA6-F15D9EF29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717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564A7"/>
                </a:solidFill>
              </a:defRPr>
            </a:pPr>
            <a:r>
              <a:rPr sz="1800" b="1">
                <a:solidFill>
                  <a:srgbClr val="3564A7"/>
                </a:solidFill>
              </a:rPr>
              <a:t>Product cells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758DE9-0AC9-45EC-99DE-C26D223F6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14650"/>
            <a:ext cx="4171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5414A"/>
                </a:solidFill>
              </a:defRPr>
            </a:pPr>
            <a:r>
              <a:rPr sz="1350" b="0">
                <a:solidFill>
                  <a:srgbClr val="35414A"/>
                </a:solidFill>
              </a:rPr>
              <a:t>Cake, seafood, meat, dairy, and ready-to-eat meals because freshness and safety concerns are high.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58EBD5-BC49-48A1-998F-5884F8EFB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24300"/>
            <a:ext cx="4762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F5DDBF-C626-488F-8BD3-9067C157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957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89B35"/>
                </a:solidFill>
              </a:defRPr>
            </a:pPr>
            <a:r>
              <a:rPr sz="1800" b="1">
                <a:solidFill>
                  <a:srgbClr val="C89B35"/>
                </a:solidFill>
              </a:rPr>
              <a:t>Outcome metrics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5F8317-1311-40CE-B237-15C67AFF2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38650"/>
            <a:ext cx="4171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5414A"/>
                </a:solidFill>
              </a:defRPr>
            </a:pPr>
            <a:r>
              <a:rPr sz="1350" b="0">
                <a:solidFill>
                  <a:srgbClr val="35414A"/>
                </a:solidFill>
              </a:rPr>
              <a:t>QR scan rate, evidence-panel clicks, add-to-cart, purchase conversion, willingness-to-pay, repeat intent.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F88167-F4FE-4F24-AEBA-B0BEAD287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24300"/>
            <a:ext cx="4762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2DFDD6-6024-4119-BDC8-487A3B7E2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957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95F45"/>
                </a:solidFill>
              </a:defRPr>
            </a:pPr>
            <a:r>
              <a:rPr sz="1800" b="1">
                <a:solidFill>
                  <a:srgbClr val="D95F45"/>
                </a:solidFill>
              </a:rPr>
              <a:t>Decision rule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71C860-C6DB-42BC-A4D5-D4892022D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38650"/>
            <a:ext cx="4171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5414A"/>
                </a:solidFill>
              </a:defRPr>
            </a:pPr>
            <a:r>
              <a:rPr sz="1350" b="0">
                <a:solidFill>
                  <a:srgbClr val="35414A"/>
                </a:solidFill>
              </a:rPr>
              <a:t>Adopt the method when purchase lift and trust lift both improve without increasing confusion.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066DBB-D84B-4F80-905E-81933ED11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676900"/>
            <a:ext cx="96012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6FAFA"/>
          </a:solidFill>
          <a:ln xmlns:a="http://schemas.openxmlformats.org/drawingml/2006/main" w="14288">
            <a:solidFill>
              <a:srgbClr val="0E7C7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E7BC0C-A5C7-4401-89E8-DB8CEDFB6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829300"/>
            <a:ext cx="9258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2464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1820"/>
                </a:solidFill>
              </a:defRPr>
            </a:pPr>
            <a:r>
              <a:rPr sz="1575" b="1">
                <a:solidFill>
                  <a:srgbClr val="121820"/>
                </a:solidFill>
              </a:rPr>
              <a:t>Commercial validation target: prove that inspectable supply-chain evidence changes real purchase behavior, not only stated preference.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86A3CD-8411-42FC-AEF7-B98E155C6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27C"/>
                </a:solidFill>
              </a:defRPr>
            </a:pPr>
            <a:r>
              <a:rPr sz="825" b="0">
                <a:solidFill>
                  <a:srgbClr val="66727C"/>
                </a:solidFill>
              </a:rPr>
              <a:t>Group 9 | Rui Huang and Zixiu Wang | 8-minute presentation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BF1D0B-6B16-4E33-AF10-3B33361E3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649605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6727C"/>
                </a:solidFill>
              </a:defRPr>
            </a:pPr>
            <a:r>
              <a:rPr sz="788" b="0">
                <a:solidFill>
                  <a:srgbClr val="66727C"/>
                </a:solidFill>
              </a:rPr>
              <a:t>Pilot metrics prepared for CSV event export</a:t>
            </a:r>
          </a:p>
        </p:txBody>
      </p:sp>
    </p:spTree>
    <p:extLst>
      <p:ext uri="{BB962C8B-B14F-4D97-AF65-F5344CB8AC3E}">
        <p14:creationId xmlns:p14="http://schemas.microsoft.com/office/powerpoint/2010/main" val="80367170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E59FF90-40F5-44A7-A725-8830031BFE8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0D58E9-4887-4BD3-AF20-BD816E894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7C72"/>
                </a:solidFill>
              </a:defRPr>
            </a:pPr>
            <a:r>
              <a:rPr sz="1125" b="1">
                <a:solidFill>
                  <a:srgbClr val="0E7C72"/>
                </a:solidFill>
              </a:rPr>
              <a:t>APA REFERENCES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83DE3B-9B3B-4437-9BA4-75B787799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47650"/>
            <a:ext cx="990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27C"/>
                </a:solidFill>
              </a:defRPr>
            </a:pPr>
            <a:r>
              <a:rPr sz="1125" b="1">
                <a:solidFill>
                  <a:srgbClr val="66727C"/>
                </a:solidFill>
              </a:rPr>
              <a:t>11 / 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457F70-C9F7-4A75-A051-66FF7E322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B1378B-68B2-42A2-BDBA-B9E82F31E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1820"/>
                </a:solidFill>
              </a:defRPr>
            </a:pPr>
            <a:r>
              <a:rPr sz="3000" b="1">
                <a:solidFill>
                  <a:srgbClr val="121820"/>
                </a:solidFill>
              </a:rPr>
              <a:t>References and closing claim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83ECED-566C-4A7F-8DF7-F5FB17A38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474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5414A"/>
                </a:solidFill>
              </a:defRPr>
            </a:pPr>
            <a:r>
              <a:rPr sz="1575" b="0">
                <a:solidFill>
                  <a:srgbClr val="35414A"/>
                </a:solidFill>
              </a:rPr>
              <a:t>Oasis Finder is a transparent-commerce method: open code, clear fields, and inspectable product evidence.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7F4F27-8380-4556-829F-83977E5A2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47900"/>
            <a:ext cx="1038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5414A"/>
                </a:solidFill>
              </a:defRPr>
            </a:pPr>
            <a:r>
              <a:rPr sz="1088" b="0">
                <a:solidFill>
                  <a:srgbClr val="35414A"/>
                </a:solidFill>
              </a:rPr>
              <a:t>Ge, L. (2022). To buy or not to buy? A research on the relationship between traceable food extrinsic cues and consumers' purchase intention. Frontiers in Psychology, 13, 873941. https://doi.org/10.3389/fpsyg.2022.873941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E1E0D3-D475-47FA-A7EC-64D073B2B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1038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5414A"/>
                </a:solidFill>
              </a:defRPr>
            </a:pPr>
            <a:r>
              <a:rPr sz="1088" b="0">
                <a:solidFill>
                  <a:srgbClr val="35414A"/>
                </a:solidFill>
              </a:rPr>
              <a:t>Tran, D., Schouteten, J. J., Gellynck, X., &amp; De Steur, H. (2024). How do consumers value food traceability? A meta-analysis. Food Control, 162, 110453. https://doi.org/10.1016/j.foodcont.2024.110453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6E3446-C3C9-4414-8452-CE183287A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00400"/>
            <a:ext cx="1038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5414A"/>
                </a:solidFill>
              </a:defRPr>
            </a:pPr>
            <a:r>
              <a:rPr sz="1088" b="0">
                <a:solidFill>
                  <a:srgbClr val="35414A"/>
                </a:solidFill>
              </a:rPr>
              <a:t>Wang, E. S.-T., Lin, H.-C., &amp; Tsai, M.-C. (2021). Effect of institutional trust on consumers' health and safety perceptions and repurchase intention for traceable fresh food. Foods, 10(12), 2898. https://doi.org/10.3390/foods10122898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2B8C07-EF27-4F7E-9E0D-DAF03A473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76650"/>
            <a:ext cx="1038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5414A"/>
                </a:solidFill>
              </a:defRPr>
            </a:pPr>
            <a:r>
              <a:rPr sz="1088" b="0">
                <a:solidFill>
                  <a:srgbClr val="35414A"/>
                </a:solidFill>
              </a:rPr>
              <a:t>Badia-Melis, R., Mishra, P., &amp; Ruiz-García, L. (2015). Food traceability: New trends and recent advances. Food Control, 57, 393-401. https://doi.org/10.1016/j.foodcont.2015.05.005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2DE7A6-7ABD-4C6A-A5FB-FCBAE750C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52900"/>
            <a:ext cx="1038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5414A"/>
                </a:solidFill>
              </a:defRPr>
            </a:pPr>
            <a:r>
              <a:rPr sz="1088" b="0">
                <a:solidFill>
                  <a:srgbClr val="35414A"/>
                </a:solidFill>
              </a:rPr>
              <a:t>World Economic Forum. (2019). Innovation with a purpose: Improving traceability in food value chains through technology innovations. https://www.weforum.org/publications/innovation-with-a-purpose-improving-traceability-in-food-value-chains-through-technology-innovations/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3665BE-200C-4AF9-BC93-88A16CFAA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29150"/>
            <a:ext cx="1038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5414A"/>
                </a:solidFill>
              </a:defRPr>
            </a:pPr>
            <a:r>
              <a:rPr sz="1088" b="0">
                <a:solidFill>
                  <a:srgbClr val="35414A"/>
                </a:solidFill>
              </a:rPr>
              <a:t>U.S. Food and Drug Administration. (2024). Food Traceability Rule: Critical Tracking Events and Key Data Elements. https://www.fda.gov/food/food-safety-modernization-act-fsma/fsma-proposed-rule-food-traceability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F1FFC4-A3B2-4583-BBF6-DB45BDFBC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05400"/>
            <a:ext cx="1038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5414A"/>
                </a:solidFill>
              </a:defRPr>
            </a:pPr>
            <a:r>
              <a:rPr sz="1088" b="0">
                <a:solidFill>
                  <a:srgbClr val="35414A"/>
                </a:solidFill>
              </a:rPr>
              <a:t>GS1. (n.d.). Traceability standards: Critical Tracking Events and Key Data Elements. https://www.gs1.org/standards/traceability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FB53C3-BFCF-4C53-80DE-77F0AC073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43600"/>
            <a:ext cx="990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21820"/>
                </a:solidFill>
              </a:defRPr>
            </a:pPr>
            <a:r>
              <a:rPr sz="1800" b="1">
                <a:solidFill>
                  <a:srgbClr val="121820"/>
                </a:solidFill>
              </a:rPr>
              <a:t>Final line: We do not ask users to trust a slogan. We let them inspect the chain behind the product.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8111AB-8B6C-4EC1-BEB7-5B2281DEF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27C"/>
                </a:solidFill>
              </a:defRPr>
            </a:pPr>
            <a:r>
              <a:rPr sz="825" b="0">
                <a:solidFill>
                  <a:srgbClr val="66727C"/>
                </a:solidFill>
              </a:rPr>
              <a:t>Group 9 | Rui Huang and Zixiu Wang | 8-minute presentation</a:t>
            </a:r>
          </a:p>
        </p:txBody>
      </p:sp>
    </p:spTree>
    <p:extLst>
      <p:ext uri="{BB962C8B-B14F-4D97-AF65-F5344CB8AC3E}">
        <p14:creationId xmlns:p14="http://schemas.microsoft.com/office/powerpoint/2010/main" val="18248344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2026-04-27T14:55:19.2860000Z</dcterms:created>
  <dcterms:modified xsi:type="dcterms:W3CDTF">2026-04-27T14:55:19.2860000Z</dcterms:modified>
</coreProperties>
</file>