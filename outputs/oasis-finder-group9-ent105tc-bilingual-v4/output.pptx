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7" r:id="rId2"/>
    <p:sldId id="26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Buying probability signal</c:v>
          </c:tx>
          <c:spPr>
            <a:solidFill>
              <a:srgbClr val="14B8A6"/>
            </a:solidFill>
            <a:ln w="11430">
              <a:solidFill>
                <a:srgbClr val="14B8A6"/>
              </a:solidFill>
              <a:prstDash val="solid"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75"/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Cake / bakery</c:v>
              </c:pt>
              <c:pt idx="1">
                <c:v>Chilled meat</c:v>
              </c:pt>
              <c:pt idx="2">
                <c:v>Dairy</c:v>
              </c:pt>
              <c:pt idx="3">
                <c:v>Fresh produce</c:v>
              </c:pt>
              <c:pt idx="4">
                <c:v>Ready meal</c:v>
              </c:pt>
            </c:strLit>
          </c:cat>
          <c:val>
            <c:numLit>
              <c:formatCode>General</c:formatCode>
              <c:ptCount val="5"/>
              <c:pt idx="0">
                <c:v>4.5999999999999996</c:v>
              </c:pt>
              <c:pt idx="1">
                <c:v>4.5</c:v>
              </c:pt>
              <c:pt idx="2">
                <c:v>4.3</c:v>
              </c:pt>
              <c:pt idx="3">
                <c:v>4.0999999999999996</c:v>
              </c:pt>
              <c:pt idx="4">
                <c:v>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1430">
                    <a:solidFill>
                      <a:srgbClr val="14B8A6"/>
                    </a:solidFill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EE2C-4191-9DD4-6D199EC6C0C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solidFill>
          <a:srgbClr val="F8FAFC"/>
        </a:solidFill>
      </c:spPr>
    </c:plotArea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Rui explains the teacher-feedback pivot. The point is no longer to compare competitor dashboards. The point is whether supply-chain display increases buying probability.</a:t>
            </a:r>
          </a:p>
          <a:p>
            <a:endParaRPr/>
          </a:p>
          <a:p>
            <a:r>
              <a:t>[APA sources / evidence]</a:t>
            </a:r>
          </a:p>
          <a:p>
            <a:r>
              <a:t>- Group 9 questionnaire direction (2026). Directional 1-5 coding; raw response file not stored in repository.</a:t>
            </a:r>
          </a:p>
          <a:p>
            <a:r>
              <a:t>- Ge, L. (2022). To buy or not to buy? Frontiers in Psychology, 13, 873941. https://doi.org/10.3389/fpsyg.2022.873941</a:t>
            </a:r>
          </a:p>
          <a:p>
            <a:r>
              <a:t>- Tran, D., Schouteten, J. J., Gellynck, X., &amp; De Steur, H. (2024). How do consumers value food traceability? Food Control, 162, 110453. https://doi.org/10.1016/j.foodcont.2024.110453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Rui explains the frontend logic in friendly language. Avoid over-technical wording. Emphasize that module dissection makes a complex supply chain understandable.</a:t>
            </a:r>
          </a:p>
          <a:p>
            <a:endParaRPr/>
          </a:p>
          <a:p>
            <a:r>
              <a:t>[APA sources / evidence]</a:t>
            </a:r>
          </a:p>
          <a:p>
            <a:r>
              <a:t>- Wang, E. S.-T., Lin, H.-C., &amp; Tsai, M.-C. (2021). Effect of institutional trust on traceable fresh food. Foods, 10(12), 2898. https://doi.org/10.3390/foods10122898</a:t>
            </a:r>
          </a:p>
          <a:p>
            <a:r>
              <a:t>- GS1. (n.d.). Traceability standards. https://www.gs1.org/standards/traceability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Rui covers engineering. Say clearly that PySide6 is not the main interface anymore. It is a clean one-switch launcher; the business UI is browser-based.</a:t>
            </a:r>
          </a:p>
          <a:p>
            <a:endParaRPr/>
          </a:p>
          <a:p>
            <a:r>
              <a:t>[APA sources / evidence]</a:t>
            </a:r>
          </a:p>
          <a:p>
            <a:r>
              <a:t>- Oasis Finder repository and local validation evidence. https://github.com/3351666087/Oasis-Finder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Rui should walk through this slowly: open the customer page, show the product shelf, click one product, then point out that the UI does not begin with a scary data table.</a:t>
            </a:r>
          </a:p>
          <a:p>
            <a:endParaRPr/>
          </a:p>
          <a:p>
            <a:r>
              <a:t>[APA sources / evidence]</a:t>
            </a:r>
          </a:p>
          <a:p>
            <a:r>
              <a:t>- Oasis Finder repository and local validation evidence. https://github.com/3351666087/Oasis-Finder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Zixiu starts here after Rui hands over. Explain the module click. The key point is the values: module, city, lot, received date, inspection, traceability.</a:t>
            </a:r>
          </a:p>
          <a:p>
            <a:endParaRPr/>
          </a:p>
          <a:p>
            <a:r>
              <a:t>[APA sources / evidence]</a:t>
            </a:r>
          </a:p>
          <a:p>
            <a:r>
              <a:t>- GS1. (n.d.). Traceability standards. https://www.gs1.org/standards/traceability</a:t>
            </a:r>
          </a:p>
          <a:p>
            <a:r>
              <a:t>- U.S. FDA. (2024). FSMA Food Traceability Rule: Critical Tracking Events and Key Data Elements. https://www.fda.gov/food/food-safety-modernization-act-fsma/fsma-final-rule-requirements-additional-traceability-records-certain-foods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Zixiu explains the backend in very simple steps. Also mention that merchants can provide their own images later; for now icon-style placeholders make the interface ready.</a:t>
            </a:r>
          </a:p>
          <a:p>
            <a:endParaRPr/>
          </a:p>
          <a:p>
            <a:r>
              <a:t>[APA sources / evidence]</a:t>
            </a:r>
          </a:p>
          <a:p>
            <a:r>
              <a:t>- Oasis Finder repository and local validation evidence. https://github.com/3351666087/Oasis-Finder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Zixiu covers responsibility. Say: our code is open and the API is ready, but large companies remain responsible for proving their own data.</a:t>
            </a:r>
          </a:p>
          <a:p>
            <a:endParaRPr/>
          </a:p>
          <a:p>
            <a:r>
              <a:t>[APA sources / evidence]</a:t>
            </a:r>
          </a:p>
          <a:p>
            <a:r>
              <a:t>- U.S. FDA. (2024). FSMA Food Traceability Rule: Critical Tracking Events and Key Data Elements. https://www.fda.gov/food/food-safety-modernization-act-fsma/fsma-final-rule-requirements-additional-traceability-records-certain-foods</a:t>
            </a:r>
          </a:p>
          <a:p>
            <a:r>
              <a:t>- GS1. (n.d.). Traceability standards. https://www.gs1.org/standards/traceability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Zixiu explains CP Group. CP Group is suitable because the method can connect upstream and retail information. But Oasis Finder is a general merchant method.</a:t>
            </a:r>
          </a:p>
          <a:p>
            <a:endParaRPr/>
          </a:p>
          <a:p>
            <a:r>
              <a:t>[APA sources / evidence]</a:t>
            </a:r>
          </a:p>
          <a:p>
            <a:r>
              <a:t>- Charoen Pokphand Group. Our Business. https://www.cpgroupglobal.com/en/about-cp-group/our-business</a:t>
            </a:r>
          </a:p>
          <a:p>
            <a:r>
              <a:t>- Charoen Pokphand Foods. Farm business. https://www.cpfworldwide.com/en/business/farm</a:t>
            </a:r>
          </a:p>
          <a:p>
            <a:r>
              <a:t>- CP Axtra. Corporate website. https://www.cpaxtra.com/</a:t>
            </a:r>
          </a:p>
          <a:p>
            <a:r>
              <a:t>- Ge, L. (2022). To buy or not to buy? Frontiers in Psychology, 13, 873941. https://doi.org/10.3389/fpsyg.2022.873941</a:t>
            </a:r>
          </a:p>
          <a:p>
            <a:r>
              <a:t>- Wang, E. S.-T., Lin, H.-C., &amp; Tsai, M.-C. (2021). Effect of institutional trust on traceable fresh food. Foods, 10(12), 2898. https://doi.org/10.3390/foods10122898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Zixiu closes. Mention validations quickly, point to GitHub, and say the final line slowly. Then invite questions.</a:t>
            </a:r>
          </a:p>
          <a:p>
            <a:endParaRPr/>
          </a:p>
          <a:p>
            <a:r>
              <a:t>[APA sources / evidence]</a:t>
            </a:r>
          </a:p>
          <a:p>
            <a:r>
              <a:t>- Oasis Finder repository and local validation evidence. https://github.com/3351666087/Oasis-Finder</a:t>
            </a:r>
          </a:p>
          <a:p>
            <a:r>
              <a:t>- Ge, L. (2022). To buy or not to buy? Frontiers in Psychology, 13, 873941. https://doi.org/10.3389/fpsyg.2022.873941</a:t>
            </a:r>
          </a:p>
          <a:p>
            <a:r>
              <a:t>- Tran, D., Schouteten, J. J., Gellynck, X., &amp; De Steur, H. (2024). How do consumers value food traceability? Food Control, 162, 110453. https://doi.org/10.1016/j.foodcont.2024.110453</a:t>
            </a:r>
          </a:p>
          <a:p>
            <a:r>
              <a:t>- Wang, E. S.-T., Lin, H.-C., &amp; Tsai, M.-C. (2021). Effect of institutional trust on traceable fresh food. Foods, 10(12), 2898. https://doi.org/10.3390/foods10122898</a:t>
            </a:r>
          </a:p>
          <a:p>
            <a:r>
              <a:t>- U.S. FDA. (2024). FSMA Food Traceability Rule: Critical Tracking Events and Key Data Elements. https://www.fda.gov/food/food-safety-modernization-act-fsma/fsma-final-rule-requirements-additional-traceability-records-certain-foods</a:t>
            </a:r>
          </a:p>
          <a:p>
            <a:r>
              <a:t>- GS1. (n.d.). Traceability standards. https://www.gs1.org/standards/traceability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FF72890-6EA6-4FAD-81A7-9D33981FC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endParaRPr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F1DFFCB4-17ED-4EDC-B124-C3F85BCF47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C4673A6F-B0BD-481A-A712-89C47BFDB8D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727795E-F99D-4C13-BCEC-0E05DD53E14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DDC667C-E5DD-48E3-9303-6C5BD68216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C4378CB6-AE67-0CA4-FE0C-C5D26DB6099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9635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1042F4C-98E2-4938-825C-913F6DCA0891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://127.0.0.1:8000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FDDC667C-E5DD-48E3-9303-6C5BD682162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6BA369-3102-47FD-89BE-106A529221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48A2C6D-E391-469E-BC81-2FE36C4F3CB8}"/>
              </a:ext>
            </a:extLst>
          </p:cNvPr>
          <p:cNvSpPr>
            <a:spLocks noGrp="1"/>
          </p:cNvSpPr>
          <p:nvPr/>
        </p:nvSpPr>
        <p:spPr>
          <a:xfrm>
            <a:off x="495300" y="228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86EFAC"/>
                </a:solidFill>
              </a:defRPr>
            </a:pPr>
            <a:r>
              <a:rPr sz="1200" b="1">
                <a:solidFill>
                  <a:srgbClr val="86EFAC"/>
                </a:solidFill>
              </a:rPr>
              <a:t>OASIS FINDER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FBAA008-21D6-42EF-AFB2-158F3BADE152}"/>
              </a:ext>
            </a:extLst>
          </p:cNvPr>
          <p:cNvSpPr>
            <a:spLocks noGrp="1"/>
          </p:cNvSpPr>
          <p:nvPr/>
        </p:nvSpPr>
        <p:spPr>
          <a:xfrm>
            <a:off x="2628900" y="228600"/>
            <a:ext cx="476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B7C5C9"/>
                </a:solidFill>
              </a:defRPr>
            </a:pPr>
            <a:r>
              <a:rPr sz="1200" b="1">
                <a:solidFill>
                  <a:srgbClr val="B7C5C9"/>
                </a:solidFill>
              </a:rPr>
              <a:t>QUESTIONNAIRE SIGNAL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253393-1C9E-4650-913E-071EF571177F}"/>
              </a:ext>
            </a:extLst>
          </p:cNvPr>
          <p:cNvSpPr>
            <a:spLocks noGrp="1"/>
          </p:cNvSpPr>
          <p:nvPr/>
        </p:nvSpPr>
        <p:spPr>
          <a:xfrm>
            <a:off x="10668000" y="228600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B7C5C9"/>
                </a:solidFill>
              </a:defRPr>
            </a:pPr>
            <a:r>
              <a:rPr lang="en-US" altLang="zh-CN" sz="1200" b="1">
                <a:solidFill>
                  <a:srgbClr val="B7C5C9"/>
                </a:solidFill>
              </a:rPr>
              <a:t>01 / 10</a:t>
            </a:r>
            <a:endParaRPr sz="1200" b="1">
              <a:solidFill>
                <a:srgbClr val="B7C5C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7FAD7DD-951C-4AC5-BEAD-E5D1B5287BAB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1201400" cy="19050"/>
          </a:xfrm>
          <a:prstGeom prst="rect">
            <a:avLst/>
          </a:prstGeom>
          <a:solidFill>
            <a:srgbClr val="3F555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CD0E997-563E-4F79-8A18-FCB318CD6758}"/>
              </a:ext>
            </a:extLst>
          </p:cNvPr>
          <p:cNvSpPr>
            <a:spLocks noGrp="1"/>
          </p:cNvSpPr>
          <p:nvPr/>
        </p:nvSpPr>
        <p:spPr>
          <a:xfrm>
            <a:off x="495300" y="914400"/>
            <a:ext cx="561975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9367"/>
          </a:bodyPr>
          <a:lstStyle/>
          <a:p>
            <a:pPr algn="l">
              <a:defRPr sz="3300" b="1">
                <a:solidFill>
                  <a:srgbClr val="F8FAFC"/>
                </a:solidFill>
              </a:defRPr>
            </a:pPr>
            <a:r>
              <a:rPr sz="3300" b="1">
                <a:solidFill>
                  <a:srgbClr val="F8FAFC"/>
                </a:solidFill>
              </a:rPr>
              <a:t>Users prefer visible supply-chain evidence for high-trust food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25D991C-4C77-452A-8806-D8F04CD11FF0}"/>
              </a:ext>
            </a:extLst>
          </p:cNvPr>
          <p:cNvSpPr>
            <a:spLocks noGrp="1"/>
          </p:cNvSpPr>
          <p:nvPr/>
        </p:nvSpPr>
        <p:spPr>
          <a:xfrm>
            <a:off x="495300" y="1981200"/>
            <a:ext cx="56197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3311"/>
          </a:bodyPr>
          <a:lstStyle/>
          <a:p>
            <a:pPr algn="l">
              <a:defRPr sz="1650" b="0">
                <a:solidFill>
                  <a:srgbClr val="DDE7E9"/>
                </a:solidFill>
              </a:defRPr>
            </a:pPr>
            <a:r>
              <a:rPr sz="1650" b="0">
                <a:solidFill>
                  <a:srgbClr val="DDE7E9"/>
                </a:solidFill>
              </a:rPr>
              <a:t>We framed the questionnaire around buying probability after merchants show route, time, place, quality, and temperature evidence.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="6515100" y="1200150"/>
          <a:ext cx="4762500" cy="3219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F9B992D-8E6F-4223-9F25-68AE554E57B8}"/>
              </a:ext>
            </a:extLst>
          </p:cNvPr>
          <p:cNvSpPr>
            <a:spLocks noGrp="1"/>
          </p:cNvSpPr>
          <p:nvPr/>
        </p:nvSpPr>
        <p:spPr>
          <a:xfrm>
            <a:off x="685800" y="3105150"/>
            <a:ext cx="5143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18B0C18-3C34-4E28-89D5-EE0E2989B1E9}"/>
              </a:ext>
            </a:extLst>
          </p:cNvPr>
          <p:cNvSpPr>
            <a:spLocks noGrp="1"/>
          </p:cNvSpPr>
          <p:nvPr/>
        </p:nvSpPr>
        <p:spPr>
          <a:xfrm>
            <a:off x="857250" y="327660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86EFA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CFB3A18-8F0A-458F-B783-C5F3570712FE}"/>
              </a:ext>
            </a:extLst>
          </p:cNvPr>
          <p:cNvSpPr>
            <a:spLocks noGrp="1"/>
          </p:cNvSpPr>
          <p:nvPr/>
        </p:nvSpPr>
        <p:spPr>
          <a:xfrm>
            <a:off x="857250" y="332422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1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1E4C4A5-8F3C-40BC-AB0D-051D87F7EAFF}"/>
              </a:ext>
            </a:extLst>
          </p:cNvPr>
          <p:cNvSpPr>
            <a:spLocks noGrp="1"/>
          </p:cNvSpPr>
          <p:nvPr/>
        </p:nvSpPr>
        <p:spPr>
          <a:xfrm>
            <a:off x="1352550" y="3257550"/>
            <a:ext cx="4267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Cake / bakery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4922F55-2D53-4431-9EF7-4BFE1FEE9DC6}"/>
              </a:ext>
            </a:extLst>
          </p:cNvPr>
          <p:cNvSpPr>
            <a:spLocks noGrp="1"/>
          </p:cNvSpPr>
          <p:nvPr/>
        </p:nvSpPr>
        <p:spPr>
          <a:xfrm>
            <a:off x="1352550" y="3600450"/>
            <a:ext cx="4267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Ingredients and freshness are hard to judge from appearance alone.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28DB7A9B-1483-403B-B008-0B9AAEAAF7E4}"/>
              </a:ext>
            </a:extLst>
          </p:cNvPr>
          <p:cNvSpPr>
            <a:spLocks noGrp="1"/>
          </p:cNvSpPr>
          <p:nvPr/>
        </p:nvSpPr>
        <p:spPr>
          <a:xfrm>
            <a:off x="685800" y="3848100"/>
            <a:ext cx="5143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E1D7B35E-8E38-4288-A2C2-EDE396736A43}"/>
              </a:ext>
            </a:extLst>
          </p:cNvPr>
          <p:cNvSpPr>
            <a:spLocks noGrp="1"/>
          </p:cNvSpPr>
          <p:nvPr/>
        </p:nvSpPr>
        <p:spPr>
          <a:xfrm>
            <a:off x="857250" y="401955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67E8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466E018-2D12-4F66-B3B2-5322A489A704}"/>
              </a:ext>
            </a:extLst>
          </p:cNvPr>
          <p:cNvSpPr>
            <a:spLocks noGrp="1"/>
          </p:cNvSpPr>
          <p:nvPr/>
        </p:nvSpPr>
        <p:spPr>
          <a:xfrm>
            <a:off x="857250" y="406717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2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23754BE-8243-48CC-9DD9-A59330771A0E}"/>
              </a:ext>
            </a:extLst>
          </p:cNvPr>
          <p:cNvSpPr>
            <a:spLocks noGrp="1"/>
          </p:cNvSpPr>
          <p:nvPr/>
        </p:nvSpPr>
        <p:spPr>
          <a:xfrm>
            <a:off x="1352550" y="4000500"/>
            <a:ext cx="4267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Chilled meat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B2627D3-8982-409B-9A3F-2EFD576B05AA}"/>
              </a:ext>
            </a:extLst>
          </p:cNvPr>
          <p:cNvSpPr>
            <a:spLocks noGrp="1"/>
          </p:cNvSpPr>
          <p:nvPr/>
        </p:nvSpPr>
        <p:spPr>
          <a:xfrm>
            <a:off x="1352550" y="4343400"/>
            <a:ext cx="4267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Safety and cold-chain trust matter before purchase.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3D77F471-15B7-48F1-98E4-EE3C4E3CD8D6}"/>
              </a:ext>
            </a:extLst>
          </p:cNvPr>
          <p:cNvSpPr>
            <a:spLocks noGrp="1"/>
          </p:cNvSpPr>
          <p:nvPr/>
        </p:nvSpPr>
        <p:spPr>
          <a:xfrm>
            <a:off x="685800" y="4591050"/>
            <a:ext cx="5143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EFE41012-619A-4738-ABDF-73084FC27803}"/>
              </a:ext>
            </a:extLst>
          </p:cNvPr>
          <p:cNvSpPr>
            <a:spLocks noGrp="1"/>
          </p:cNvSpPr>
          <p:nvPr/>
        </p:nvSpPr>
        <p:spPr>
          <a:xfrm>
            <a:off x="857250" y="476250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FBBF2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7BE753E-CFB8-42E0-AE86-7024B6BAD11F}"/>
              </a:ext>
            </a:extLst>
          </p:cNvPr>
          <p:cNvSpPr>
            <a:spLocks noGrp="1"/>
          </p:cNvSpPr>
          <p:nvPr/>
        </p:nvSpPr>
        <p:spPr>
          <a:xfrm>
            <a:off x="857250" y="481012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3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A68D979-9CF2-41AC-94FE-87B45C445029}"/>
              </a:ext>
            </a:extLst>
          </p:cNvPr>
          <p:cNvSpPr>
            <a:spLocks noGrp="1"/>
          </p:cNvSpPr>
          <p:nvPr/>
        </p:nvSpPr>
        <p:spPr>
          <a:xfrm>
            <a:off x="1352550" y="4743450"/>
            <a:ext cx="4267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Dairy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7C04AD6-3C3A-46AF-B93C-602ADBC223FC}"/>
              </a:ext>
            </a:extLst>
          </p:cNvPr>
          <p:cNvSpPr>
            <a:spLocks noGrp="1"/>
          </p:cNvSpPr>
          <p:nvPr/>
        </p:nvSpPr>
        <p:spPr>
          <a:xfrm>
            <a:off x="1352550" y="5086350"/>
            <a:ext cx="4267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Temperature and expiry evidence can reduce perceived risk.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8EC88079-0F20-4E81-88A7-B9E20F5654D1}"/>
              </a:ext>
            </a:extLst>
          </p:cNvPr>
          <p:cNvSpPr>
            <a:spLocks noGrp="1"/>
          </p:cNvSpPr>
          <p:nvPr/>
        </p:nvSpPr>
        <p:spPr>
          <a:xfrm>
            <a:off x="685800" y="5334000"/>
            <a:ext cx="5143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9D27E640-5B58-431F-BF2B-4B98FA182314}"/>
              </a:ext>
            </a:extLst>
          </p:cNvPr>
          <p:cNvSpPr>
            <a:spLocks noGrp="1"/>
          </p:cNvSpPr>
          <p:nvPr/>
        </p:nvSpPr>
        <p:spPr>
          <a:xfrm>
            <a:off x="857250" y="550545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F9731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183D896-5F8A-41C7-9019-F548598AE9BC}"/>
              </a:ext>
            </a:extLst>
          </p:cNvPr>
          <p:cNvSpPr>
            <a:spLocks noGrp="1"/>
          </p:cNvSpPr>
          <p:nvPr/>
        </p:nvSpPr>
        <p:spPr>
          <a:xfrm>
            <a:off x="857250" y="555307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4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2DF3469-7853-4C31-A605-4250B1808187}"/>
              </a:ext>
            </a:extLst>
          </p:cNvPr>
          <p:cNvSpPr>
            <a:spLocks noGrp="1"/>
          </p:cNvSpPr>
          <p:nvPr/>
        </p:nvSpPr>
        <p:spPr>
          <a:xfrm>
            <a:off x="1352550" y="5486400"/>
            <a:ext cx="4267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Fresh produce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0CC1E5B-D5A5-4582-8672-3903E20597D7}"/>
              </a:ext>
            </a:extLst>
          </p:cNvPr>
          <p:cNvSpPr>
            <a:spLocks noGrp="1"/>
          </p:cNvSpPr>
          <p:nvPr/>
        </p:nvSpPr>
        <p:spPr>
          <a:xfrm>
            <a:off x="1352550" y="5829300"/>
            <a:ext cx="4267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Origin and handling evidence make freshness easier to believe.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87600C6-061B-4BDB-AF10-D758DAC7197B}"/>
              </a:ext>
            </a:extLst>
          </p:cNvPr>
          <p:cNvSpPr>
            <a:spLocks noGrp="1"/>
          </p:cNvSpPr>
          <p:nvPr/>
        </p:nvSpPr>
        <p:spPr>
          <a:xfrm>
            <a:off x="6515100" y="4686300"/>
            <a:ext cx="476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Directional coding: 1 = weak lift, 5 = strong lift. The exact response file can replace this chart in the same schema.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FFFA319-4CCF-4FD1-9C5D-698ADF5ECE7F}"/>
              </a:ext>
            </a:extLst>
          </p:cNvPr>
          <p:cNvSpPr>
            <a:spLocks noGrp="1"/>
          </p:cNvSpPr>
          <p:nvPr/>
        </p:nvSpPr>
        <p:spPr>
          <a:xfrm>
            <a:off x="495300" y="65532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7C5C9"/>
                </a:solidFill>
              </a:defRPr>
            </a:pPr>
            <a:r>
              <a:rPr sz="900" b="0">
                <a:solidFill>
                  <a:srgbClr val="B7C5C9"/>
                </a:solidFill>
              </a:rPr>
              <a:t>Oasis Finder | Group 9 | Rui Huang and Zixiu Wang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D175993-17F6-4A54-9E2B-615C7A2D3D5A}"/>
              </a:ext>
            </a:extLst>
          </p:cNvPr>
          <p:cNvSpPr>
            <a:spLocks noGrp="1"/>
          </p:cNvSpPr>
          <p:nvPr/>
        </p:nvSpPr>
        <p:spPr>
          <a:xfrm>
            <a:off x="6667500" y="6515100"/>
            <a:ext cx="5029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B7C5C9"/>
                </a:solidFill>
              </a:defRPr>
            </a:pPr>
            <a:r>
              <a:rPr sz="825" b="0">
                <a:solidFill>
                  <a:srgbClr val="B7C5C9"/>
                </a:solidFill>
              </a:rPr>
              <a:t>Ge (2022); Tran et al. (2024); Group 9 questionnaire direction</a:t>
            </a:r>
          </a:p>
        </p:txBody>
      </p:sp>
    </p:spTree>
    <p:extLst>
      <p:ext uri="{BB962C8B-B14F-4D97-AF65-F5344CB8AC3E}">
        <p14:creationId xmlns:p14="http://schemas.microsoft.com/office/powerpoint/2010/main" val="1803297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9768482-65F0-80CF-3A22-E51C6830C12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4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B34755F-9653-8161-D015-B2194B536E01}"/>
              </a:ext>
            </a:extLst>
          </p:cNvPr>
          <p:cNvSpPr txBox="1"/>
          <p:nvPr/>
        </p:nvSpPr>
        <p:spPr>
          <a:xfrm>
            <a:off x="660400" y="304800"/>
            <a:ext cx="2794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600" b="1">
                <a:solidFill>
                  <a:srgbClr val="86EFAC"/>
                </a:solidFill>
                <a:latin typeface="Cascadia Mono" panose="020B0609020000020004" pitchFamily="49" charset="0"/>
              </a:rPr>
              <a:t>OASIS FINDER</a:t>
            </a:r>
            <a:endParaRPr lang="zh-CN" altLang="en-US" sz="1600" b="1">
              <a:solidFill>
                <a:srgbClr val="86EFAC"/>
              </a:solidFill>
              <a:latin typeface="Cascadia Mono" panose="020B0609020000020004" pitchFamily="49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A38788A-1B4C-0B7B-6E33-F810726A942F}"/>
              </a:ext>
            </a:extLst>
          </p:cNvPr>
          <p:cNvSpPr txBox="1"/>
          <p:nvPr/>
        </p:nvSpPr>
        <p:spPr>
          <a:xfrm>
            <a:off x="3505200" y="304800"/>
            <a:ext cx="6350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600" b="1">
                <a:solidFill>
                  <a:srgbClr val="B7C5C9"/>
                </a:solidFill>
                <a:latin typeface="Cascadia Mono" panose="020B0609020000020004" pitchFamily="49" charset="0"/>
              </a:rPr>
              <a:t>COURSE KNOWLEDGE MAP</a:t>
            </a:r>
            <a:endParaRPr lang="zh-CN" altLang="en-US" sz="1600" b="1">
              <a:solidFill>
                <a:srgbClr val="B7C5C9"/>
              </a:solidFill>
              <a:latin typeface="Cascadia Mono" panose="020B0609020000020004" pitchFamily="49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1B71C2D-EDA2-BB95-ABDC-2D4E69B107C4}"/>
              </a:ext>
            </a:extLst>
          </p:cNvPr>
          <p:cNvSpPr/>
          <p:nvPr/>
        </p:nvSpPr>
        <p:spPr>
          <a:xfrm>
            <a:off x="660400" y="787400"/>
            <a:ext cx="14935200" cy="25400"/>
          </a:xfrm>
          <a:prstGeom prst="rect">
            <a:avLst/>
          </a:prstGeom>
          <a:solidFill>
            <a:srgbClr val="3F5558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A614CB6-4734-F576-2522-8C1D2942D4F7}"/>
              </a:ext>
            </a:extLst>
          </p:cNvPr>
          <p:cNvSpPr txBox="1"/>
          <p:nvPr/>
        </p:nvSpPr>
        <p:spPr>
          <a:xfrm>
            <a:off x="660400" y="1168400"/>
            <a:ext cx="9652000" cy="58477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3800" b="1">
                <a:solidFill>
                  <a:srgbClr val="F8FAFC"/>
                </a:solidFill>
                <a:latin typeface="Aptos Display" panose="020B0004020202020204" pitchFamily="34" charset="0"/>
              </a:rPr>
              <a:t>Course knowledge used in Oasis Finder</a:t>
            </a:r>
            <a:endParaRPr lang="zh-CN" altLang="en-US" sz="3800" b="1">
              <a:solidFill>
                <a:srgbClr val="F8FAFC"/>
              </a:solidFill>
              <a:latin typeface="Aptos Display" panose="020B00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27CB30-B062-7582-A1D6-60B6B4D2A8EE}"/>
              </a:ext>
            </a:extLst>
          </p:cNvPr>
          <p:cNvSpPr txBox="1"/>
          <p:nvPr/>
        </p:nvSpPr>
        <p:spPr>
          <a:xfrm>
            <a:off x="660400" y="2006600"/>
            <a:ext cx="12446000" cy="5539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>
                <a:solidFill>
                  <a:srgbClr val="DDE7E9"/>
                </a:solidFill>
                <a:latin typeface="Aptos" panose="020B0004020202020204" pitchFamily="34" charset="0"/>
              </a:rPr>
              <a:t>Mapped from ENT_</a:t>
            </a:r>
            <a:r>
              <a:rPr lang="zh-CN" altLang="en-US">
                <a:solidFill>
                  <a:srgbClr val="DDE7E9"/>
                </a:solidFill>
                <a:latin typeface="Aptos" panose="020B0004020202020204" pitchFamily="34" charset="0"/>
              </a:rPr>
              <a:t>结构化知识点整理</a:t>
            </a:r>
            <a:r>
              <a:rPr lang="en-US" altLang="zh-CN">
                <a:solidFill>
                  <a:srgbClr val="DDE7E9"/>
                </a:solidFill>
                <a:latin typeface="Aptos" panose="020B0004020202020204" pitchFamily="34" charset="0"/>
              </a:rPr>
              <a:t>_</a:t>
            </a:r>
            <a:r>
              <a:rPr lang="zh-CN" altLang="en-US">
                <a:solidFill>
                  <a:srgbClr val="DDE7E9"/>
                </a:solidFill>
                <a:latin typeface="Aptos" panose="020B0004020202020204" pitchFamily="34" charset="0"/>
              </a:rPr>
              <a:t>重构版</a:t>
            </a:r>
            <a:r>
              <a:rPr lang="en-US" altLang="zh-CN">
                <a:solidFill>
                  <a:srgbClr val="DDE7E9"/>
                </a:solidFill>
                <a:latin typeface="Aptos" panose="020B0004020202020204" pitchFamily="34" charset="0"/>
              </a:rPr>
              <a:t>.docx. Weeks 2–8 guide our strategic question, evidence plan, coding, questionnaire signal, and mixed-method recommendation.</a:t>
            </a:r>
            <a:endParaRPr lang="zh-CN" altLang="en-US">
              <a:solidFill>
                <a:srgbClr val="DDE7E9"/>
              </a:solidFill>
              <a:latin typeface="Aptos" panose="020B0004020202020204" pitchFamily="34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52A7762-584F-DFF4-6BFC-1FF81E5A0272}"/>
              </a:ext>
            </a:extLst>
          </p:cNvPr>
          <p:cNvSpPr/>
          <p:nvPr/>
        </p:nvSpPr>
        <p:spPr>
          <a:xfrm>
            <a:off x="889000" y="3022600"/>
            <a:ext cx="4508500" cy="1498600"/>
          </a:xfrm>
          <a:prstGeom prst="roundRect">
            <a:avLst/>
          </a:prstGeom>
          <a:solidFill>
            <a:srgbClr val="152326"/>
          </a:solidFill>
          <a:ln w="15240">
            <a:solidFill>
              <a:srgbClr val="3F5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1078FEE-333A-656F-2FA8-911C8E363E3D}"/>
              </a:ext>
            </a:extLst>
          </p:cNvPr>
          <p:cNvSpPr txBox="1"/>
          <p:nvPr/>
        </p:nvSpPr>
        <p:spPr>
          <a:xfrm>
            <a:off x="1117600" y="3200400"/>
            <a:ext cx="40513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300" b="1">
                <a:solidFill>
                  <a:srgbClr val="86EFAC"/>
                </a:solidFill>
                <a:latin typeface="Cascadia Mono" panose="020B0609020000020004" pitchFamily="49" charset="0"/>
              </a:rPr>
              <a:t>WEEK 2</a:t>
            </a:r>
            <a:endParaRPr lang="zh-CN" altLang="en-US" sz="1300" b="1">
              <a:solidFill>
                <a:srgbClr val="86EFAC"/>
              </a:solidFill>
              <a:latin typeface="Cascadia Mono" panose="020B0609020000020004" pitchFamily="49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5E19FAB-6428-7ED6-0780-5BC6426E03AE}"/>
              </a:ext>
            </a:extLst>
          </p:cNvPr>
          <p:cNvSpPr txBox="1"/>
          <p:nvPr/>
        </p:nvSpPr>
        <p:spPr>
          <a:xfrm>
            <a:off x="1117600" y="3505200"/>
            <a:ext cx="40513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000" b="1">
                <a:solidFill>
                  <a:srgbClr val="F8FAFC"/>
                </a:solidFill>
                <a:latin typeface="Aptos Display" panose="020B0004020202020204" pitchFamily="34" charset="0"/>
              </a:rPr>
              <a:t>Evidence-based decision</a:t>
            </a:r>
            <a:endParaRPr lang="zh-CN" altLang="en-US" sz="2000" b="1">
              <a:solidFill>
                <a:srgbClr val="F8FAFC"/>
              </a:solidFill>
              <a:latin typeface="Aptos Display" panose="020B00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84DBBE4-E1B7-E570-D61E-46819E2B5023}"/>
              </a:ext>
            </a:extLst>
          </p:cNvPr>
          <p:cNvSpPr txBox="1"/>
          <p:nvPr/>
        </p:nvSpPr>
        <p:spPr>
          <a:xfrm>
            <a:off x="1117600" y="3911600"/>
            <a:ext cx="40513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400">
                <a:solidFill>
                  <a:srgbClr val="DDE7E9"/>
                </a:solidFill>
                <a:latin typeface="Aptos" panose="020B0004020202020204" pitchFamily="34" charset="0"/>
              </a:rPr>
              <a:t>We reframed Oasis Finder from a dashboard into intelligence for one decision: will supply-chain proof increase buying confidence?</a:t>
            </a:r>
            <a:endParaRPr lang="zh-CN" altLang="en-US" sz="1400">
              <a:solidFill>
                <a:srgbClr val="DDE7E9"/>
              </a:solidFill>
              <a:latin typeface="Aptos" panose="020B0004020202020204" pitchFamily="34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415C4-2161-6C1B-9272-3EEA41C518AC}"/>
              </a:ext>
            </a:extLst>
          </p:cNvPr>
          <p:cNvSpPr/>
          <p:nvPr/>
        </p:nvSpPr>
        <p:spPr>
          <a:xfrm>
            <a:off x="5867400" y="3022600"/>
            <a:ext cx="4508500" cy="1498600"/>
          </a:xfrm>
          <a:prstGeom prst="roundRect">
            <a:avLst/>
          </a:prstGeom>
          <a:solidFill>
            <a:srgbClr val="152326"/>
          </a:solidFill>
          <a:ln w="15240">
            <a:solidFill>
              <a:srgbClr val="3F5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366C28D-9005-C8B6-617B-53660E0E722F}"/>
              </a:ext>
            </a:extLst>
          </p:cNvPr>
          <p:cNvSpPr txBox="1"/>
          <p:nvPr/>
        </p:nvSpPr>
        <p:spPr>
          <a:xfrm>
            <a:off x="6096000" y="3200400"/>
            <a:ext cx="40513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300" b="1">
                <a:solidFill>
                  <a:srgbClr val="67E8F9"/>
                </a:solidFill>
                <a:latin typeface="Cascadia Mono" panose="020B0609020000020004" pitchFamily="49" charset="0"/>
              </a:rPr>
              <a:t>WEEK 3</a:t>
            </a:r>
            <a:endParaRPr lang="zh-CN" altLang="en-US" sz="1300" b="1">
              <a:solidFill>
                <a:srgbClr val="67E8F9"/>
              </a:solidFill>
              <a:latin typeface="Cascadia Mono" panose="020B0609020000020004" pitchFamily="49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5B1C4DFF-AE3D-6257-DC85-A85863F82F68}"/>
              </a:ext>
            </a:extLst>
          </p:cNvPr>
          <p:cNvSpPr txBox="1"/>
          <p:nvPr/>
        </p:nvSpPr>
        <p:spPr>
          <a:xfrm>
            <a:off x="6096000" y="3505200"/>
            <a:ext cx="40513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000" b="1">
                <a:solidFill>
                  <a:srgbClr val="F8FAFC"/>
                </a:solidFill>
                <a:latin typeface="Aptos Display" panose="020B0004020202020204" pitchFamily="34" charset="0"/>
              </a:rPr>
              <a:t>Industry and competition</a:t>
            </a:r>
            <a:endParaRPr lang="zh-CN" altLang="en-US" sz="2000" b="1">
              <a:solidFill>
                <a:srgbClr val="F8FAFC"/>
              </a:solidFill>
              <a:latin typeface="Aptos Display" panose="020B00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4B0DB56-E9E3-364C-21B4-94C71A94ACBF}"/>
              </a:ext>
            </a:extLst>
          </p:cNvPr>
          <p:cNvSpPr txBox="1"/>
          <p:nvPr/>
        </p:nvSpPr>
        <p:spPr>
          <a:xfrm>
            <a:off x="6096000" y="3911600"/>
            <a:ext cx="40513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400">
                <a:solidFill>
                  <a:srgbClr val="DDE7E9"/>
                </a:solidFill>
                <a:latin typeface="Aptos" panose="020B0004020202020204" pitchFamily="34" charset="0"/>
              </a:rPr>
              <a:t>CP Group is positioned as a pilot case; merchant value is explained through differentiation, trust, and competitive response.</a:t>
            </a:r>
            <a:endParaRPr lang="zh-CN" altLang="en-US" sz="1400">
              <a:solidFill>
                <a:srgbClr val="DDE7E9"/>
              </a:solidFill>
              <a:latin typeface="Aptos" panose="020B0004020202020204" pitchFamily="34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11CF46B-C0FF-F5C5-FF55-0786D4824F3F}"/>
              </a:ext>
            </a:extLst>
          </p:cNvPr>
          <p:cNvSpPr/>
          <p:nvPr/>
        </p:nvSpPr>
        <p:spPr>
          <a:xfrm>
            <a:off x="10845800" y="3022600"/>
            <a:ext cx="4508500" cy="1498600"/>
          </a:xfrm>
          <a:prstGeom prst="roundRect">
            <a:avLst/>
          </a:prstGeom>
          <a:solidFill>
            <a:srgbClr val="152326"/>
          </a:solidFill>
          <a:ln w="15240">
            <a:solidFill>
              <a:srgbClr val="3F5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69BDCD6-891A-8222-91C9-AA83530803B5}"/>
              </a:ext>
            </a:extLst>
          </p:cNvPr>
          <p:cNvSpPr txBox="1"/>
          <p:nvPr/>
        </p:nvSpPr>
        <p:spPr>
          <a:xfrm>
            <a:off x="11074400" y="3200400"/>
            <a:ext cx="40513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300" b="1">
                <a:solidFill>
                  <a:srgbClr val="FBBF24"/>
                </a:solidFill>
                <a:latin typeface="Cascadia Mono" panose="020B0609020000020004" pitchFamily="49" charset="0"/>
              </a:rPr>
              <a:t>WEEK 4</a:t>
            </a:r>
            <a:endParaRPr lang="zh-CN" altLang="en-US" sz="1300" b="1">
              <a:solidFill>
                <a:srgbClr val="FBBF24"/>
              </a:solidFill>
              <a:latin typeface="Cascadia Mono" panose="020B0609020000020004" pitchFamily="49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440A1B-2D67-1117-F066-2967117DF062}"/>
              </a:ext>
            </a:extLst>
          </p:cNvPr>
          <p:cNvSpPr txBox="1"/>
          <p:nvPr/>
        </p:nvSpPr>
        <p:spPr>
          <a:xfrm>
            <a:off x="11074400" y="3505200"/>
            <a:ext cx="40513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000" b="1">
                <a:solidFill>
                  <a:srgbClr val="F8FAFC"/>
                </a:solidFill>
                <a:latin typeface="Aptos Display" panose="020B0004020202020204" pitchFamily="34" charset="0"/>
              </a:rPr>
              <a:t>PESTEL and secondary data</a:t>
            </a:r>
            <a:endParaRPr lang="zh-CN" altLang="en-US" sz="2000" b="1">
              <a:solidFill>
                <a:srgbClr val="F8FAFC"/>
              </a:solidFill>
              <a:latin typeface="Aptos Display" panose="020B00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F0B3380-B428-1050-6BCE-9A00704F22C1}"/>
              </a:ext>
            </a:extLst>
          </p:cNvPr>
          <p:cNvSpPr txBox="1"/>
          <p:nvPr/>
        </p:nvSpPr>
        <p:spPr>
          <a:xfrm>
            <a:off x="11074400" y="3911600"/>
            <a:ext cx="40513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400">
                <a:solidFill>
                  <a:srgbClr val="DDE7E9"/>
                </a:solidFill>
                <a:latin typeface="Aptos" panose="020B0004020202020204" pitchFamily="34" charset="0"/>
              </a:rPr>
              <a:t>Food safety, traceability standards, ESG expectations, and consumer-trust trends define why evidence pages matter now.</a:t>
            </a:r>
            <a:endParaRPr lang="zh-CN" altLang="en-US" sz="1400">
              <a:solidFill>
                <a:srgbClr val="DDE7E9"/>
              </a:solidFill>
              <a:latin typeface="Aptos" panose="020B0004020202020204" pitchFamily="34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2C09591B-9635-4465-CB4C-EA446B6A5E0D}"/>
              </a:ext>
            </a:extLst>
          </p:cNvPr>
          <p:cNvSpPr/>
          <p:nvPr/>
        </p:nvSpPr>
        <p:spPr>
          <a:xfrm>
            <a:off x="889000" y="4953000"/>
            <a:ext cx="4508500" cy="1498600"/>
          </a:xfrm>
          <a:prstGeom prst="roundRect">
            <a:avLst/>
          </a:prstGeom>
          <a:solidFill>
            <a:srgbClr val="152326"/>
          </a:solidFill>
          <a:ln w="15240">
            <a:solidFill>
              <a:srgbClr val="3F5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9CA3551-5E9F-F533-E8AD-96563E97C5E5}"/>
              </a:ext>
            </a:extLst>
          </p:cNvPr>
          <p:cNvSpPr txBox="1"/>
          <p:nvPr/>
        </p:nvSpPr>
        <p:spPr>
          <a:xfrm>
            <a:off x="1117600" y="5130800"/>
            <a:ext cx="40513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300" b="1">
                <a:solidFill>
                  <a:srgbClr val="F97316"/>
                </a:solidFill>
                <a:latin typeface="Cascadia Mono" panose="020B0609020000020004" pitchFamily="49" charset="0"/>
              </a:rPr>
              <a:t>WEEK 5</a:t>
            </a:r>
            <a:endParaRPr lang="zh-CN" altLang="en-US" sz="1300" b="1">
              <a:solidFill>
                <a:srgbClr val="F97316"/>
              </a:solidFill>
              <a:latin typeface="Cascadia Mono" panose="020B0609020000020004" pitchFamily="49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EDB93CF-3B16-139E-4BE2-3DF9E7E63CD8}"/>
              </a:ext>
            </a:extLst>
          </p:cNvPr>
          <p:cNvSpPr txBox="1"/>
          <p:nvPr/>
        </p:nvSpPr>
        <p:spPr>
          <a:xfrm>
            <a:off x="1117600" y="5435600"/>
            <a:ext cx="40513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000" b="1">
                <a:solidFill>
                  <a:srgbClr val="F8FAFC"/>
                </a:solidFill>
                <a:latin typeface="Aptos Display" panose="020B0004020202020204" pitchFamily="34" charset="0"/>
              </a:rPr>
              <a:t>Data collection planning</a:t>
            </a:r>
            <a:endParaRPr lang="zh-CN" altLang="en-US" sz="2000" b="1">
              <a:solidFill>
                <a:srgbClr val="F8FAFC"/>
              </a:solidFill>
              <a:latin typeface="Aptos Display" panose="020B00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1D2F283-6E71-6742-714C-A4BC7C0AED99}"/>
              </a:ext>
            </a:extLst>
          </p:cNvPr>
          <p:cNvSpPr txBox="1"/>
          <p:nvPr/>
        </p:nvSpPr>
        <p:spPr>
          <a:xfrm>
            <a:off x="1117600" y="5842000"/>
            <a:ext cx="40513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400">
                <a:solidFill>
                  <a:srgbClr val="DDE7E9"/>
                </a:solidFill>
                <a:latin typeface="Aptos" panose="020B0004020202020204" pitchFamily="34" charset="0"/>
              </a:rPr>
              <a:t>The project follows Strategic Question → Data → Insight → Decision, with variables such as trust, proof score, and purchase intention.</a:t>
            </a:r>
            <a:endParaRPr lang="zh-CN" altLang="en-US" sz="1400">
              <a:solidFill>
                <a:srgbClr val="DDE7E9"/>
              </a:solidFill>
              <a:latin typeface="Aptos" panose="020B0004020202020204" pitchFamily="34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E9F6609-A6A5-9E1E-0F6C-F61FAED270E0}"/>
              </a:ext>
            </a:extLst>
          </p:cNvPr>
          <p:cNvSpPr/>
          <p:nvPr/>
        </p:nvSpPr>
        <p:spPr>
          <a:xfrm>
            <a:off x="5867400" y="4953000"/>
            <a:ext cx="4508500" cy="1498600"/>
          </a:xfrm>
          <a:prstGeom prst="roundRect">
            <a:avLst/>
          </a:prstGeom>
          <a:solidFill>
            <a:srgbClr val="152326"/>
          </a:solidFill>
          <a:ln w="15240">
            <a:solidFill>
              <a:srgbClr val="3F5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6D14146-DC66-4F7C-12D8-9EFDD25E5D0A}"/>
              </a:ext>
            </a:extLst>
          </p:cNvPr>
          <p:cNvSpPr txBox="1"/>
          <p:nvPr/>
        </p:nvSpPr>
        <p:spPr>
          <a:xfrm>
            <a:off x="6096000" y="5130800"/>
            <a:ext cx="40513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300" b="1">
                <a:solidFill>
                  <a:srgbClr val="A78BFA"/>
                </a:solidFill>
                <a:latin typeface="Cascadia Mono" panose="020B0609020000020004" pitchFamily="49" charset="0"/>
              </a:rPr>
              <a:t>WEEK 6</a:t>
            </a:r>
            <a:endParaRPr lang="zh-CN" altLang="en-US" sz="1300" b="1">
              <a:solidFill>
                <a:srgbClr val="A78BFA"/>
              </a:solidFill>
              <a:latin typeface="Cascadia Mono" panose="020B0609020000020004" pitchFamily="49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F95351E-15D7-244E-723D-E6DEE1C9C42A}"/>
              </a:ext>
            </a:extLst>
          </p:cNvPr>
          <p:cNvSpPr txBox="1"/>
          <p:nvPr/>
        </p:nvSpPr>
        <p:spPr>
          <a:xfrm>
            <a:off x="6096000" y="5435600"/>
            <a:ext cx="40513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000" b="1">
                <a:solidFill>
                  <a:srgbClr val="F8FAFC"/>
                </a:solidFill>
                <a:latin typeface="Aptos Display" panose="020B0004020202020204" pitchFamily="34" charset="0"/>
              </a:rPr>
              <a:t>Qualitative coding</a:t>
            </a:r>
            <a:endParaRPr lang="zh-CN" altLang="en-US" sz="2000" b="1">
              <a:solidFill>
                <a:srgbClr val="F8FAFC"/>
              </a:solidFill>
              <a:latin typeface="Aptos Display" panose="020B00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B0A283F-D351-435D-483B-50D2C9D0E6C2}"/>
              </a:ext>
            </a:extLst>
          </p:cNvPr>
          <p:cNvSpPr txBox="1"/>
          <p:nvPr/>
        </p:nvSpPr>
        <p:spPr>
          <a:xfrm>
            <a:off x="6096000" y="5842000"/>
            <a:ext cx="40513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400">
                <a:solidFill>
                  <a:srgbClr val="DDE7E9"/>
                </a:solidFill>
                <a:latin typeface="Aptos" panose="020B0004020202020204" pitchFamily="34" charset="0"/>
              </a:rPr>
              <a:t>Open coding logic turns documents, comments, and route meanings into reusable tags, patterns, insights, and graph labels.</a:t>
            </a:r>
            <a:endParaRPr lang="zh-CN" altLang="en-US" sz="1400">
              <a:solidFill>
                <a:srgbClr val="DDE7E9"/>
              </a:solidFill>
              <a:latin typeface="Aptos" panose="020B0004020202020204" pitchFamily="34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F909487-A580-EEC6-0047-1A2708706DEA}"/>
              </a:ext>
            </a:extLst>
          </p:cNvPr>
          <p:cNvSpPr/>
          <p:nvPr/>
        </p:nvSpPr>
        <p:spPr>
          <a:xfrm>
            <a:off x="10845800" y="4953000"/>
            <a:ext cx="4508500" cy="1498600"/>
          </a:xfrm>
          <a:prstGeom prst="roundRect">
            <a:avLst/>
          </a:prstGeom>
          <a:solidFill>
            <a:srgbClr val="152326"/>
          </a:solidFill>
          <a:ln w="15240">
            <a:solidFill>
              <a:srgbClr val="3F5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4461415-AEC6-5EE7-4F04-F7DA75EA20AB}"/>
              </a:ext>
            </a:extLst>
          </p:cNvPr>
          <p:cNvSpPr txBox="1"/>
          <p:nvPr/>
        </p:nvSpPr>
        <p:spPr>
          <a:xfrm>
            <a:off x="11074400" y="5130800"/>
            <a:ext cx="40513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300" b="1">
                <a:solidFill>
                  <a:srgbClr val="F472B6"/>
                </a:solidFill>
                <a:latin typeface="Cascadia Mono" panose="020B0609020000020004" pitchFamily="49" charset="0"/>
              </a:rPr>
              <a:t>WEEK 7</a:t>
            </a:r>
            <a:endParaRPr lang="zh-CN" altLang="en-US" sz="1300" b="1">
              <a:solidFill>
                <a:srgbClr val="F472B6"/>
              </a:solidFill>
              <a:latin typeface="Cascadia Mono" panose="020B0609020000020004" pitchFamily="49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51FD007-7F3C-BCE0-A175-D4D63359AB45}"/>
              </a:ext>
            </a:extLst>
          </p:cNvPr>
          <p:cNvSpPr txBox="1"/>
          <p:nvPr/>
        </p:nvSpPr>
        <p:spPr>
          <a:xfrm>
            <a:off x="11074400" y="5435600"/>
            <a:ext cx="40513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000" b="1">
                <a:solidFill>
                  <a:srgbClr val="F8FAFC"/>
                </a:solidFill>
                <a:latin typeface="Aptos Display" panose="020B0004020202020204" pitchFamily="34" charset="0"/>
              </a:rPr>
              <a:t>Quantitative questionnaire</a:t>
            </a:r>
            <a:endParaRPr lang="zh-CN" altLang="en-US" sz="2000" b="1">
              <a:solidFill>
                <a:srgbClr val="F8FAFC"/>
              </a:solidFill>
              <a:latin typeface="Aptos Display" panose="020B00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ED8A53E-9B4B-8FE5-3A5D-75B223EC88A3}"/>
              </a:ext>
            </a:extLst>
          </p:cNvPr>
          <p:cNvSpPr txBox="1"/>
          <p:nvPr/>
        </p:nvSpPr>
        <p:spPr>
          <a:xfrm>
            <a:off x="11074400" y="5842000"/>
            <a:ext cx="40513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400">
                <a:solidFill>
                  <a:srgbClr val="DDE7E9"/>
                </a:solidFill>
                <a:latin typeface="Aptos" panose="020B0004020202020204" pitchFamily="34" charset="0"/>
              </a:rPr>
              <a:t>The questionnaire slide uses DV/IV and hypothesis-testing logic: supply-chain visibility as the signal, purchase likelihood as the outcome.</a:t>
            </a:r>
            <a:endParaRPr lang="zh-CN" altLang="en-US" sz="1400">
              <a:solidFill>
                <a:srgbClr val="DDE7E9"/>
              </a:solidFill>
              <a:latin typeface="Aptos" panose="020B0004020202020204" pitchFamily="34" charset="0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8B98E9BC-028D-732F-9D64-82F5E7D4C703}"/>
              </a:ext>
            </a:extLst>
          </p:cNvPr>
          <p:cNvSpPr/>
          <p:nvPr/>
        </p:nvSpPr>
        <p:spPr>
          <a:xfrm>
            <a:off x="3302000" y="6959600"/>
            <a:ext cx="9652000" cy="1041400"/>
          </a:xfrm>
          <a:prstGeom prst="roundRect">
            <a:avLst/>
          </a:prstGeom>
          <a:solidFill>
            <a:srgbClr val="152326"/>
          </a:solidFill>
          <a:ln w="15240">
            <a:solidFill>
              <a:srgbClr val="3F5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FAB0D288-B053-4B8F-3207-A17D642B8BE7}"/>
              </a:ext>
            </a:extLst>
          </p:cNvPr>
          <p:cNvSpPr txBox="1"/>
          <p:nvPr/>
        </p:nvSpPr>
        <p:spPr>
          <a:xfrm>
            <a:off x="3530600" y="7137400"/>
            <a:ext cx="91948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300" b="1">
                <a:solidFill>
                  <a:srgbClr val="14B8A6"/>
                </a:solidFill>
                <a:latin typeface="Cascadia Mono" panose="020B0609020000020004" pitchFamily="49" charset="0"/>
              </a:rPr>
              <a:t>WEEK 8</a:t>
            </a:r>
            <a:endParaRPr lang="zh-CN" altLang="en-US" sz="1300" b="1">
              <a:solidFill>
                <a:srgbClr val="14B8A6"/>
              </a:solidFill>
              <a:latin typeface="Cascadia Mono" panose="020B0609020000020004" pitchFamily="49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7395594-8E5F-AFDC-FB92-BAF8BB70847A}"/>
              </a:ext>
            </a:extLst>
          </p:cNvPr>
          <p:cNvSpPr txBox="1"/>
          <p:nvPr/>
        </p:nvSpPr>
        <p:spPr>
          <a:xfrm>
            <a:off x="3530600" y="7442200"/>
            <a:ext cx="91948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000" b="1">
                <a:solidFill>
                  <a:srgbClr val="F8FAFC"/>
                </a:solidFill>
                <a:latin typeface="Aptos Display" panose="020B0004020202020204" pitchFamily="34" charset="0"/>
              </a:rPr>
              <a:t>Mixed-method integration</a:t>
            </a:r>
            <a:endParaRPr lang="zh-CN" altLang="en-US" sz="2000" b="1">
              <a:solidFill>
                <a:srgbClr val="F8FAFC"/>
              </a:solidFill>
              <a:latin typeface="Aptos Display" panose="020B00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B99E08E-ED96-16A0-E06E-C52D1F1F5ADB}"/>
              </a:ext>
            </a:extLst>
          </p:cNvPr>
          <p:cNvSpPr txBox="1"/>
          <p:nvPr/>
        </p:nvSpPr>
        <p:spPr>
          <a:xfrm>
            <a:off x="3530600" y="7848600"/>
            <a:ext cx="91948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400">
                <a:solidFill>
                  <a:srgbClr val="DDE7E9"/>
                </a:solidFill>
                <a:latin typeface="Aptos" panose="020B0004020202020204" pitchFamily="34" charset="0"/>
              </a:rPr>
              <a:t>We combine survey direction, qualitative evidence interpretation, secondary sources, and the live prototype into one actionable recommendation.</a:t>
            </a:r>
            <a:endParaRPr lang="zh-CN" altLang="en-US" sz="1400">
              <a:solidFill>
                <a:srgbClr val="DDE7E9"/>
              </a:solidFill>
              <a:latin typeface="Aptos" panose="020B00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7780FAC1-349E-D1A9-AD08-2B4EA565A236}"/>
              </a:ext>
            </a:extLst>
          </p:cNvPr>
          <p:cNvSpPr txBox="1"/>
          <p:nvPr/>
        </p:nvSpPr>
        <p:spPr>
          <a:xfrm>
            <a:off x="660400" y="8737600"/>
            <a:ext cx="9652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200">
                <a:solidFill>
                  <a:srgbClr val="B7C5C9"/>
                </a:solidFill>
                <a:latin typeface="Cascadia Mono" panose="020B0609020000020004" pitchFamily="49" charset="0"/>
              </a:rPr>
              <a:t>Oasis Finder | Course application evidence | Source: ENT_</a:t>
            </a:r>
            <a:r>
              <a:rPr lang="zh-CN" altLang="en-US" sz="1200">
                <a:solidFill>
                  <a:srgbClr val="B7C5C9"/>
                </a:solidFill>
                <a:latin typeface="Cascadia Mono" panose="020B0609020000020004" pitchFamily="49" charset="0"/>
              </a:rPr>
              <a:t>结构化知识点整理</a:t>
            </a:r>
            <a:r>
              <a:rPr lang="en-US" altLang="zh-CN" sz="1200">
                <a:solidFill>
                  <a:srgbClr val="B7C5C9"/>
                </a:solidFill>
                <a:latin typeface="Cascadia Mono" panose="020B0609020000020004" pitchFamily="49" charset="0"/>
              </a:rPr>
              <a:t>_</a:t>
            </a:r>
            <a:r>
              <a:rPr lang="zh-CN" altLang="en-US" sz="1200">
                <a:solidFill>
                  <a:srgbClr val="B7C5C9"/>
                </a:solidFill>
                <a:latin typeface="Cascadia Mono" panose="020B0609020000020004" pitchFamily="49" charset="0"/>
              </a:rPr>
              <a:t>重构版</a:t>
            </a:r>
            <a:r>
              <a:rPr lang="en-US" altLang="zh-CN" sz="1200">
                <a:solidFill>
                  <a:srgbClr val="B7C5C9"/>
                </a:solidFill>
                <a:latin typeface="Cascadia Mono" panose="020B0609020000020004" pitchFamily="49" charset="0"/>
              </a:rPr>
              <a:t>.docx</a:t>
            </a:r>
            <a:endParaRPr lang="zh-CN" altLang="en-US" sz="1200">
              <a:solidFill>
                <a:srgbClr val="B7C5C9"/>
              </a:solidFill>
              <a:latin typeface="Cascadia Mono" panose="020B0609020000020004" pitchFamily="49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5A10BC4A-8075-00B9-657A-397E5C943430}"/>
              </a:ext>
            </a:extLst>
          </p:cNvPr>
          <p:cNvSpPr txBox="1"/>
          <p:nvPr/>
        </p:nvSpPr>
        <p:spPr>
          <a:xfrm>
            <a:off x="14224000" y="304800"/>
            <a:ext cx="1397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zh-CN" sz="1600" b="1">
                <a:solidFill>
                  <a:srgbClr val="B7C5C9"/>
                </a:solidFill>
                <a:latin typeface="Cascadia Mono" panose="020B0609020000020004" pitchFamily="49" charset="0"/>
              </a:rPr>
              <a:t>02 / 10</a:t>
            </a:r>
            <a:endParaRPr lang="zh-CN" altLang="en-US" sz="1600" b="1">
              <a:solidFill>
                <a:srgbClr val="B7C5C9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3667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FDDC667C-E5DD-48E3-9303-6C5BD682162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8AA4DEB-72C0-498A-98B3-4221B3DFB5C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3601F3B-B132-4552-BAF9-80CC5AD488BD}"/>
              </a:ext>
            </a:extLst>
          </p:cNvPr>
          <p:cNvSpPr>
            <a:spLocks noGrp="1"/>
          </p:cNvSpPr>
          <p:nvPr/>
        </p:nvSpPr>
        <p:spPr>
          <a:xfrm>
            <a:off x="495300" y="228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86EFAC"/>
                </a:solidFill>
              </a:defRPr>
            </a:pPr>
            <a:r>
              <a:rPr sz="1200" b="1">
                <a:solidFill>
                  <a:srgbClr val="86EFAC"/>
                </a:solidFill>
              </a:rPr>
              <a:t>OASIS FINDER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41F95C1-E211-4A48-A51B-F7139635E066}"/>
              </a:ext>
            </a:extLst>
          </p:cNvPr>
          <p:cNvSpPr>
            <a:spLocks noGrp="1"/>
          </p:cNvSpPr>
          <p:nvPr/>
        </p:nvSpPr>
        <p:spPr>
          <a:xfrm>
            <a:off x="2628900" y="228600"/>
            <a:ext cx="476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B7C5C9"/>
                </a:solidFill>
              </a:defRPr>
            </a:pPr>
            <a:r>
              <a:rPr sz="1200" b="1">
                <a:solidFill>
                  <a:srgbClr val="B7C5C9"/>
                </a:solidFill>
              </a:rPr>
              <a:t>CUSTOMER METHOD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D8102A4-243F-45A1-BBD2-840384E15DBA}"/>
              </a:ext>
            </a:extLst>
          </p:cNvPr>
          <p:cNvSpPr>
            <a:spLocks noGrp="1"/>
          </p:cNvSpPr>
          <p:nvPr/>
        </p:nvSpPr>
        <p:spPr>
          <a:xfrm>
            <a:off x="10668000" y="228600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B7C5C9"/>
                </a:solidFill>
              </a:defRPr>
            </a:pPr>
            <a:r>
              <a:rPr lang="en-US" altLang="zh-CN" sz="1200" b="1">
                <a:solidFill>
                  <a:srgbClr val="B7C5C9"/>
                </a:solidFill>
              </a:rPr>
              <a:t>03 / 10</a:t>
            </a:r>
            <a:endParaRPr sz="1200" b="1">
              <a:solidFill>
                <a:srgbClr val="B7C5C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9908C48-C241-492D-9D01-809A81CF9920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1201400" cy="19050"/>
          </a:xfrm>
          <a:prstGeom prst="rect">
            <a:avLst/>
          </a:prstGeom>
          <a:solidFill>
            <a:srgbClr val="3F555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67EA3C-1D2A-4D82-BB07-03A17F4EA862}"/>
              </a:ext>
            </a:extLst>
          </p:cNvPr>
          <p:cNvSpPr>
            <a:spLocks noGrp="1"/>
          </p:cNvSpPr>
          <p:nvPr/>
        </p:nvSpPr>
        <p:spPr>
          <a:xfrm>
            <a:off x="495300" y="933450"/>
            <a:ext cx="647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9367"/>
          </a:bodyPr>
          <a:lstStyle/>
          <a:p>
            <a:pPr algn="l">
              <a:defRPr sz="3300" b="1">
                <a:solidFill>
                  <a:srgbClr val="F8FAFC"/>
                </a:solidFill>
              </a:defRPr>
            </a:pPr>
            <a:r>
              <a:rPr sz="3300" b="1">
                <a:solidFill>
                  <a:srgbClr val="F8FAFC"/>
                </a:solidFill>
              </a:rPr>
              <a:t>The user experience is intentionally simple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CB41AAD-D2F2-4BBF-B59D-C76D39A82FAA}"/>
              </a:ext>
            </a:extLst>
          </p:cNvPr>
          <p:cNvSpPr>
            <a:spLocks noGrp="1"/>
          </p:cNvSpPr>
          <p:nvPr/>
        </p:nvSpPr>
        <p:spPr>
          <a:xfrm>
            <a:off x="495300" y="2000250"/>
            <a:ext cx="6477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DDE7E9"/>
                </a:solidFill>
              </a:defRPr>
            </a:pPr>
            <a:r>
              <a:rPr sz="1650" b="0">
                <a:solidFill>
                  <a:srgbClr val="DDE7E9"/>
                </a:solidFill>
              </a:rPr>
              <a:t>Like a Hema or Sam's Club product page: product first, evidence second, technical graph only when the user asks for it.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8890449-0151-4A2D-82FC-26F3F539D1FB}"/>
              </a:ext>
            </a:extLst>
          </p:cNvPr>
          <p:cNvSpPr>
            <a:spLocks noGrp="1"/>
          </p:cNvSpPr>
          <p:nvPr/>
        </p:nvSpPr>
        <p:spPr>
          <a:xfrm>
            <a:off x="666750" y="2933700"/>
            <a:ext cx="34290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55109D1-1065-4589-B0F2-2A3EB21EF1B9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86EFA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CD042D8-7B26-40F4-84D0-A7964A1F0279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1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511FC0C-A9C6-469A-ACF4-7B7138F575FA}"/>
              </a:ext>
            </a:extLst>
          </p:cNvPr>
          <p:cNvSpPr>
            <a:spLocks noGrp="1"/>
          </p:cNvSpPr>
          <p:nvPr/>
        </p:nvSpPr>
        <p:spPr>
          <a:xfrm>
            <a:off x="1333500" y="3086100"/>
            <a:ext cx="25527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Choose a product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CD76A30-4453-4B57-A821-255470F74586}"/>
              </a:ext>
            </a:extLst>
          </p:cNvPr>
          <p:cNvSpPr>
            <a:spLocks noGrp="1"/>
          </p:cNvSpPr>
          <p:nvPr/>
        </p:nvSpPr>
        <p:spPr>
          <a:xfrm>
            <a:off x="1333500" y="3429000"/>
            <a:ext cx="25527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Users start from name, category, price, and proof score.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787FD651-1CF4-4638-A9D1-D47F02A373E3}"/>
              </a:ext>
            </a:extLst>
          </p:cNvPr>
          <p:cNvSpPr>
            <a:spLocks noGrp="1"/>
          </p:cNvSpPr>
          <p:nvPr/>
        </p:nvSpPr>
        <p:spPr>
          <a:xfrm>
            <a:off x="4381500" y="2933700"/>
            <a:ext cx="34290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B40F2A62-BBAF-42C3-B3E3-65B10970095D}"/>
              </a:ext>
            </a:extLst>
          </p:cNvPr>
          <p:cNvSpPr>
            <a:spLocks noGrp="1"/>
          </p:cNvSpPr>
          <p:nvPr/>
        </p:nvSpPr>
        <p:spPr>
          <a:xfrm>
            <a:off x="4552950" y="310515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67E8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76B1CB7-5587-46B6-9BCA-E3F64B93C5A5}"/>
              </a:ext>
            </a:extLst>
          </p:cNvPr>
          <p:cNvSpPr>
            <a:spLocks noGrp="1"/>
          </p:cNvSpPr>
          <p:nvPr/>
        </p:nvSpPr>
        <p:spPr>
          <a:xfrm>
            <a:off x="4552950" y="315277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2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89400D3-DEB7-42B9-849D-EB438AF8A397}"/>
              </a:ext>
            </a:extLst>
          </p:cNvPr>
          <p:cNvSpPr>
            <a:spLocks noGrp="1"/>
          </p:cNvSpPr>
          <p:nvPr/>
        </p:nvSpPr>
        <p:spPr>
          <a:xfrm>
            <a:off x="5048250" y="3086100"/>
            <a:ext cx="25527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Split into modules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6BF4D3A-B931-49EB-B833-2B21831AE60E}"/>
              </a:ext>
            </a:extLst>
          </p:cNvPr>
          <p:cNvSpPr>
            <a:spLocks noGrp="1"/>
          </p:cNvSpPr>
          <p:nvPr/>
        </p:nvSpPr>
        <p:spPr>
          <a:xfrm>
            <a:off x="5048250" y="3429000"/>
            <a:ext cx="25527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75221"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Cake becomes cake base and cream; meat becomes input, packaging, QR label, and cold-chain pack.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6848160A-3C18-4486-B212-A64E3C162687}"/>
              </a:ext>
            </a:extLst>
          </p:cNvPr>
          <p:cNvSpPr>
            <a:spLocks noGrp="1"/>
          </p:cNvSpPr>
          <p:nvPr/>
        </p:nvSpPr>
        <p:spPr>
          <a:xfrm>
            <a:off x="8096250" y="2933700"/>
            <a:ext cx="34290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9F576F72-4FC2-48F1-8840-CB1E6B5006FD}"/>
              </a:ext>
            </a:extLst>
          </p:cNvPr>
          <p:cNvSpPr>
            <a:spLocks noGrp="1"/>
          </p:cNvSpPr>
          <p:nvPr/>
        </p:nvSpPr>
        <p:spPr>
          <a:xfrm>
            <a:off x="8267700" y="310515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FBBF2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6E98024-1D18-4A3D-8FC7-7B8803F0F88B}"/>
              </a:ext>
            </a:extLst>
          </p:cNvPr>
          <p:cNvSpPr>
            <a:spLocks noGrp="1"/>
          </p:cNvSpPr>
          <p:nvPr/>
        </p:nvSpPr>
        <p:spPr>
          <a:xfrm>
            <a:off x="8267700" y="315277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3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0B577F2-AB79-436E-AF8B-053550B39674}"/>
              </a:ext>
            </a:extLst>
          </p:cNvPr>
          <p:cNvSpPr>
            <a:spLocks noGrp="1"/>
          </p:cNvSpPr>
          <p:nvPr/>
        </p:nvSpPr>
        <p:spPr>
          <a:xfrm>
            <a:off x="8763000" y="3086100"/>
            <a:ext cx="25527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Inspect the route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7C04229-C5B4-4258-A242-870D9199C691}"/>
              </a:ext>
            </a:extLst>
          </p:cNvPr>
          <p:cNvSpPr>
            <a:spLocks noGrp="1"/>
          </p:cNvSpPr>
          <p:nvPr/>
        </p:nvSpPr>
        <p:spPr>
          <a:xfrm>
            <a:off x="8763000" y="3429000"/>
            <a:ext cx="25527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79662"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Click a component to switch from whole-product supply chain to module-level supply chain.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3178BC0-06CF-47C8-A006-871130D5C813}"/>
              </a:ext>
            </a:extLst>
          </p:cNvPr>
          <p:cNvSpPr>
            <a:spLocks noGrp="1"/>
          </p:cNvSpPr>
          <p:nvPr/>
        </p:nvSpPr>
        <p:spPr>
          <a:xfrm>
            <a:off x="1238250" y="4610100"/>
            <a:ext cx="9715500" cy="952500"/>
          </a:xfrm>
          <a:prstGeom prst="roundRect">
            <a:avLst>
              <a:gd name="adj" fmla="val 8000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31EB6FD-5236-45F4-BE1F-1DB4FA54499D}"/>
              </a:ext>
            </a:extLst>
          </p:cNvPr>
          <p:cNvSpPr>
            <a:spLocks noGrp="1"/>
          </p:cNvSpPr>
          <p:nvPr/>
        </p:nvSpPr>
        <p:spPr>
          <a:xfrm>
            <a:off x="1657350" y="4857750"/>
            <a:ext cx="88582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2160"/>
          </a:bodyPr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rPr sz="1800" b="1">
                <a:solidFill>
                  <a:srgbClr val="F8FAFC"/>
                </a:solidFill>
              </a:rPr>
              <a:t>Plain-language promise: customers do not need to understand databases. They only need to see where the product came from, when it moved, and why it is safe enough to buy.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27A2889-54FA-4044-B282-7DE87A321DDF}"/>
              </a:ext>
            </a:extLst>
          </p:cNvPr>
          <p:cNvSpPr>
            <a:spLocks noGrp="1"/>
          </p:cNvSpPr>
          <p:nvPr/>
        </p:nvSpPr>
        <p:spPr>
          <a:xfrm>
            <a:off x="495300" y="65532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7C5C9"/>
                </a:solidFill>
              </a:defRPr>
            </a:pPr>
            <a:r>
              <a:rPr sz="900" b="0">
                <a:solidFill>
                  <a:srgbClr val="B7C5C9"/>
                </a:solidFill>
              </a:rPr>
              <a:t>Oasis Finder | Group 9 | Rui Huang and Zixiu Wang</a:t>
            </a:r>
          </a:p>
        </p:txBody>
      </p:sp>
    </p:spTree>
    <p:extLst>
      <p:ext uri="{BB962C8B-B14F-4D97-AF65-F5344CB8AC3E}">
        <p14:creationId xmlns:p14="http://schemas.microsoft.com/office/powerpoint/2010/main" val="1255694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lide Number Placeholder 5">
            <a:extLst>
              <a:ext uri="{FF2B5EF4-FFF2-40B4-BE49-F238E27FC236}">
                <a16:creationId xmlns:a16="http://schemas.microsoft.com/office/drawing/2014/main" id="{FDDC667C-E5DD-48E3-9303-6C5BD682162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394092-83DF-4A19-8526-CB81B4DA02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36AC678-23D2-4407-846B-443CD5883FF6}"/>
              </a:ext>
            </a:extLst>
          </p:cNvPr>
          <p:cNvSpPr>
            <a:spLocks noGrp="1"/>
          </p:cNvSpPr>
          <p:nvPr/>
        </p:nvSpPr>
        <p:spPr>
          <a:xfrm>
            <a:off x="495300" y="228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86EFAC"/>
                </a:solidFill>
              </a:defRPr>
            </a:pPr>
            <a:r>
              <a:rPr sz="1200" b="1">
                <a:solidFill>
                  <a:srgbClr val="86EFAC"/>
                </a:solidFill>
              </a:rPr>
              <a:t>OASIS FINDER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3034B4-3BB5-40BF-A628-38AEB6DA487B}"/>
              </a:ext>
            </a:extLst>
          </p:cNvPr>
          <p:cNvSpPr>
            <a:spLocks noGrp="1"/>
          </p:cNvSpPr>
          <p:nvPr/>
        </p:nvSpPr>
        <p:spPr>
          <a:xfrm>
            <a:off x="2628900" y="228600"/>
            <a:ext cx="476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B7C5C9"/>
                </a:solidFill>
              </a:defRPr>
            </a:pPr>
            <a:r>
              <a:rPr sz="1200" b="1">
                <a:solidFill>
                  <a:srgbClr val="B7C5C9"/>
                </a:solidFill>
              </a:rPr>
              <a:t>BROWSER ARCHITECTURE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9A0862-B15E-4557-AD09-74392B747389}"/>
              </a:ext>
            </a:extLst>
          </p:cNvPr>
          <p:cNvSpPr>
            <a:spLocks noGrp="1"/>
          </p:cNvSpPr>
          <p:nvPr/>
        </p:nvSpPr>
        <p:spPr>
          <a:xfrm>
            <a:off x="10668000" y="228600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B7C5C9"/>
                </a:solidFill>
              </a:defRPr>
            </a:pPr>
            <a:r>
              <a:rPr lang="en-US" altLang="zh-CN" sz="1200" b="1">
                <a:solidFill>
                  <a:srgbClr val="B7C5C9"/>
                </a:solidFill>
              </a:rPr>
              <a:t>04 / 10</a:t>
            </a:r>
            <a:endParaRPr sz="1200" b="1">
              <a:solidFill>
                <a:srgbClr val="B7C5C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6D0E4E1-8636-49E3-827C-4D4DE67EBE06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1201400" cy="19050"/>
          </a:xfrm>
          <a:prstGeom prst="rect">
            <a:avLst/>
          </a:prstGeom>
          <a:solidFill>
            <a:srgbClr val="3F555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EA999F-33BC-41C3-8136-20F09D67216A}"/>
              </a:ext>
            </a:extLst>
          </p:cNvPr>
          <p:cNvSpPr>
            <a:spLocks noGrp="1"/>
          </p:cNvSpPr>
          <p:nvPr/>
        </p:nvSpPr>
        <p:spPr>
          <a:xfrm>
            <a:off x="495300" y="876300"/>
            <a:ext cx="657225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9367"/>
          </a:bodyPr>
          <a:lstStyle/>
          <a:p>
            <a:pPr algn="l">
              <a:defRPr sz="3300" b="1">
                <a:solidFill>
                  <a:srgbClr val="F8FAFC"/>
                </a:solidFill>
              </a:defRPr>
            </a:pPr>
            <a:r>
              <a:rPr sz="3300" b="1">
                <a:solidFill>
                  <a:srgbClr val="F8FAFC"/>
                </a:solidFill>
              </a:rPr>
              <a:t>PySide6 is now only a one-switch launcher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A975C37-55DE-4162-8847-997BC141E0D9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65722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DDE7E9"/>
                </a:solidFill>
              </a:defRPr>
            </a:pPr>
            <a:r>
              <a:rPr sz="1650" b="0">
                <a:solidFill>
                  <a:srgbClr val="DDE7E9"/>
                </a:solidFill>
              </a:rPr>
              <a:t>The real product is a browser system: bilingual customer frontend, merchant backend, FastAPI service, and MySQL digital twin.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rcRect t="597" b="597"/>
          <a:stretch>
            <a:fillRect/>
          </a:stretch>
        </p:blipFill>
        <p:spPr>
          <a:xfrm>
            <a:off x="8286750" y="876300"/>
            <a:ext cx="2952750" cy="1866900"/>
          </a:xfrm>
          <a:prstGeom prst="rect">
            <a:avLst/>
          </a:prstGeom>
        </p:spPr>
      </p:pic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336654C-6BD9-477E-B6D6-4BE971A989CB}"/>
              </a:ext>
            </a:extLst>
          </p:cNvPr>
          <p:cNvSpPr>
            <a:spLocks noGrp="1"/>
          </p:cNvSpPr>
          <p:nvPr/>
        </p:nvSpPr>
        <p:spPr>
          <a:xfrm>
            <a:off x="857250" y="3048000"/>
            <a:ext cx="2190750" cy="1485900"/>
          </a:xfrm>
          <a:prstGeom prst="roundRect">
            <a:avLst>
              <a:gd name="adj" fmla="val 5128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5BC7349-A343-45C2-9132-0FAF2D758AC6}"/>
              </a:ext>
            </a:extLst>
          </p:cNvPr>
          <p:cNvSpPr>
            <a:spLocks noGrp="1"/>
          </p:cNvSpPr>
          <p:nvPr/>
        </p:nvSpPr>
        <p:spPr>
          <a:xfrm>
            <a:off x="1028700" y="3219450"/>
            <a:ext cx="18478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PySide6 switch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D1A083C-1806-45FF-91F4-6C99131C4537}"/>
              </a:ext>
            </a:extLst>
          </p:cNvPr>
          <p:cNvSpPr>
            <a:spLocks noGrp="1"/>
          </p:cNvSpPr>
          <p:nvPr/>
        </p:nvSpPr>
        <p:spPr>
          <a:xfrm>
            <a:off x="1028700" y="3752850"/>
            <a:ext cx="18478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9589"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red by default</a:t>
            </a:r>
          </a:p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turns green and opens browser</a:t>
            </a:r>
          </a:p>
        </p:txBody>
      </p:sp>
      <p:sp>
        <p:nvSpPr>
          <p:cNvPr id="13" name="箭头: 右 12">
            <a:extLst>
              <a:ext uri="{FF2B5EF4-FFF2-40B4-BE49-F238E27FC236}">
                <a16:creationId xmlns:a16="http://schemas.microsoft.com/office/drawing/2014/main" id="{90A32BAE-6C40-4CE7-A0A4-D0254C1ADC81}"/>
              </a:ext>
            </a:extLst>
          </p:cNvPr>
          <p:cNvSpPr>
            <a:spLocks noGrp="1"/>
          </p:cNvSpPr>
          <p:nvPr/>
        </p:nvSpPr>
        <p:spPr>
          <a:xfrm>
            <a:off x="3124200" y="3600450"/>
            <a:ext cx="495300" cy="361950"/>
          </a:xfrm>
          <a:prstGeom prst="rightArrow">
            <a:avLst/>
          </a:prstGeom>
          <a:solidFill>
            <a:srgbClr val="14B8A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DF19D6F-36B6-4109-85CC-FB6C61364A6A}"/>
              </a:ext>
            </a:extLst>
          </p:cNvPr>
          <p:cNvSpPr>
            <a:spLocks noGrp="1"/>
          </p:cNvSpPr>
          <p:nvPr/>
        </p:nvSpPr>
        <p:spPr>
          <a:xfrm>
            <a:off x="3638550" y="3048000"/>
            <a:ext cx="2190750" cy="1485900"/>
          </a:xfrm>
          <a:prstGeom prst="roundRect">
            <a:avLst>
              <a:gd name="adj" fmla="val 5128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D00F7A4-9411-4E9E-8A01-8F89C213880D}"/>
              </a:ext>
            </a:extLst>
          </p:cNvPr>
          <p:cNvSpPr>
            <a:spLocks noGrp="1"/>
          </p:cNvSpPr>
          <p:nvPr/>
        </p:nvSpPr>
        <p:spPr>
          <a:xfrm>
            <a:off x="3810000" y="3219450"/>
            <a:ext cx="18478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1">
                <a:solidFill>
                  <a:srgbClr val="67E8F9"/>
                </a:solidFill>
              </a:defRPr>
            </a:pPr>
            <a:r>
              <a:rPr sz="1725" b="1">
                <a:solidFill>
                  <a:srgbClr val="67E8F9"/>
                </a:solidFill>
              </a:rPr>
              <a:t>FastAPI service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09425E0-C834-495A-896C-0B0EEC5BDD09}"/>
              </a:ext>
            </a:extLst>
          </p:cNvPr>
          <p:cNvSpPr>
            <a:spLocks noGrp="1"/>
          </p:cNvSpPr>
          <p:nvPr/>
        </p:nvSpPr>
        <p:spPr>
          <a:xfrm>
            <a:off x="3810000" y="3752850"/>
            <a:ext cx="18478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serves API + built React</a:t>
            </a:r>
          </a:p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WebSocket live broadcast</a:t>
            </a:r>
          </a:p>
        </p:txBody>
      </p:sp>
      <p:sp>
        <p:nvSpPr>
          <p:cNvPr id="17" name="箭头: 右 16">
            <a:extLst>
              <a:ext uri="{FF2B5EF4-FFF2-40B4-BE49-F238E27FC236}">
                <a16:creationId xmlns:a16="http://schemas.microsoft.com/office/drawing/2014/main" id="{A3D9C472-F204-405A-A16A-51E202088602}"/>
              </a:ext>
            </a:extLst>
          </p:cNvPr>
          <p:cNvSpPr>
            <a:spLocks noGrp="1"/>
          </p:cNvSpPr>
          <p:nvPr/>
        </p:nvSpPr>
        <p:spPr>
          <a:xfrm>
            <a:off x="5905500" y="3600450"/>
            <a:ext cx="495300" cy="361950"/>
          </a:xfrm>
          <a:prstGeom prst="rightArrow">
            <a:avLst/>
          </a:prstGeom>
          <a:solidFill>
            <a:srgbClr val="67E8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E10E47A2-741E-473C-BBFA-35D51CD2ADC9}"/>
              </a:ext>
            </a:extLst>
          </p:cNvPr>
          <p:cNvSpPr>
            <a:spLocks noGrp="1"/>
          </p:cNvSpPr>
          <p:nvPr/>
        </p:nvSpPr>
        <p:spPr>
          <a:xfrm>
            <a:off x="6419850" y="3048000"/>
            <a:ext cx="2190750" cy="1485900"/>
          </a:xfrm>
          <a:prstGeom prst="roundRect">
            <a:avLst>
              <a:gd name="adj" fmla="val 5128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6FF8046-A96B-4863-8908-96D7590EF8F8}"/>
              </a:ext>
            </a:extLst>
          </p:cNvPr>
          <p:cNvSpPr>
            <a:spLocks noGrp="1"/>
          </p:cNvSpPr>
          <p:nvPr/>
        </p:nvSpPr>
        <p:spPr>
          <a:xfrm>
            <a:off x="6591300" y="3219450"/>
            <a:ext cx="18478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1">
                <a:solidFill>
                  <a:srgbClr val="FBBF24"/>
                </a:solidFill>
              </a:defRPr>
            </a:pPr>
            <a:r>
              <a:rPr sz="1725" b="1">
                <a:solidFill>
                  <a:srgbClr val="FBBF24"/>
                </a:solidFill>
              </a:rPr>
              <a:t>MySQL digital twin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1B01A30-111A-4DDE-A0E6-A41FF3945E51}"/>
              </a:ext>
            </a:extLst>
          </p:cNvPr>
          <p:cNvSpPr>
            <a:spLocks noGrp="1"/>
          </p:cNvSpPr>
          <p:nvPr/>
        </p:nvSpPr>
        <p:spPr>
          <a:xfrm>
            <a:off x="6591300" y="3752850"/>
            <a:ext cx="18478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products, batches, lots</a:t>
            </a:r>
          </a:p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shipments, risk, inspections</a:t>
            </a:r>
          </a:p>
        </p:txBody>
      </p:sp>
      <p:sp>
        <p:nvSpPr>
          <p:cNvPr id="21" name="箭头: 右 20">
            <a:extLst>
              <a:ext uri="{FF2B5EF4-FFF2-40B4-BE49-F238E27FC236}">
                <a16:creationId xmlns:a16="http://schemas.microsoft.com/office/drawing/2014/main" id="{FDF5C2AA-EDD3-4B75-A326-FFB80DDBA513}"/>
              </a:ext>
            </a:extLst>
          </p:cNvPr>
          <p:cNvSpPr>
            <a:spLocks noGrp="1"/>
          </p:cNvSpPr>
          <p:nvPr/>
        </p:nvSpPr>
        <p:spPr>
          <a:xfrm>
            <a:off x="8686800" y="3600450"/>
            <a:ext cx="495300" cy="361950"/>
          </a:xfrm>
          <a:prstGeom prst="rightArrow">
            <a:avLst/>
          </a:prstGeom>
          <a:solidFill>
            <a:srgbClr val="FBBF2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26B5F30C-04A9-425B-AE57-DD943B6C5CAA}"/>
              </a:ext>
            </a:extLst>
          </p:cNvPr>
          <p:cNvSpPr>
            <a:spLocks noGrp="1"/>
          </p:cNvSpPr>
          <p:nvPr/>
        </p:nvSpPr>
        <p:spPr>
          <a:xfrm>
            <a:off x="9201150" y="3048000"/>
            <a:ext cx="2190750" cy="1485900"/>
          </a:xfrm>
          <a:prstGeom prst="roundRect">
            <a:avLst>
              <a:gd name="adj" fmla="val 5128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9ED5613-71B6-46A3-BCE6-3889ACB6CB59}"/>
              </a:ext>
            </a:extLst>
          </p:cNvPr>
          <p:cNvSpPr>
            <a:spLocks noGrp="1"/>
          </p:cNvSpPr>
          <p:nvPr/>
        </p:nvSpPr>
        <p:spPr>
          <a:xfrm>
            <a:off x="9372600" y="3219450"/>
            <a:ext cx="18478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1">
                <a:solidFill>
                  <a:srgbClr val="86EFAC"/>
                </a:solidFill>
              </a:defRPr>
            </a:pPr>
            <a:r>
              <a:rPr sz="1725" b="1">
                <a:solidFill>
                  <a:srgbClr val="86EFAC"/>
                </a:solidFill>
              </a:rPr>
              <a:t>Bilingual browser UI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C423F27-5804-4ABE-99AF-AC0A817DD7C9}"/>
              </a:ext>
            </a:extLst>
          </p:cNvPr>
          <p:cNvSpPr>
            <a:spLocks noGrp="1"/>
          </p:cNvSpPr>
          <p:nvPr/>
        </p:nvSpPr>
        <p:spPr>
          <a:xfrm>
            <a:off x="9372600" y="3752850"/>
            <a:ext cx="18478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9589"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Chinese / English</a:t>
            </a:r>
          </a:p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customer page + admin page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2ED753A6-7135-48C8-B45D-AE5C2B2772F8}"/>
              </a:ext>
            </a:extLst>
          </p:cNvPr>
          <p:cNvSpPr>
            <a:spLocks noGrp="1"/>
          </p:cNvSpPr>
          <p:nvPr/>
        </p:nvSpPr>
        <p:spPr>
          <a:xfrm>
            <a:off x="1466850" y="5143500"/>
            <a:ext cx="2571750" cy="1047750"/>
          </a:xfrm>
          <a:prstGeom prst="roundRect">
            <a:avLst>
              <a:gd name="adj" fmla="val 727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E25AD00-F007-4101-B5FE-DBF86137F76E}"/>
              </a:ext>
            </a:extLst>
          </p:cNvPr>
          <p:cNvSpPr>
            <a:spLocks noGrp="1"/>
          </p:cNvSpPr>
          <p:nvPr/>
        </p:nvSpPr>
        <p:spPr>
          <a:xfrm>
            <a:off x="1638300" y="5295900"/>
            <a:ext cx="2228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67E8F9"/>
                </a:solidFill>
              </a:defRPr>
            </a:pPr>
            <a:r>
              <a:rPr sz="975" b="1">
                <a:solidFill>
                  <a:srgbClr val="67E8F9"/>
                </a:solidFill>
              </a:rPr>
              <a:t>REALTIME CHANNEL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4BAE195-7998-478E-9F75-76EA0DCEC75E}"/>
              </a:ext>
            </a:extLst>
          </p:cNvPr>
          <p:cNvSpPr>
            <a:spLocks noGrp="1"/>
          </p:cNvSpPr>
          <p:nvPr/>
        </p:nvSpPr>
        <p:spPr>
          <a:xfrm>
            <a:off x="1638300" y="5562600"/>
            <a:ext cx="22288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76548"/>
          </a:bodyPr>
          <a:lstStyle/>
          <a:p>
            <a:pPr algn="l">
              <a:defRPr sz="2250" b="1">
                <a:solidFill>
                  <a:srgbClr val="F8FAFC"/>
                </a:solidFill>
              </a:defRPr>
            </a:pPr>
            <a:r>
              <a:rPr sz="2250" b="1">
                <a:solidFill>
                  <a:srgbClr val="F8FAFC"/>
                </a:solidFill>
              </a:rPr>
              <a:t>WebSocket /ws/updates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AA27264-E4F1-49A9-89E5-D9EBCB58C6FB}"/>
              </a:ext>
            </a:extLst>
          </p:cNvPr>
          <p:cNvSpPr>
            <a:spLocks noGrp="1"/>
          </p:cNvSpPr>
          <p:nvPr/>
        </p:nvSpPr>
        <p:spPr>
          <a:xfrm>
            <a:off x="4800600" y="5143500"/>
            <a:ext cx="2571750" cy="1047750"/>
          </a:xfrm>
          <a:prstGeom prst="roundRect">
            <a:avLst>
              <a:gd name="adj" fmla="val 727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763A9D3-ED8A-4891-8F2D-4AA7B2A4B587}"/>
              </a:ext>
            </a:extLst>
          </p:cNvPr>
          <p:cNvSpPr>
            <a:spLocks noGrp="1"/>
          </p:cNvSpPr>
          <p:nvPr/>
        </p:nvSpPr>
        <p:spPr>
          <a:xfrm>
            <a:off x="4972050" y="5295900"/>
            <a:ext cx="2228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BBF24"/>
                </a:solidFill>
              </a:defRPr>
            </a:pPr>
            <a:r>
              <a:rPr sz="975" b="1">
                <a:solidFill>
                  <a:srgbClr val="FBBF24"/>
                </a:solidFill>
              </a:rPr>
              <a:t>BACKEND URL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C020E28-68C6-4EC1-98AC-D000E083F2EA}"/>
              </a:ext>
            </a:extLst>
          </p:cNvPr>
          <p:cNvSpPr>
            <a:spLocks noGrp="1"/>
          </p:cNvSpPr>
          <p:nvPr/>
        </p:nvSpPr>
        <p:spPr>
          <a:xfrm>
            <a:off x="4972050" y="5562600"/>
            <a:ext cx="22288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250" b="1">
                <a:solidFill>
                  <a:srgbClr val="F8FAFC"/>
                </a:solidFill>
              </a:defRPr>
            </a:pPr>
            <a:r>
              <a:rPr sz="2250" b="1">
                <a:solidFill>
                  <a:srgbClr val="F8FAFC"/>
                </a:solidFill>
              </a:rPr>
              <a:t>127.0.0.1:8000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688600DA-37D3-4370-B42A-3E8F8EFB274B}"/>
              </a:ext>
            </a:extLst>
          </p:cNvPr>
          <p:cNvSpPr>
            <a:spLocks noGrp="1"/>
          </p:cNvSpPr>
          <p:nvPr/>
        </p:nvSpPr>
        <p:spPr>
          <a:xfrm>
            <a:off x="8134350" y="5143500"/>
            <a:ext cx="2571750" cy="1047750"/>
          </a:xfrm>
          <a:prstGeom prst="roundRect">
            <a:avLst>
              <a:gd name="adj" fmla="val 727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B8D3BC0-E1AC-4659-9A4D-0FB12AF121B8}"/>
              </a:ext>
            </a:extLst>
          </p:cNvPr>
          <p:cNvSpPr>
            <a:spLocks noGrp="1"/>
          </p:cNvSpPr>
          <p:nvPr/>
        </p:nvSpPr>
        <p:spPr>
          <a:xfrm>
            <a:off x="8305800" y="5295900"/>
            <a:ext cx="2228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BROWSER ROUTE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92D9C99-F9F4-424F-B282-936A1865E2F9}"/>
              </a:ext>
            </a:extLst>
          </p:cNvPr>
          <p:cNvSpPr>
            <a:spLocks noGrp="1"/>
          </p:cNvSpPr>
          <p:nvPr/>
        </p:nvSpPr>
        <p:spPr>
          <a:xfrm>
            <a:off x="8305800" y="5562600"/>
            <a:ext cx="22288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5045"/>
          </a:bodyPr>
          <a:lstStyle/>
          <a:p>
            <a:pPr algn="l">
              <a:defRPr sz="2250" b="1">
                <a:solidFill>
                  <a:srgbClr val="F8FAFC"/>
                </a:solidFill>
              </a:defRPr>
            </a:pPr>
            <a:r>
              <a:rPr sz="2250" b="1">
                <a:solidFill>
                  <a:srgbClr val="F8FAFC"/>
                </a:solidFill>
              </a:rPr>
              <a:t>/?lang=zh or ?lang=en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44CCAD92-DCE2-4DC6-90CB-B11CCE462316}"/>
              </a:ext>
            </a:extLst>
          </p:cNvPr>
          <p:cNvSpPr>
            <a:spLocks noGrp="1"/>
          </p:cNvSpPr>
          <p:nvPr/>
        </p:nvSpPr>
        <p:spPr>
          <a:xfrm>
            <a:off x="495300" y="65532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7C5C9"/>
                </a:solidFill>
              </a:defRPr>
            </a:pPr>
            <a:r>
              <a:rPr sz="900" b="0">
                <a:solidFill>
                  <a:srgbClr val="B7C5C9"/>
                </a:solidFill>
              </a:rPr>
              <a:t>Oasis Finder | Group 9 | Rui Huang and Zixiu Wang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F5AB998-884B-4458-8C1D-4ABEA73333B3}"/>
              </a:ext>
            </a:extLst>
          </p:cNvPr>
          <p:cNvSpPr>
            <a:spLocks noGrp="1"/>
          </p:cNvSpPr>
          <p:nvPr/>
        </p:nvSpPr>
        <p:spPr>
          <a:xfrm>
            <a:off x="6667500" y="6515100"/>
            <a:ext cx="5029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B7C5C9"/>
                </a:solidFill>
              </a:defRPr>
            </a:pPr>
            <a:r>
              <a:rPr sz="825" b="0">
                <a:solidFill>
                  <a:srgbClr val="B7C5C9"/>
                </a:solidFill>
              </a:rPr>
              <a:t>Repository runtime validation, 2026-04-28</a:t>
            </a:r>
          </a:p>
        </p:txBody>
      </p:sp>
      <p:sp>
        <p:nvSpPr>
          <p:cNvPr id="38" name="Open live browser demo">
            <a:hlinkClick r:id="rId4" tooltip="Open Oasis Finder live browser demo"/>
            <a:extLst>
              <a:ext uri="{FF2B5EF4-FFF2-40B4-BE49-F238E27FC236}">
                <a16:creationId xmlns:a16="http://schemas.microsoft.com/office/drawing/2014/main" id="{9C9F7B34-E87C-402F-83DD-2EE2A5EE2775}"/>
              </a:ext>
            </a:extLst>
          </p:cNvPr>
          <p:cNvSpPr/>
          <p:nvPr/>
        </p:nvSpPr>
        <p:spPr>
          <a:xfrm>
            <a:off x="6146800" y="5003800"/>
            <a:ext cx="4826000" cy="736600"/>
          </a:xfrm>
          <a:prstGeom prst="roundRect">
            <a:avLst/>
          </a:prstGeom>
          <a:solidFill>
            <a:srgbClr val="86F9AC"/>
          </a:solidFill>
          <a:ln w="19050">
            <a:solidFill>
              <a:srgbClr val="14B8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76200" rIns="152400" bIns="76200" rtlCol="0" anchor="ctr"/>
          <a:lstStyle/>
          <a:p>
            <a:pPr algn="ctr"/>
            <a:r>
              <a:rPr lang="en-US" altLang="zh-CN" sz="1500" b="1">
                <a:solidFill>
                  <a:srgbClr val="071014"/>
                </a:solidFill>
                <a:latin typeface="Aptos" panose="020B0004020202020204" pitchFamily="34" charset="0"/>
              </a:rPr>
              <a:t>OPEN LIVE BROWSER DEMO</a:t>
            </a:r>
          </a:p>
          <a:p>
            <a:pPr algn="ctr"/>
            <a:r>
              <a:rPr lang="en-US" altLang="zh-CN" sz="1500" b="1">
                <a:solidFill>
                  <a:srgbClr val="071014"/>
                </a:solidFill>
                <a:latin typeface="Aptos" panose="020B0004020202020204" pitchFamily="34" charset="0"/>
              </a:rPr>
              <a:t>http://127.0.0.1:8000</a:t>
            </a:r>
            <a:endParaRPr lang="zh-CN" altLang="en-US" sz="1500" b="1">
              <a:solidFill>
                <a:srgbClr val="07101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111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FDDC667C-E5DD-48E3-9303-6C5BD682162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7CE0EC5-1FDE-4267-A67D-E4407F30F0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8D7B4B7-7E27-4858-863E-F3E4D95D18ED}"/>
              </a:ext>
            </a:extLst>
          </p:cNvPr>
          <p:cNvSpPr>
            <a:spLocks noGrp="1"/>
          </p:cNvSpPr>
          <p:nvPr/>
        </p:nvSpPr>
        <p:spPr>
          <a:xfrm>
            <a:off x="495300" y="228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86EFAC"/>
                </a:solidFill>
              </a:defRPr>
            </a:pPr>
            <a:r>
              <a:rPr sz="1200" b="1">
                <a:solidFill>
                  <a:srgbClr val="86EFAC"/>
                </a:solidFill>
              </a:rPr>
              <a:t>OASIS FINDER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2161F3F-BB11-4889-978A-2EFB9C80622B}"/>
              </a:ext>
            </a:extLst>
          </p:cNvPr>
          <p:cNvSpPr>
            <a:spLocks noGrp="1"/>
          </p:cNvSpPr>
          <p:nvPr/>
        </p:nvSpPr>
        <p:spPr>
          <a:xfrm>
            <a:off x="2628900" y="228600"/>
            <a:ext cx="476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B7C5C9"/>
                </a:solidFill>
              </a:defRPr>
            </a:pPr>
            <a:r>
              <a:rPr sz="1200" b="1">
                <a:solidFill>
                  <a:srgbClr val="B7C5C9"/>
                </a:solidFill>
              </a:rPr>
              <a:t>CUSTOMER FRONTEND WALKTHROUGH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10229A-03D6-4D7C-994B-6A488B1FA8C7}"/>
              </a:ext>
            </a:extLst>
          </p:cNvPr>
          <p:cNvSpPr>
            <a:spLocks noGrp="1"/>
          </p:cNvSpPr>
          <p:nvPr/>
        </p:nvSpPr>
        <p:spPr>
          <a:xfrm>
            <a:off x="10668000" y="228600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B7C5C9"/>
                </a:solidFill>
              </a:defRPr>
            </a:pPr>
            <a:r>
              <a:rPr lang="en-US" altLang="zh-CN" sz="1200" b="1">
                <a:solidFill>
                  <a:srgbClr val="B7C5C9"/>
                </a:solidFill>
              </a:rPr>
              <a:t>05 / 10</a:t>
            </a:r>
            <a:endParaRPr sz="1200" b="1">
              <a:solidFill>
                <a:srgbClr val="B7C5C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F59F35-1892-4E95-9584-EA073E50426B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1201400" cy="19050"/>
          </a:xfrm>
          <a:prstGeom prst="rect">
            <a:avLst/>
          </a:prstGeom>
          <a:solidFill>
            <a:srgbClr val="3F555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0BE81D8-7B01-40FA-9324-BF6426AFD2C8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581025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9367"/>
          </a:bodyPr>
          <a:lstStyle/>
          <a:p>
            <a:pPr algn="l">
              <a:defRPr sz="3300" b="1">
                <a:solidFill>
                  <a:srgbClr val="F8FAFC"/>
                </a:solidFill>
              </a:defRPr>
            </a:pPr>
            <a:r>
              <a:rPr sz="3300" b="1">
                <a:solidFill>
                  <a:srgbClr val="F8FAFC"/>
                </a:solidFill>
              </a:rPr>
              <a:t>Customer frontend: how a shopper uses it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879DA0C-D636-4B98-9C98-FC7D8E9C80F0}"/>
              </a:ext>
            </a:extLst>
          </p:cNvPr>
          <p:cNvSpPr>
            <a:spLocks noGrp="1"/>
          </p:cNvSpPr>
          <p:nvPr/>
        </p:nvSpPr>
        <p:spPr>
          <a:xfrm>
            <a:off x="495300" y="1905000"/>
            <a:ext cx="58102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DDE7E9"/>
                </a:solidFill>
              </a:defRPr>
            </a:pPr>
            <a:r>
              <a:rPr sz="1650" b="0">
                <a:solidFill>
                  <a:srgbClr val="DDE7E9"/>
                </a:solidFill>
              </a:rPr>
              <a:t>The homepage keeps the product shelf for marketing, then opens the inspectable supply-chain route.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rcRect t="19026" b="19026"/>
          <a:stretch>
            <a:fillRect/>
          </a:stretch>
        </p:blipFill>
        <p:spPr>
          <a:xfrm>
            <a:off x="6191250" y="895350"/>
            <a:ext cx="5334000" cy="5048250"/>
          </a:xfrm>
          <a:prstGeom prst="rect">
            <a:avLst/>
          </a:prstGeom>
        </p:spPr>
      </p:pic>
      <p:sp>
        <p:nvSpPr>
          <p:cNvPr id="10" name="矩形: 圆角 9">
            <a:extLst>
              <a:ext uri="{FF2B5EF4-FFF2-40B4-BE49-F238E27FC236}">
                <a16:creationId xmlns:a16="http://schemas.microsoft.com/office/drawing/2014/main" id="{E84A6D60-BDD4-49B7-AA5D-DA4A91C6DFD2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4762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BC6C734-64B7-4B9B-A611-065C4F0F2A99}"/>
              </a:ext>
            </a:extLst>
          </p:cNvPr>
          <p:cNvSpPr>
            <a:spLocks noGrp="1"/>
          </p:cNvSpPr>
          <p:nvPr/>
        </p:nvSpPr>
        <p:spPr>
          <a:xfrm>
            <a:off x="838200" y="302895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86EFA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41962BF-5DB1-41C7-86A5-C714E23FCA3A}"/>
              </a:ext>
            </a:extLst>
          </p:cNvPr>
          <p:cNvSpPr>
            <a:spLocks noGrp="1"/>
          </p:cNvSpPr>
          <p:nvPr/>
        </p:nvSpPr>
        <p:spPr>
          <a:xfrm>
            <a:off x="838200" y="307657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1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A9525E9-D072-48C6-96D1-5E30B81E8E78}"/>
              </a:ext>
            </a:extLst>
          </p:cNvPr>
          <p:cNvSpPr>
            <a:spLocks noGrp="1"/>
          </p:cNvSpPr>
          <p:nvPr/>
        </p:nvSpPr>
        <p:spPr>
          <a:xfrm>
            <a:off x="1333500" y="3009900"/>
            <a:ext cx="3886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Start with product cards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05930C9-8516-4C94-849E-3960F6C2AB6C}"/>
              </a:ext>
            </a:extLst>
          </p:cNvPr>
          <p:cNvSpPr>
            <a:spLocks noGrp="1"/>
          </p:cNvSpPr>
          <p:nvPr/>
        </p:nvSpPr>
        <p:spPr>
          <a:xfrm>
            <a:off x="1333500" y="3352800"/>
            <a:ext cx="3886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Name, category, price, proof score, and simple visual placeholder.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060CDA5F-8840-4116-A14A-FBC6BFBB2E6D}"/>
              </a:ext>
            </a:extLst>
          </p:cNvPr>
          <p:cNvSpPr>
            <a:spLocks noGrp="1"/>
          </p:cNvSpPr>
          <p:nvPr/>
        </p:nvSpPr>
        <p:spPr>
          <a:xfrm>
            <a:off x="666750" y="4095750"/>
            <a:ext cx="4762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5B7B69DF-154E-42D7-AD9E-3F2E2C65B008}"/>
              </a:ext>
            </a:extLst>
          </p:cNvPr>
          <p:cNvSpPr>
            <a:spLocks noGrp="1"/>
          </p:cNvSpPr>
          <p:nvPr/>
        </p:nvSpPr>
        <p:spPr>
          <a:xfrm>
            <a:off x="838200" y="426720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67E8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445C396-EE73-43DE-A988-53F7BB8C6F64}"/>
              </a:ext>
            </a:extLst>
          </p:cNvPr>
          <p:cNvSpPr>
            <a:spLocks noGrp="1"/>
          </p:cNvSpPr>
          <p:nvPr/>
        </p:nvSpPr>
        <p:spPr>
          <a:xfrm>
            <a:off x="838200" y="431482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2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584E1E2-097D-4B94-9100-1DDF63773092}"/>
              </a:ext>
            </a:extLst>
          </p:cNvPr>
          <p:cNvSpPr>
            <a:spLocks noGrp="1"/>
          </p:cNvSpPr>
          <p:nvPr/>
        </p:nvSpPr>
        <p:spPr>
          <a:xfrm>
            <a:off x="1333500" y="4248150"/>
            <a:ext cx="3886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Use Chinese or English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01E7BF7-0D60-46AA-8A5B-93BEB95CA8DD}"/>
              </a:ext>
            </a:extLst>
          </p:cNvPr>
          <p:cNvSpPr>
            <a:spLocks noGrp="1"/>
          </p:cNvSpPr>
          <p:nvPr/>
        </p:nvSpPr>
        <p:spPr>
          <a:xfrm>
            <a:off x="1333500" y="4591050"/>
            <a:ext cx="3886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Language toggle changes the whole webpage, not just one label.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CC185A1E-E83D-4F29-8A3B-F3518030E913}"/>
              </a:ext>
            </a:extLst>
          </p:cNvPr>
          <p:cNvSpPr>
            <a:spLocks noGrp="1"/>
          </p:cNvSpPr>
          <p:nvPr/>
        </p:nvSpPr>
        <p:spPr>
          <a:xfrm>
            <a:off x="666750" y="5334000"/>
            <a:ext cx="4762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886026A7-BAA3-4AB0-8CF2-D9AD6ECCC576}"/>
              </a:ext>
            </a:extLst>
          </p:cNvPr>
          <p:cNvSpPr>
            <a:spLocks noGrp="1"/>
          </p:cNvSpPr>
          <p:nvPr/>
        </p:nvSpPr>
        <p:spPr>
          <a:xfrm>
            <a:off x="838200" y="550545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FBBF2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90513D4-0164-4C97-AEFD-A51914A34A48}"/>
              </a:ext>
            </a:extLst>
          </p:cNvPr>
          <p:cNvSpPr>
            <a:spLocks noGrp="1"/>
          </p:cNvSpPr>
          <p:nvPr/>
        </p:nvSpPr>
        <p:spPr>
          <a:xfrm>
            <a:off x="838200" y="555307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3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904DF06-FE3E-41ED-A0DE-834F986C71D6}"/>
              </a:ext>
            </a:extLst>
          </p:cNvPr>
          <p:cNvSpPr>
            <a:spLocks noGrp="1"/>
          </p:cNvSpPr>
          <p:nvPr/>
        </p:nvSpPr>
        <p:spPr>
          <a:xfrm>
            <a:off x="1333500" y="5486400"/>
            <a:ext cx="3886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Choose SKU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18AF6AE-D9C9-405B-972D-308E14D6CD1D}"/>
              </a:ext>
            </a:extLst>
          </p:cNvPr>
          <p:cNvSpPr>
            <a:spLocks noGrp="1"/>
          </p:cNvSpPr>
          <p:nvPr/>
        </p:nvSpPr>
        <p:spPr>
          <a:xfrm>
            <a:off x="1333500" y="5829300"/>
            <a:ext cx="3886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Changing product reloads the matching route, modules, and evidence.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684F746-D97C-4F74-B38F-6E48D9020D9D}"/>
              </a:ext>
            </a:extLst>
          </p:cNvPr>
          <p:cNvSpPr>
            <a:spLocks noGrp="1"/>
          </p:cNvSpPr>
          <p:nvPr/>
        </p:nvSpPr>
        <p:spPr>
          <a:xfrm>
            <a:off x="495300" y="65532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7C5C9"/>
                </a:solidFill>
              </a:defRPr>
            </a:pPr>
            <a:r>
              <a:rPr sz="900" b="0">
                <a:solidFill>
                  <a:srgbClr val="B7C5C9"/>
                </a:solidFill>
              </a:rPr>
              <a:t>Oasis Finder | Group 9 | Rui Huang and Zixiu Wang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AC8F5B2-34A6-426B-B8F9-34FFF2AD05B5}"/>
              </a:ext>
            </a:extLst>
          </p:cNvPr>
          <p:cNvSpPr>
            <a:spLocks noGrp="1"/>
          </p:cNvSpPr>
          <p:nvPr/>
        </p:nvSpPr>
        <p:spPr>
          <a:xfrm>
            <a:off x="6667500" y="6515100"/>
            <a:ext cx="5029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B7C5C9"/>
                </a:solidFill>
              </a:defRPr>
            </a:pPr>
            <a:r>
              <a:rPr sz="825" b="0">
                <a:solidFill>
                  <a:srgbClr val="B7C5C9"/>
                </a:solidFill>
              </a:rPr>
              <a:t>Live screenshot from local browser frontend</a:t>
            </a:r>
          </a:p>
        </p:txBody>
      </p:sp>
    </p:spTree>
    <p:extLst>
      <p:ext uri="{BB962C8B-B14F-4D97-AF65-F5344CB8AC3E}">
        <p14:creationId xmlns:p14="http://schemas.microsoft.com/office/powerpoint/2010/main" val="935872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FDDC667C-E5DD-48E3-9303-6C5BD682162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3C2C759-CE0E-4538-9367-BA5C3A27F1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EE39BAD-1D42-4851-9A13-4FC605BFCF66}"/>
              </a:ext>
            </a:extLst>
          </p:cNvPr>
          <p:cNvSpPr>
            <a:spLocks noGrp="1"/>
          </p:cNvSpPr>
          <p:nvPr/>
        </p:nvSpPr>
        <p:spPr>
          <a:xfrm>
            <a:off x="495300" y="228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86EFAC"/>
                </a:solidFill>
              </a:defRPr>
            </a:pPr>
            <a:r>
              <a:rPr sz="1200" b="1">
                <a:solidFill>
                  <a:srgbClr val="86EFAC"/>
                </a:solidFill>
              </a:rPr>
              <a:t>OASIS FINDER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AD7910B-18F8-4A03-AF4F-47614EDD278D}"/>
              </a:ext>
            </a:extLst>
          </p:cNvPr>
          <p:cNvSpPr>
            <a:spLocks noGrp="1"/>
          </p:cNvSpPr>
          <p:nvPr/>
        </p:nvSpPr>
        <p:spPr>
          <a:xfrm>
            <a:off x="2628900" y="228600"/>
            <a:ext cx="476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B7C5C9"/>
                </a:solidFill>
              </a:defRPr>
            </a:pPr>
            <a:r>
              <a:rPr sz="1200" b="1">
                <a:solidFill>
                  <a:srgbClr val="B7C5C9"/>
                </a:solidFill>
              </a:rPr>
              <a:t>MODULE ROUTE PROOF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88DF559-4E0A-4AB6-8BB3-7BF522DE804E}"/>
              </a:ext>
            </a:extLst>
          </p:cNvPr>
          <p:cNvSpPr>
            <a:spLocks noGrp="1"/>
          </p:cNvSpPr>
          <p:nvPr/>
        </p:nvSpPr>
        <p:spPr>
          <a:xfrm>
            <a:off x="10668000" y="228600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B7C5C9"/>
                </a:solidFill>
              </a:defRPr>
            </a:pPr>
            <a:r>
              <a:rPr lang="en-US" altLang="zh-CN" sz="1200" b="1">
                <a:solidFill>
                  <a:srgbClr val="B7C5C9"/>
                </a:solidFill>
              </a:rPr>
              <a:t>06 / 10</a:t>
            </a:r>
            <a:endParaRPr sz="1200" b="1">
              <a:solidFill>
                <a:srgbClr val="B7C5C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287608E-D9F7-4586-9CAB-59FDA2FF2D1F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1201400" cy="19050"/>
          </a:xfrm>
          <a:prstGeom prst="rect">
            <a:avLst/>
          </a:prstGeom>
          <a:solidFill>
            <a:srgbClr val="3F555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FC3AD9E-885B-4A0C-84CB-8DCC7E9A123A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4953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9367"/>
          </a:bodyPr>
          <a:lstStyle/>
          <a:p>
            <a:pPr algn="l">
              <a:defRPr sz="3300" b="1">
                <a:solidFill>
                  <a:srgbClr val="F8FAFC"/>
                </a:solidFill>
              </a:defRPr>
            </a:pPr>
            <a:r>
              <a:rPr sz="3300" b="1">
                <a:solidFill>
                  <a:srgbClr val="F8FAFC"/>
                </a:solidFill>
              </a:rPr>
              <a:t>Click a component, then inspect module proof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DB3ABA9-FAB6-47C2-AB67-083F81AD0ECD}"/>
              </a:ext>
            </a:extLst>
          </p:cNvPr>
          <p:cNvSpPr>
            <a:spLocks noGrp="1"/>
          </p:cNvSpPr>
          <p:nvPr/>
        </p:nvSpPr>
        <p:spPr>
          <a:xfrm>
            <a:off x="495300" y="1905000"/>
            <a:ext cx="4953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DDE7E9"/>
                </a:solidFill>
              </a:defRPr>
            </a:pPr>
            <a:r>
              <a:rPr sz="1650" b="0">
                <a:solidFill>
                  <a:srgbClr val="DDE7E9"/>
                </a:solidFill>
              </a:rPr>
              <a:t>The whole product route stays available. One click focuses on a specific component and its supplier evidence.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rcRect t="178" b="178"/>
          <a:stretch>
            <a:fillRect/>
          </a:stretch>
        </p:blipFill>
        <p:spPr>
          <a:xfrm>
            <a:off x="6286500" y="819150"/>
            <a:ext cx="5353050" cy="5334000"/>
          </a:xfrm>
          <a:prstGeom prst="rect">
            <a:avLst/>
          </a:prstGeom>
        </p:spPr>
      </p:pic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06404AA-F751-452B-9E2E-A40781C83567}"/>
              </a:ext>
            </a:extLst>
          </p:cNvPr>
          <p:cNvSpPr>
            <a:spLocks noGrp="1"/>
          </p:cNvSpPr>
          <p:nvPr/>
        </p:nvSpPr>
        <p:spPr>
          <a:xfrm>
            <a:off x="666750" y="2952750"/>
            <a:ext cx="2038350" cy="723900"/>
          </a:xfrm>
          <a:prstGeom prst="roundRect">
            <a:avLst>
              <a:gd name="adj" fmla="val 10526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0A261DC-4CAB-429E-9274-00825F34AFCC}"/>
              </a:ext>
            </a:extLst>
          </p:cNvPr>
          <p:cNvSpPr>
            <a:spLocks noGrp="1"/>
          </p:cNvSpPr>
          <p:nvPr/>
        </p:nvSpPr>
        <p:spPr>
          <a:xfrm>
            <a:off x="819150" y="3076575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86EFAC"/>
                </a:solidFill>
              </a:defRPr>
            </a:pPr>
            <a:r>
              <a:rPr sz="900" b="1">
                <a:solidFill>
                  <a:srgbClr val="86EFAC"/>
                </a:solidFill>
              </a:rPr>
              <a:t>MODULE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1648A5A-175F-4265-9862-C488D32C703F}"/>
              </a:ext>
            </a:extLst>
          </p:cNvPr>
          <p:cNvSpPr>
            <a:spLocks noGrp="1"/>
          </p:cNvSpPr>
          <p:nvPr/>
        </p:nvSpPr>
        <p:spPr>
          <a:xfrm>
            <a:off x="819150" y="32956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8227"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rPr sz="1800" b="1">
                <a:solidFill>
                  <a:srgbClr val="F8FAFC"/>
                </a:solidFill>
              </a:rPr>
              <a:t>Broiler Protein Input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0D080A4-FB80-4963-A374-1528932927DF}"/>
              </a:ext>
            </a:extLst>
          </p:cNvPr>
          <p:cNvSpPr>
            <a:spLocks noGrp="1"/>
          </p:cNvSpPr>
          <p:nvPr/>
        </p:nvSpPr>
        <p:spPr>
          <a:xfrm>
            <a:off x="3048000" y="2952750"/>
            <a:ext cx="2038350" cy="723900"/>
          </a:xfrm>
          <a:prstGeom prst="roundRect">
            <a:avLst>
              <a:gd name="adj" fmla="val 10526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0CCFE24-E1C9-4A2F-9F7A-CBA048021805}"/>
              </a:ext>
            </a:extLst>
          </p:cNvPr>
          <p:cNvSpPr>
            <a:spLocks noGrp="1"/>
          </p:cNvSpPr>
          <p:nvPr/>
        </p:nvSpPr>
        <p:spPr>
          <a:xfrm>
            <a:off x="3200400" y="3076575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67E8F9"/>
                </a:solidFill>
              </a:defRPr>
            </a:pPr>
            <a:r>
              <a:rPr sz="900" b="1">
                <a:solidFill>
                  <a:srgbClr val="67E8F9"/>
                </a:solidFill>
              </a:rPr>
              <a:t>SUPPLIER CITY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D85608A-DE5A-4514-8703-385491A30248}"/>
              </a:ext>
            </a:extLst>
          </p:cNvPr>
          <p:cNvSpPr>
            <a:spLocks noGrp="1"/>
          </p:cNvSpPr>
          <p:nvPr/>
        </p:nvSpPr>
        <p:spPr>
          <a:xfrm>
            <a:off x="3200400" y="32956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5573"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rPr sz="1800" b="1">
                <a:solidFill>
                  <a:srgbClr val="F8FAFC"/>
                </a:solidFill>
              </a:rPr>
              <a:t>Fuzhou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27F278A-AD69-4E26-B61D-92E89415E4FF}"/>
              </a:ext>
            </a:extLst>
          </p:cNvPr>
          <p:cNvSpPr>
            <a:spLocks noGrp="1"/>
          </p:cNvSpPr>
          <p:nvPr/>
        </p:nvSpPr>
        <p:spPr>
          <a:xfrm>
            <a:off x="666750" y="3848100"/>
            <a:ext cx="2038350" cy="723900"/>
          </a:xfrm>
          <a:prstGeom prst="roundRect">
            <a:avLst>
              <a:gd name="adj" fmla="val 10526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5E672F6-5AF0-4879-A3B4-28D2929CFFCE}"/>
              </a:ext>
            </a:extLst>
          </p:cNvPr>
          <p:cNvSpPr>
            <a:spLocks noGrp="1"/>
          </p:cNvSpPr>
          <p:nvPr/>
        </p:nvSpPr>
        <p:spPr>
          <a:xfrm>
            <a:off x="819150" y="3971925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BBF24"/>
                </a:solidFill>
              </a:defRPr>
            </a:pPr>
            <a:r>
              <a:rPr sz="900" b="1">
                <a:solidFill>
                  <a:srgbClr val="FBBF24"/>
                </a:solidFill>
              </a:rPr>
              <a:t>LOT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9EEC82C-7875-4FD2-BA62-7193BB4240E0}"/>
              </a:ext>
            </a:extLst>
          </p:cNvPr>
          <p:cNvSpPr>
            <a:spLocks noGrp="1"/>
          </p:cNvSpPr>
          <p:nvPr/>
        </p:nvSpPr>
        <p:spPr>
          <a:xfrm>
            <a:off x="819150" y="419100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5573"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rPr sz="1800" b="1">
                <a:solidFill>
                  <a:srgbClr val="F8FAFC"/>
                </a:solidFill>
              </a:rPr>
              <a:t>LOT-00026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E732B0E-B7B3-43B4-BA87-B0C1E21276A5}"/>
              </a:ext>
            </a:extLst>
          </p:cNvPr>
          <p:cNvSpPr>
            <a:spLocks noGrp="1"/>
          </p:cNvSpPr>
          <p:nvPr/>
        </p:nvSpPr>
        <p:spPr>
          <a:xfrm>
            <a:off x="3048000" y="3848100"/>
            <a:ext cx="2038350" cy="723900"/>
          </a:xfrm>
          <a:prstGeom prst="roundRect">
            <a:avLst>
              <a:gd name="adj" fmla="val 10526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8E2148E-97B2-4786-B9E9-CA3871B519EB}"/>
              </a:ext>
            </a:extLst>
          </p:cNvPr>
          <p:cNvSpPr>
            <a:spLocks noGrp="1"/>
          </p:cNvSpPr>
          <p:nvPr/>
        </p:nvSpPr>
        <p:spPr>
          <a:xfrm>
            <a:off x="3200400" y="3971925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97316"/>
                </a:solidFill>
              </a:defRPr>
            </a:pPr>
            <a:r>
              <a:rPr sz="900" b="1">
                <a:solidFill>
                  <a:srgbClr val="F97316"/>
                </a:solidFill>
              </a:rPr>
              <a:t>RECEIVED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C969172-8027-4DA9-8E1D-A47A42F3033A}"/>
              </a:ext>
            </a:extLst>
          </p:cNvPr>
          <p:cNvSpPr>
            <a:spLocks noGrp="1"/>
          </p:cNvSpPr>
          <p:nvPr/>
        </p:nvSpPr>
        <p:spPr>
          <a:xfrm>
            <a:off x="3200400" y="419100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5573"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rPr sz="1800" b="1">
                <a:solidFill>
                  <a:srgbClr val="F8FAFC"/>
                </a:solidFill>
              </a:rPr>
              <a:t>2026-04-11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81461BA-A694-4EF6-A4D3-FC11940ACB5A}"/>
              </a:ext>
            </a:extLst>
          </p:cNvPr>
          <p:cNvSpPr>
            <a:spLocks noGrp="1"/>
          </p:cNvSpPr>
          <p:nvPr/>
        </p:nvSpPr>
        <p:spPr>
          <a:xfrm>
            <a:off x="666750" y="4743450"/>
            <a:ext cx="2038350" cy="723900"/>
          </a:xfrm>
          <a:prstGeom prst="roundRect">
            <a:avLst>
              <a:gd name="adj" fmla="val 10526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A7F6B67-6C00-49E7-9CA2-D8CE97C03A84}"/>
              </a:ext>
            </a:extLst>
          </p:cNvPr>
          <p:cNvSpPr>
            <a:spLocks noGrp="1"/>
          </p:cNvSpPr>
          <p:nvPr/>
        </p:nvSpPr>
        <p:spPr>
          <a:xfrm>
            <a:off x="819150" y="4867275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4B8A6"/>
                </a:solidFill>
              </a:defRPr>
            </a:pPr>
            <a:r>
              <a:rPr sz="900" b="1">
                <a:solidFill>
                  <a:srgbClr val="14B8A6"/>
                </a:solidFill>
              </a:rPr>
              <a:t>INSPECTION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D4E633B-9081-4692-8F4B-DC1ED226E504}"/>
              </a:ext>
            </a:extLst>
          </p:cNvPr>
          <p:cNvSpPr>
            <a:spLocks noGrp="1"/>
          </p:cNvSpPr>
          <p:nvPr/>
        </p:nvSpPr>
        <p:spPr>
          <a:xfrm>
            <a:off x="819150" y="50863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5573"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rPr sz="1800" b="1">
                <a:solidFill>
                  <a:srgbClr val="F8FAFC"/>
                </a:solidFill>
              </a:rPr>
              <a:t>89.2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14761CA-441E-4E72-ACB6-F4723E04D87D}"/>
              </a:ext>
            </a:extLst>
          </p:cNvPr>
          <p:cNvSpPr>
            <a:spLocks noGrp="1"/>
          </p:cNvSpPr>
          <p:nvPr/>
        </p:nvSpPr>
        <p:spPr>
          <a:xfrm>
            <a:off x="3048000" y="4743450"/>
            <a:ext cx="2038350" cy="723900"/>
          </a:xfrm>
          <a:prstGeom prst="roundRect">
            <a:avLst>
              <a:gd name="adj" fmla="val 10526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B08F8D4-FB85-4BE4-B21A-676C3D303B66}"/>
              </a:ext>
            </a:extLst>
          </p:cNvPr>
          <p:cNvSpPr>
            <a:spLocks noGrp="1"/>
          </p:cNvSpPr>
          <p:nvPr/>
        </p:nvSpPr>
        <p:spPr>
          <a:xfrm>
            <a:off x="3200400" y="4867275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86EFAC"/>
                </a:solidFill>
              </a:defRPr>
            </a:pPr>
            <a:r>
              <a:rPr sz="900" b="1">
                <a:solidFill>
                  <a:srgbClr val="86EFAC"/>
                </a:solidFill>
              </a:rPr>
              <a:t>TRACEABILITY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B0285E4-D194-4DE5-9D27-0E365351C03A}"/>
              </a:ext>
            </a:extLst>
          </p:cNvPr>
          <p:cNvSpPr>
            <a:spLocks noGrp="1"/>
          </p:cNvSpPr>
          <p:nvPr/>
        </p:nvSpPr>
        <p:spPr>
          <a:xfrm>
            <a:off x="3200400" y="50863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5573"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rPr sz="1800" b="1">
                <a:solidFill>
                  <a:srgbClr val="F8FAFC"/>
                </a:solidFill>
              </a:rPr>
              <a:t>96.0%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85D24D2-75BD-40B9-B2FF-08652E9A749D}"/>
              </a:ext>
            </a:extLst>
          </p:cNvPr>
          <p:cNvSpPr>
            <a:spLocks noGrp="1"/>
          </p:cNvSpPr>
          <p:nvPr/>
        </p:nvSpPr>
        <p:spPr>
          <a:xfrm>
            <a:off x="666750" y="5715000"/>
            <a:ext cx="4762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69314"/>
          </a:bodyPr>
          <a:lstStyle/>
          <a:p>
            <a:pPr algn="l">
              <a:defRPr sz="1350" b="0">
                <a:solidFill>
                  <a:srgbClr val="DDE7E9"/>
                </a:solidFill>
              </a:defRPr>
            </a:pPr>
            <a:r>
              <a:rPr sz="1350" b="0">
                <a:solidFill>
                  <a:srgbClr val="DDE7E9"/>
                </a:solidFill>
              </a:rPr>
              <a:t>Transition behavior: switching between Whole product and any module redraws the route panel with a soft animated change, so users understand exactly which layer of evidence they are viewing.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9D17FCE-8D22-4E98-A55B-78C8576D502D}"/>
              </a:ext>
            </a:extLst>
          </p:cNvPr>
          <p:cNvSpPr>
            <a:spLocks noGrp="1"/>
          </p:cNvSpPr>
          <p:nvPr/>
        </p:nvSpPr>
        <p:spPr>
          <a:xfrm>
            <a:off x="495300" y="65532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7C5C9"/>
                </a:solidFill>
              </a:defRPr>
            </a:pPr>
            <a:r>
              <a:rPr sz="900" b="0">
                <a:solidFill>
                  <a:srgbClr val="B7C5C9"/>
                </a:solidFill>
              </a:rPr>
              <a:t>Oasis Finder | Group 9 | Rui Huang and Zixiu Wang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3B4EBBF-9E9E-46AA-B912-B4BE56C38E9B}"/>
              </a:ext>
            </a:extLst>
          </p:cNvPr>
          <p:cNvSpPr>
            <a:spLocks noGrp="1"/>
          </p:cNvSpPr>
          <p:nvPr/>
        </p:nvSpPr>
        <p:spPr>
          <a:xfrm>
            <a:off x="6667500" y="6515100"/>
            <a:ext cx="5029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B7C5C9"/>
                </a:solidFill>
              </a:defRPr>
            </a:pPr>
            <a:r>
              <a:rPr sz="825" b="0">
                <a:solidFill>
                  <a:srgbClr val="B7C5C9"/>
                </a:solidFill>
              </a:rPr>
              <a:t>Live screenshot from local browser frontend</a:t>
            </a:r>
          </a:p>
        </p:txBody>
      </p:sp>
    </p:spTree>
    <p:extLst>
      <p:ext uri="{BB962C8B-B14F-4D97-AF65-F5344CB8AC3E}">
        <p14:creationId xmlns:p14="http://schemas.microsoft.com/office/powerpoint/2010/main" val="1024322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FDDC667C-E5DD-48E3-9303-6C5BD682162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99679D0-7EB4-4E98-8426-0E071542B1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E5AF864-3E7F-4AB7-98F8-CD168040D3A6}"/>
              </a:ext>
            </a:extLst>
          </p:cNvPr>
          <p:cNvSpPr>
            <a:spLocks noGrp="1"/>
          </p:cNvSpPr>
          <p:nvPr/>
        </p:nvSpPr>
        <p:spPr>
          <a:xfrm>
            <a:off x="495300" y="228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86EFAC"/>
                </a:solidFill>
              </a:defRPr>
            </a:pPr>
            <a:r>
              <a:rPr sz="1200" b="1">
                <a:solidFill>
                  <a:srgbClr val="86EFAC"/>
                </a:solidFill>
              </a:rPr>
              <a:t>OASIS FINDER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79F7BA1-B911-40DF-ADD7-11DE5A889C9F}"/>
              </a:ext>
            </a:extLst>
          </p:cNvPr>
          <p:cNvSpPr>
            <a:spLocks noGrp="1"/>
          </p:cNvSpPr>
          <p:nvPr/>
        </p:nvSpPr>
        <p:spPr>
          <a:xfrm>
            <a:off x="2628900" y="228600"/>
            <a:ext cx="476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B7C5C9"/>
                </a:solidFill>
              </a:defRPr>
            </a:pPr>
            <a:r>
              <a:rPr sz="1200" b="1">
                <a:solidFill>
                  <a:srgbClr val="B7C5C9"/>
                </a:solidFill>
              </a:rPr>
              <a:t>MERCHANT BACKEND WALKTHROUGH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A1CE8A4-6D8D-476B-9787-37F1037F64B5}"/>
              </a:ext>
            </a:extLst>
          </p:cNvPr>
          <p:cNvSpPr>
            <a:spLocks noGrp="1"/>
          </p:cNvSpPr>
          <p:nvPr/>
        </p:nvSpPr>
        <p:spPr>
          <a:xfrm>
            <a:off x="10668000" y="228600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B7C5C9"/>
                </a:solidFill>
              </a:defRPr>
            </a:pPr>
            <a:r>
              <a:rPr lang="en-US" altLang="zh-CN" sz="1200" b="1">
                <a:solidFill>
                  <a:srgbClr val="B7C5C9"/>
                </a:solidFill>
              </a:rPr>
              <a:t>07 / 10</a:t>
            </a:r>
            <a:endParaRPr sz="1200" b="1">
              <a:solidFill>
                <a:srgbClr val="B7C5C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AE999FF-4FC8-49FB-9869-027B436D05CE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1201400" cy="19050"/>
          </a:xfrm>
          <a:prstGeom prst="rect">
            <a:avLst/>
          </a:prstGeom>
          <a:solidFill>
            <a:srgbClr val="3F555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8EE5CA5-BE63-4A01-B44B-D7ADED681795}"/>
              </a:ext>
            </a:extLst>
          </p:cNvPr>
          <p:cNvSpPr>
            <a:spLocks noGrp="1"/>
          </p:cNvSpPr>
          <p:nvPr/>
        </p:nvSpPr>
        <p:spPr>
          <a:xfrm>
            <a:off x="495300" y="819150"/>
            <a:ext cx="5334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9367"/>
          </a:bodyPr>
          <a:lstStyle/>
          <a:p>
            <a:pPr algn="l">
              <a:defRPr sz="3300" b="1">
                <a:solidFill>
                  <a:srgbClr val="F8FAFC"/>
                </a:solidFill>
              </a:defRPr>
            </a:pPr>
            <a:r>
              <a:rPr sz="3300" b="1">
                <a:solidFill>
                  <a:srgbClr val="F8FAFC"/>
                </a:solidFill>
              </a:rPr>
              <a:t>Merchant backend: edit every layer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F95B52B-D36E-44BE-9FB0-A1B4CB56A94D}"/>
              </a:ext>
            </a:extLst>
          </p:cNvPr>
          <p:cNvSpPr>
            <a:spLocks noGrp="1"/>
          </p:cNvSpPr>
          <p:nvPr/>
        </p:nvSpPr>
        <p:spPr>
          <a:xfrm>
            <a:off x="495300" y="1885950"/>
            <a:ext cx="5334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8084"/>
          </a:bodyPr>
          <a:lstStyle/>
          <a:p>
            <a:pPr algn="l">
              <a:defRPr sz="1650" b="0">
                <a:solidFill>
                  <a:srgbClr val="DDE7E9"/>
                </a:solidFill>
              </a:defRPr>
            </a:pPr>
            <a:r>
              <a:rPr lang="en-US" sz="1650" b="0">
                <a:solidFill>
                  <a:srgbClr val="DDE7E9"/>
                </a:solidFill>
              </a:rPr>
              <a:t>The backend now supports whole-product fields, modules, custom tagged nodes, route edges, evidence records, and image slots.</a:t>
            </a:r>
            <a:endParaRPr sz="1650" b="0">
              <a:solidFill>
                <a:srgbClr val="DDE7E9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rcRect t="9431" b="9431"/>
          <a:stretch>
            <a:fillRect/>
          </a:stretch>
        </p:blipFill>
        <p:spPr>
          <a:xfrm>
            <a:off x="6286500" y="781050"/>
            <a:ext cx="5353050" cy="5429250"/>
          </a:xfrm>
          <a:prstGeom prst="rect">
            <a:avLst/>
          </a:prstGeom>
        </p:spPr>
      </p:pic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2032076-3557-4B6D-A6F1-81DCBBEC74AB}"/>
              </a:ext>
            </a:extLst>
          </p:cNvPr>
          <p:cNvSpPr>
            <a:spLocks noGrp="1"/>
          </p:cNvSpPr>
          <p:nvPr/>
        </p:nvSpPr>
        <p:spPr>
          <a:xfrm>
            <a:off x="666750" y="2762250"/>
            <a:ext cx="4762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0B74504-E0B7-4AF6-A648-B9A048A53E3D}"/>
              </a:ext>
            </a:extLst>
          </p:cNvPr>
          <p:cNvSpPr>
            <a:spLocks noGrp="1"/>
          </p:cNvSpPr>
          <p:nvPr/>
        </p:nvSpPr>
        <p:spPr>
          <a:xfrm>
            <a:off x="838200" y="293370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86EFA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9D3F430-FA9D-4AD5-98CA-8C1DB3C6EAFB}"/>
              </a:ext>
            </a:extLst>
          </p:cNvPr>
          <p:cNvSpPr>
            <a:spLocks noGrp="1"/>
          </p:cNvSpPr>
          <p:nvPr/>
        </p:nvSpPr>
        <p:spPr>
          <a:xfrm>
            <a:off x="838200" y="298132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1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7D1657A-E031-4393-BDEF-64F6C40F1601}"/>
              </a:ext>
            </a:extLst>
          </p:cNvPr>
          <p:cNvSpPr>
            <a:spLocks noGrp="1"/>
          </p:cNvSpPr>
          <p:nvPr/>
        </p:nvSpPr>
        <p:spPr>
          <a:xfrm>
            <a:off x="1333500" y="2914650"/>
            <a:ext cx="3886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Choose a layer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E883370-A063-4F36-B163-CCEA333C0A04}"/>
              </a:ext>
            </a:extLst>
          </p:cNvPr>
          <p:cNvSpPr>
            <a:spLocks noGrp="1"/>
          </p:cNvSpPr>
          <p:nvPr/>
        </p:nvSpPr>
        <p:spPr>
          <a:xfrm>
            <a:off x="1333500" y="3257550"/>
            <a:ext cx="3886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Overview, modules, route nodes, route edges, and evidence are separate tabs.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43C2C550-2952-48FC-8B51-512009504516}"/>
              </a:ext>
            </a:extLst>
          </p:cNvPr>
          <p:cNvSpPr>
            <a:spLocks noGrp="1"/>
          </p:cNvSpPr>
          <p:nvPr/>
        </p:nvSpPr>
        <p:spPr>
          <a:xfrm>
            <a:off x="666750" y="4000500"/>
            <a:ext cx="4762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1894643A-F3DE-496B-8E79-6CF473C80D73}"/>
              </a:ext>
            </a:extLst>
          </p:cNvPr>
          <p:cNvSpPr>
            <a:spLocks noGrp="1"/>
          </p:cNvSpPr>
          <p:nvPr/>
        </p:nvSpPr>
        <p:spPr>
          <a:xfrm>
            <a:off x="838200" y="417195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67E8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885C5FA-9215-4C16-B405-DF44348AE241}"/>
              </a:ext>
            </a:extLst>
          </p:cNvPr>
          <p:cNvSpPr>
            <a:spLocks noGrp="1"/>
          </p:cNvSpPr>
          <p:nvPr/>
        </p:nvSpPr>
        <p:spPr>
          <a:xfrm>
            <a:off x="838200" y="421957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2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751403E-74C5-4641-87CA-51C0BC347517}"/>
              </a:ext>
            </a:extLst>
          </p:cNvPr>
          <p:cNvSpPr>
            <a:spLocks noGrp="1"/>
          </p:cNvSpPr>
          <p:nvPr/>
        </p:nvSpPr>
        <p:spPr>
          <a:xfrm>
            <a:off x="1333500" y="4152900"/>
            <a:ext cx="3886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Edit the selected record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62B3B25-535D-48C9-8B0F-B86602B6662E}"/>
              </a:ext>
            </a:extLst>
          </p:cNvPr>
          <p:cNvSpPr>
            <a:spLocks noGrp="1"/>
          </p:cNvSpPr>
          <p:nvPr/>
        </p:nvSpPr>
        <p:spPr>
          <a:xfrm>
            <a:off x="1333500" y="4495800"/>
            <a:ext cx="3886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lang="en-US" sz="1275" b="0">
                <a:solidFill>
                  <a:srgbClr val="DDE7E9"/>
                </a:solidFill>
              </a:rPr>
              <a:t>Each tagged node can store city, time, role, risk, visible value, and custom color overlays.</a:t>
            </a:r>
            <a:endParaRPr sz="1275" b="0">
              <a:solidFill>
                <a:srgbClr val="DDE7E9"/>
              </a:solidFill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02DDFA3D-EC11-4A3F-9A5B-9D7C74EEA7DB}"/>
              </a:ext>
            </a:extLst>
          </p:cNvPr>
          <p:cNvSpPr>
            <a:spLocks noGrp="1"/>
          </p:cNvSpPr>
          <p:nvPr/>
        </p:nvSpPr>
        <p:spPr>
          <a:xfrm>
            <a:off x="666750" y="5238750"/>
            <a:ext cx="4762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D7A373B5-6759-4EE6-AC6B-87F7984ED4FD}"/>
              </a:ext>
            </a:extLst>
          </p:cNvPr>
          <p:cNvSpPr>
            <a:spLocks noGrp="1"/>
          </p:cNvSpPr>
          <p:nvPr/>
        </p:nvSpPr>
        <p:spPr>
          <a:xfrm>
            <a:off x="838200" y="541020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FBBF2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130EF91-BEF8-409C-8B9B-022CB94816ED}"/>
              </a:ext>
            </a:extLst>
          </p:cNvPr>
          <p:cNvSpPr>
            <a:spLocks noGrp="1"/>
          </p:cNvSpPr>
          <p:nvPr/>
        </p:nvSpPr>
        <p:spPr>
          <a:xfrm>
            <a:off x="838200" y="545782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3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7E04658-AB9B-4A83-8C70-B67F1EB9C2E9}"/>
              </a:ext>
            </a:extLst>
          </p:cNvPr>
          <p:cNvSpPr>
            <a:spLocks noGrp="1"/>
          </p:cNvSpPr>
          <p:nvPr/>
        </p:nvSpPr>
        <p:spPr>
          <a:xfrm>
            <a:off x="1333500" y="5391150"/>
            <a:ext cx="3886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Save and broadcast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1D29B1F-AEB2-4A92-AC46-799BC826939A}"/>
              </a:ext>
            </a:extLst>
          </p:cNvPr>
          <p:cNvSpPr>
            <a:spLocks noGrp="1"/>
          </p:cNvSpPr>
          <p:nvPr/>
        </p:nvSpPr>
        <p:spPr>
          <a:xfrm>
            <a:off x="1333500" y="5734050"/>
            <a:ext cx="3886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The backend sends update events so the customer page can refresh without a restart.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9DEBB95-BEC8-49C0-B9F1-50C5D4E49BC7}"/>
              </a:ext>
            </a:extLst>
          </p:cNvPr>
          <p:cNvSpPr>
            <a:spLocks noGrp="1"/>
          </p:cNvSpPr>
          <p:nvPr/>
        </p:nvSpPr>
        <p:spPr>
          <a:xfrm>
            <a:off x="495300" y="65532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7C5C9"/>
                </a:solidFill>
              </a:defRPr>
            </a:pPr>
            <a:r>
              <a:rPr sz="900" b="0">
                <a:solidFill>
                  <a:srgbClr val="B7C5C9"/>
                </a:solidFill>
              </a:rPr>
              <a:t>Oasis Finder | Group 9 | Rui Huang and Zixiu Wang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C7E93F6-3257-433E-884C-21F1841E6C75}"/>
              </a:ext>
            </a:extLst>
          </p:cNvPr>
          <p:cNvSpPr>
            <a:spLocks noGrp="1"/>
          </p:cNvSpPr>
          <p:nvPr/>
        </p:nvSpPr>
        <p:spPr>
          <a:xfrm>
            <a:off x="6667500" y="6515100"/>
            <a:ext cx="5029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B7C5C9"/>
                </a:solidFill>
              </a:defRPr>
            </a:pPr>
            <a:r>
              <a:rPr sz="825" b="0">
                <a:solidFill>
                  <a:srgbClr val="B7C5C9"/>
                </a:solidFill>
              </a:rPr>
              <a:t>Backend sends live update events to the customer frontend</a:t>
            </a:r>
          </a:p>
        </p:txBody>
      </p:sp>
    </p:spTree>
    <p:extLst>
      <p:ext uri="{BB962C8B-B14F-4D97-AF65-F5344CB8AC3E}">
        <p14:creationId xmlns:p14="http://schemas.microsoft.com/office/powerpoint/2010/main" val="2033438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FDDC667C-E5DD-48E3-9303-6C5BD682162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0D5C51-DE26-4B48-970C-AC63B5FEE89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C734AE7-E707-4F97-8DB1-5B5D58C4DBFC}"/>
              </a:ext>
            </a:extLst>
          </p:cNvPr>
          <p:cNvSpPr>
            <a:spLocks noGrp="1"/>
          </p:cNvSpPr>
          <p:nvPr/>
        </p:nvSpPr>
        <p:spPr>
          <a:xfrm>
            <a:off x="495300" y="228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86EFAC"/>
                </a:solidFill>
              </a:defRPr>
            </a:pPr>
            <a:r>
              <a:rPr sz="1200" b="1">
                <a:solidFill>
                  <a:srgbClr val="86EFAC"/>
                </a:solidFill>
              </a:rPr>
              <a:t>OASIS FINDER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C5A1F44-6C63-4158-AFB9-8E54D72EFE02}"/>
              </a:ext>
            </a:extLst>
          </p:cNvPr>
          <p:cNvSpPr>
            <a:spLocks noGrp="1"/>
          </p:cNvSpPr>
          <p:nvPr/>
        </p:nvSpPr>
        <p:spPr>
          <a:xfrm>
            <a:off x="2628900" y="228600"/>
            <a:ext cx="476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B7C5C9"/>
                </a:solidFill>
              </a:defRPr>
            </a:pPr>
            <a:r>
              <a:rPr sz="1200" b="1">
                <a:solidFill>
                  <a:srgbClr val="B7C5C9"/>
                </a:solidFill>
              </a:rPr>
              <a:t>DATA RESPONSIBILITY AND API SLOTS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7A23170-5C35-4C6E-8851-E60581987D92}"/>
              </a:ext>
            </a:extLst>
          </p:cNvPr>
          <p:cNvSpPr>
            <a:spLocks noGrp="1"/>
          </p:cNvSpPr>
          <p:nvPr/>
        </p:nvSpPr>
        <p:spPr>
          <a:xfrm>
            <a:off x="10668000" y="228600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B7C5C9"/>
                </a:solidFill>
              </a:defRPr>
            </a:pPr>
            <a:r>
              <a:rPr lang="en-US" altLang="zh-CN" sz="1200" b="1">
                <a:solidFill>
                  <a:srgbClr val="B7C5C9"/>
                </a:solidFill>
              </a:rPr>
              <a:t>08 / 10</a:t>
            </a:r>
            <a:endParaRPr sz="1200" b="1">
              <a:solidFill>
                <a:srgbClr val="B7C5C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CF502BB-FEB6-4009-8733-3D30CB88C0FF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1201400" cy="19050"/>
          </a:xfrm>
          <a:prstGeom prst="rect">
            <a:avLst/>
          </a:prstGeom>
          <a:solidFill>
            <a:srgbClr val="3F555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DBF0AAA-61E6-44F6-8C99-F69828B1704B}"/>
              </a:ext>
            </a:extLst>
          </p:cNvPr>
          <p:cNvSpPr>
            <a:spLocks noGrp="1"/>
          </p:cNvSpPr>
          <p:nvPr/>
        </p:nvSpPr>
        <p:spPr>
          <a:xfrm>
            <a:off x="495300" y="819150"/>
            <a:ext cx="647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9367"/>
          </a:bodyPr>
          <a:lstStyle/>
          <a:p>
            <a:pPr algn="l">
              <a:defRPr sz="3300" b="1">
                <a:solidFill>
                  <a:srgbClr val="F8FAFC"/>
                </a:solidFill>
              </a:defRPr>
            </a:pPr>
            <a:r>
              <a:rPr sz="3300" b="1">
                <a:solidFill>
                  <a:srgbClr val="F8FAFC"/>
                </a:solidFill>
              </a:rPr>
              <a:t>Open code, but merchant data must still be verified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0445012-ACA9-48A5-9571-709E98139096}"/>
              </a:ext>
            </a:extLst>
          </p:cNvPr>
          <p:cNvSpPr>
            <a:spLocks noGrp="1"/>
          </p:cNvSpPr>
          <p:nvPr/>
        </p:nvSpPr>
        <p:spPr>
          <a:xfrm>
            <a:off x="495300" y="1885950"/>
            <a:ext cx="6477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DDE7E9"/>
                </a:solidFill>
              </a:defRPr>
            </a:pPr>
            <a:r>
              <a:rPr sz="1650" b="0">
                <a:solidFill>
                  <a:srgbClr val="DDE7E9"/>
                </a:solidFill>
              </a:rPr>
              <a:t>Oasis Finder provides the interface and evidence slots. We do not guarantee a company's data truthfulness for them.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D48F16B-BA86-497A-935F-CCED64DE8935}"/>
              </a:ext>
            </a:extLst>
          </p:cNvPr>
          <p:cNvSpPr>
            <a:spLocks noGrp="1"/>
          </p:cNvSpPr>
          <p:nvPr/>
        </p:nvSpPr>
        <p:spPr>
          <a:xfrm>
            <a:off x="666750" y="2628900"/>
            <a:ext cx="3238500" cy="876300"/>
          </a:xfrm>
          <a:prstGeom prst="roundRect">
            <a:avLst>
              <a:gd name="adj" fmla="val 8696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E0C519B-E369-4013-A37C-8500831C2444}"/>
              </a:ext>
            </a:extLst>
          </p:cNvPr>
          <p:cNvSpPr>
            <a:spLocks noGrp="1"/>
          </p:cNvSpPr>
          <p:nvPr/>
        </p:nvSpPr>
        <p:spPr>
          <a:xfrm>
            <a:off x="838200" y="2781300"/>
            <a:ext cx="2895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86EFAC"/>
                </a:solidFill>
              </a:defRPr>
            </a:pPr>
            <a:r>
              <a:rPr sz="1725" b="1">
                <a:solidFill>
                  <a:srgbClr val="86EFAC"/>
                </a:solidFill>
              </a:rPr>
              <a:t>Identity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7776B4F-6E89-44B9-9477-FBBC1E956788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2895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SKU / GTIN, QR, batch ID, lot ID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11A32B0-4CF1-40A2-96DD-8E185B6C763C}"/>
              </a:ext>
            </a:extLst>
          </p:cNvPr>
          <p:cNvSpPr>
            <a:spLocks noGrp="1"/>
          </p:cNvSpPr>
          <p:nvPr/>
        </p:nvSpPr>
        <p:spPr>
          <a:xfrm>
            <a:off x="4343400" y="2628900"/>
            <a:ext cx="3238500" cy="876300"/>
          </a:xfrm>
          <a:prstGeom prst="roundRect">
            <a:avLst>
              <a:gd name="adj" fmla="val 8696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0A85A9-5232-41C2-98A2-FF05C87ABE61}"/>
              </a:ext>
            </a:extLst>
          </p:cNvPr>
          <p:cNvSpPr>
            <a:spLocks noGrp="1"/>
          </p:cNvSpPr>
          <p:nvPr/>
        </p:nvSpPr>
        <p:spPr>
          <a:xfrm>
            <a:off x="4514850" y="2781300"/>
            <a:ext cx="2895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67E8F9"/>
                </a:solidFill>
              </a:defRPr>
            </a:pPr>
            <a:r>
              <a:rPr sz="1725" b="1">
                <a:solidFill>
                  <a:srgbClr val="67E8F9"/>
                </a:solidFill>
              </a:rPr>
              <a:t>Critical event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D9D86FD-0EAF-4BFE-84C4-B46BA8771122}"/>
              </a:ext>
            </a:extLst>
          </p:cNvPr>
          <p:cNvSpPr>
            <a:spLocks noGrp="1"/>
          </p:cNvSpPr>
          <p:nvPr/>
        </p:nvSpPr>
        <p:spPr>
          <a:xfrm>
            <a:off x="4514850" y="3105150"/>
            <a:ext cx="2895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3909"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harvest, production, receiving, shipping, arrival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180BD909-6954-49E5-A09B-3D57FEFBBA59}"/>
              </a:ext>
            </a:extLst>
          </p:cNvPr>
          <p:cNvSpPr>
            <a:spLocks noGrp="1"/>
          </p:cNvSpPr>
          <p:nvPr/>
        </p:nvSpPr>
        <p:spPr>
          <a:xfrm>
            <a:off x="8020050" y="2628900"/>
            <a:ext cx="3238500" cy="876300"/>
          </a:xfrm>
          <a:prstGeom prst="roundRect">
            <a:avLst>
              <a:gd name="adj" fmla="val 8696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04007A5-D897-4E73-862A-214003BA1DA7}"/>
              </a:ext>
            </a:extLst>
          </p:cNvPr>
          <p:cNvSpPr>
            <a:spLocks noGrp="1"/>
          </p:cNvSpPr>
          <p:nvPr/>
        </p:nvSpPr>
        <p:spPr>
          <a:xfrm>
            <a:off x="8191500" y="2781300"/>
            <a:ext cx="2895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FBBF24"/>
                </a:solidFill>
              </a:defRPr>
            </a:pPr>
            <a:r>
              <a:rPr sz="1725" b="1">
                <a:solidFill>
                  <a:srgbClr val="FBBF24"/>
                </a:solidFill>
              </a:rPr>
              <a:t>Location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236EB2D-E72B-4584-BDBE-EEB4D2B247DB}"/>
              </a:ext>
            </a:extLst>
          </p:cNvPr>
          <p:cNvSpPr>
            <a:spLocks noGrp="1"/>
          </p:cNvSpPr>
          <p:nvPr/>
        </p:nvSpPr>
        <p:spPr>
          <a:xfrm>
            <a:off x="8191500" y="3105150"/>
            <a:ext cx="2895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3221"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supplier, plant, warehouse, retail node, location code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34EFC558-B76F-46DF-B78D-4D314C415D1B}"/>
              </a:ext>
            </a:extLst>
          </p:cNvPr>
          <p:cNvSpPr>
            <a:spLocks noGrp="1"/>
          </p:cNvSpPr>
          <p:nvPr/>
        </p:nvSpPr>
        <p:spPr>
          <a:xfrm>
            <a:off x="666750" y="3848100"/>
            <a:ext cx="3238500" cy="876300"/>
          </a:xfrm>
          <a:prstGeom prst="roundRect">
            <a:avLst>
              <a:gd name="adj" fmla="val 8696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8872642-6BF2-4BCC-B8B9-D21A99BE5A6F}"/>
              </a:ext>
            </a:extLst>
          </p:cNvPr>
          <p:cNvSpPr>
            <a:spLocks noGrp="1"/>
          </p:cNvSpPr>
          <p:nvPr/>
        </p:nvSpPr>
        <p:spPr>
          <a:xfrm>
            <a:off x="838200" y="4000500"/>
            <a:ext cx="2895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86EFAC"/>
                </a:solidFill>
              </a:defRPr>
            </a:pPr>
            <a:r>
              <a:rPr sz="1725" b="1">
                <a:solidFill>
                  <a:srgbClr val="86EFAC"/>
                </a:solidFill>
              </a:rPr>
              <a:t>Condition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20E5D2D-AB83-4481-852B-79E6DA063CE3}"/>
              </a:ext>
            </a:extLst>
          </p:cNvPr>
          <p:cNvSpPr>
            <a:spLocks noGrp="1"/>
          </p:cNvSpPr>
          <p:nvPr/>
        </p:nvSpPr>
        <p:spPr>
          <a:xfrm>
            <a:off x="838200" y="4324350"/>
            <a:ext cx="2895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6850"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temperature range, breach minutes, shelf-life state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5942DA5D-3B0A-464C-A4F7-C03C218984FD}"/>
              </a:ext>
            </a:extLst>
          </p:cNvPr>
          <p:cNvSpPr>
            <a:spLocks noGrp="1"/>
          </p:cNvSpPr>
          <p:nvPr/>
        </p:nvSpPr>
        <p:spPr>
          <a:xfrm>
            <a:off x="4343400" y="3848100"/>
            <a:ext cx="3238500" cy="876300"/>
          </a:xfrm>
          <a:prstGeom prst="roundRect">
            <a:avLst>
              <a:gd name="adj" fmla="val 8696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BCACC41-769B-4F7E-9B83-24D4263A5AA2}"/>
              </a:ext>
            </a:extLst>
          </p:cNvPr>
          <p:cNvSpPr>
            <a:spLocks noGrp="1"/>
          </p:cNvSpPr>
          <p:nvPr/>
        </p:nvSpPr>
        <p:spPr>
          <a:xfrm>
            <a:off x="4514850" y="4000500"/>
            <a:ext cx="2895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67E8F9"/>
                </a:solidFill>
              </a:defRPr>
            </a:pPr>
            <a:r>
              <a:rPr sz="1725" b="1">
                <a:solidFill>
                  <a:srgbClr val="67E8F9"/>
                </a:solidFill>
              </a:rPr>
              <a:t>Quality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D521DA4-7D42-47A0-B83A-12386F1D998D}"/>
              </a:ext>
            </a:extLst>
          </p:cNvPr>
          <p:cNvSpPr>
            <a:spLocks noGrp="1"/>
          </p:cNvSpPr>
          <p:nvPr/>
        </p:nvSpPr>
        <p:spPr>
          <a:xfrm>
            <a:off x="4514850" y="4324350"/>
            <a:ext cx="2895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76338"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inspection score, package score, residue/pathogen checks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4195FC5-4701-4766-B921-FC5945EBFFA0}"/>
              </a:ext>
            </a:extLst>
          </p:cNvPr>
          <p:cNvSpPr>
            <a:spLocks noGrp="1"/>
          </p:cNvSpPr>
          <p:nvPr/>
        </p:nvSpPr>
        <p:spPr>
          <a:xfrm>
            <a:off x="8020050" y="3848100"/>
            <a:ext cx="3238500" cy="876300"/>
          </a:xfrm>
          <a:prstGeom prst="roundRect">
            <a:avLst>
              <a:gd name="adj" fmla="val 8696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DE1CB04-D7FA-4C19-B490-E9FBE98174DD}"/>
              </a:ext>
            </a:extLst>
          </p:cNvPr>
          <p:cNvSpPr>
            <a:spLocks noGrp="1"/>
          </p:cNvSpPr>
          <p:nvPr/>
        </p:nvSpPr>
        <p:spPr>
          <a:xfrm>
            <a:off x="8191500" y="4000500"/>
            <a:ext cx="2895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FBBF24"/>
                </a:solidFill>
              </a:defRPr>
            </a:pPr>
            <a:r>
              <a:rPr sz="1725" b="1">
                <a:solidFill>
                  <a:srgbClr val="FBBF24"/>
                </a:solidFill>
              </a:rPr>
              <a:t>Owner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2217A40-3060-4A3E-8A7F-5FE6E37E688C}"/>
              </a:ext>
            </a:extLst>
          </p:cNvPr>
          <p:cNvSpPr>
            <a:spLocks noGrp="1"/>
          </p:cNvSpPr>
          <p:nvPr/>
        </p:nvSpPr>
        <p:spPr>
          <a:xfrm>
            <a:off x="8191500" y="4324350"/>
            <a:ext cx="2895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7691"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supplier, carrier, auditor, certificate URI, signed file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27380DA-D07C-4104-B63D-B7310D0914FE}"/>
              </a:ext>
            </a:extLst>
          </p:cNvPr>
          <p:cNvSpPr>
            <a:spLocks noGrp="1"/>
          </p:cNvSpPr>
          <p:nvPr/>
        </p:nvSpPr>
        <p:spPr>
          <a:xfrm>
            <a:off x="1600200" y="5334000"/>
            <a:ext cx="8991600" cy="666750"/>
          </a:xfrm>
          <a:prstGeom prst="roundRect">
            <a:avLst>
              <a:gd name="adj" fmla="val 11429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7132945-11BF-487D-828C-BFEDE6E0F675}"/>
              </a:ext>
            </a:extLst>
          </p:cNvPr>
          <p:cNvSpPr>
            <a:spLocks noGrp="1"/>
          </p:cNvSpPr>
          <p:nvPr/>
        </p:nvSpPr>
        <p:spPr>
          <a:xfrm>
            <a:off x="1924050" y="5562600"/>
            <a:ext cx="83439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Production recommendation: validate these fields with QR events, IoT logs, supplier records, ERP/WMS integrations, and third-party audits.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8F2D531-9130-4D56-817F-E081E5A3B180}"/>
              </a:ext>
            </a:extLst>
          </p:cNvPr>
          <p:cNvSpPr>
            <a:spLocks noGrp="1"/>
          </p:cNvSpPr>
          <p:nvPr/>
        </p:nvSpPr>
        <p:spPr>
          <a:xfrm>
            <a:off x="495300" y="65532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7C5C9"/>
                </a:solidFill>
              </a:defRPr>
            </a:pPr>
            <a:r>
              <a:rPr sz="900" b="0">
                <a:solidFill>
                  <a:srgbClr val="B7C5C9"/>
                </a:solidFill>
              </a:rPr>
              <a:t>Oasis Finder | Group 9 | Rui Huang and Zixiu Wang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1DBFFE4-CA86-4852-9E59-233331CEF4AD}"/>
              </a:ext>
            </a:extLst>
          </p:cNvPr>
          <p:cNvSpPr>
            <a:spLocks noGrp="1"/>
          </p:cNvSpPr>
          <p:nvPr/>
        </p:nvSpPr>
        <p:spPr>
          <a:xfrm>
            <a:off x="6667500" y="6515100"/>
            <a:ext cx="5029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B7C5C9"/>
                </a:solidFill>
              </a:defRPr>
            </a:pPr>
            <a:r>
              <a:rPr sz="825" b="0">
                <a:solidFill>
                  <a:srgbClr val="B7C5C9"/>
                </a:solidFill>
              </a:rPr>
              <a:t>FDA FSMA 204; GS1 Traceability</a:t>
            </a:r>
          </a:p>
        </p:txBody>
      </p:sp>
    </p:spTree>
    <p:extLst>
      <p:ext uri="{BB962C8B-B14F-4D97-AF65-F5344CB8AC3E}">
        <p14:creationId xmlns:p14="http://schemas.microsoft.com/office/powerpoint/2010/main" val="646688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lide Number Placeholder 5">
            <a:extLst>
              <a:ext uri="{FF2B5EF4-FFF2-40B4-BE49-F238E27FC236}">
                <a16:creationId xmlns:a16="http://schemas.microsoft.com/office/drawing/2014/main" id="{FDDC667C-E5DD-48E3-9303-6C5BD682162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A000AC5-0EAA-4F5D-AB02-0DEEF4C059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B0477BA-A5A3-4870-9EC9-71E931575CD1}"/>
              </a:ext>
            </a:extLst>
          </p:cNvPr>
          <p:cNvSpPr>
            <a:spLocks noGrp="1"/>
          </p:cNvSpPr>
          <p:nvPr/>
        </p:nvSpPr>
        <p:spPr>
          <a:xfrm>
            <a:off x="495300" y="228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86EFAC"/>
                </a:solidFill>
              </a:defRPr>
            </a:pPr>
            <a:r>
              <a:rPr sz="1200" b="1">
                <a:solidFill>
                  <a:srgbClr val="86EFAC"/>
                </a:solidFill>
              </a:rPr>
              <a:t>OASIS FINDER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4089713-1B17-43CA-AB93-9F1CB3B2AA3F}"/>
              </a:ext>
            </a:extLst>
          </p:cNvPr>
          <p:cNvSpPr>
            <a:spLocks noGrp="1"/>
          </p:cNvSpPr>
          <p:nvPr/>
        </p:nvSpPr>
        <p:spPr>
          <a:xfrm>
            <a:off x="2628900" y="228600"/>
            <a:ext cx="476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B7C5C9"/>
                </a:solidFill>
              </a:defRPr>
            </a:pPr>
            <a:r>
              <a:rPr sz="1200" b="1">
                <a:solidFill>
                  <a:srgbClr val="B7C5C9"/>
                </a:solidFill>
              </a:rPr>
              <a:t>CP GROUP FIT AND MERCHANT VALUE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88EEF13-8072-4179-9F79-D428B962A5D1}"/>
              </a:ext>
            </a:extLst>
          </p:cNvPr>
          <p:cNvSpPr>
            <a:spLocks noGrp="1"/>
          </p:cNvSpPr>
          <p:nvPr/>
        </p:nvSpPr>
        <p:spPr>
          <a:xfrm>
            <a:off x="10668000" y="228600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B7C5C9"/>
                </a:solidFill>
              </a:defRPr>
            </a:pPr>
            <a:r>
              <a:rPr lang="en-US" altLang="zh-CN" sz="1200" b="1">
                <a:solidFill>
                  <a:srgbClr val="B7C5C9"/>
                </a:solidFill>
              </a:rPr>
              <a:t>09 / 10</a:t>
            </a:r>
            <a:endParaRPr sz="1200" b="1">
              <a:solidFill>
                <a:srgbClr val="B7C5C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836EA48-C53F-4CE0-830A-6D5221AE39FA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1201400" cy="19050"/>
          </a:xfrm>
          <a:prstGeom prst="rect">
            <a:avLst/>
          </a:prstGeom>
          <a:solidFill>
            <a:srgbClr val="3F555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974A0B-320B-49FA-B936-E451155E8278}"/>
              </a:ext>
            </a:extLst>
          </p:cNvPr>
          <p:cNvSpPr>
            <a:spLocks noGrp="1"/>
          </p:cNvSpPr>
          <p:nvPr/>
        </p:nvSpPr>
        <p:spPr>
          <a:xfrm>
            <a:off x="495300" y="819150"/>
            <a:ext cx="6858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9367"/>
          </a:bodyPr>
          <a:lstStyle/>
          <a:p>
            <a:pPr algn="l">
              <a:defRPr sz="3300" b="1">
                <a:solidFill>
                  <a:srgbClr val="F8FAFC"/>
                </a:solidFill>
              </a:defRPr>
            </a:pPr>
            <a:r>
              <a:rPr sz="3300" b="1">
                <a:solidFill>
                  <a:srgbClr val="F8FAFC"/>
                </a:solidFill>
              </a:rPr>
              <a:t>Why CP Group fits, and why the method is not CP-only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EE2E15D-F248-491D-BC3F-F9058AEC4D2D}"/>
              </a:ext>
            </a:extLst>
          </p:cNvPr>
          <p:cNvSpPr>
            <a:spLocks noGrp="1"/>
          </p:cNvSpPr>
          <p:nvPr/>
        </p:nvSpPr>
        <p:spPr>
          <a:xfrm>
            <a:off x="495300" y="1885950"/>
            <a:ext cx="6858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DDE7E9"/>
                </a:solidFill>
              </a:defRPr>
            </a:pPr>
            <a:r>
              <a:rPr sz="1650" b="0">
                <a:solidFill>
                  <a:srgbClr val="DDE7E9"/>
                </a:solidFill>
              </a:rPr>
              <a:t>CP Group has agro-food, retail, distribution, e-commerce, and traceability contexts. That makes it a strong pilot, not a limit.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1182183-7F44-44DE-8813-A096A735F77B}"/>
              </a:ext>
            </a:extLst>
          </p:cNvPr>
          <p:cNvSpPr>
            <a:spLocks noGrp="1"/>
          </p:cNvSpPr>
          <p:nvPr/>
        </p:nvSpPr>
        <p:spPr>
          <a:xfrm>
            <a:off x="704850" y="2800350"/>
            <a:ext cx="5143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31C05D1-4C8D-4ED3-AEFA-7E06C3D40B5C}"/>
              </a:ext>
            </a:extLst>
          </p:cNvPr>
          <p:cNvSpPr>
            <a:spLocks noGrp="1"/>
          </p:cNvSpPr>
          <p:nvPr/>
        </p:nvSpPr>
        <p:spPr>
          <a:xfrm>
            <a:off x="876300" y="297180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86EFA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04DCB7C-D8E6-4FBD-940D-F46772F0808B}"/>
              </a:ext>
            </a:extLst>
          </p:cNvPr>
          <p:cNvSpPr>
            <a:spLocks noGrp="1"/>
          </p:cNvSpPr>
          <p:nvPr/>
        </p:nvSpPr>
        <p:spPr>
          <a:xfrm>
            <a:off x="876300" y="301942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1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55968C6-9160-4F59-A904-B1B1976E1145}"/>
              </a:ext>
            </a:extLst>
          </p:cNvPr>
          <p:cNvSpPr>
            <a:spLocks noGrp="1"/>
          </p:cNvSpPr>
          <p:nvPr/>
        </p:nvSpPr>
        <p:spPr>
          <a:xfrm>
            <a:off x="1371600" y="2952750"/>
            <a:ext cx="4267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CP fit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0D219AB-5716-48A8-8E3F-D2BC718DBB87}"/>
              </a:ext>
            </a:extLst>
          </p:cNvPr>
          <p:cNvSpPr>
            <a:spLocks noGrp="1"/>
          </p:cNvSpPr>
          <p:nvPr/>
        </p:nvSpPr>
        <p:spPr>
          <a:xfrm>
            <a:off x="1371600" y="3295650"/>
            <a:ext cx="4267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Feed, farm, food, retail, and distribution can be connected into one product evidence page.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86967323-DD0D-495B-96C1-6AE6B718213C}"/>
              </a:ext>
            </a:extLst>
          </p:cNvPr>
          <p:cNvSpPr>
            <a:spLocks noGrp="1"/>
          </p:cNvSpPr>
          <p:nvPr/>
        </p:nvSpPr>
        <p:spPr>
          <a:xfrm>
            <a:off x="704850" y="3962400"/>
            <a:ext cx="5143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1938F73B-7768-4FE9-A2E9-6019FA5D7E11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67E8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7962F5F-5F77-4C25-9CE6-4C401FF66819}"/>
              </a:ext>
            </a:extLst>
          </p:cNvPr>
          <p:cNvSpPr>
            <a:spLocks noGrp="1"/>
          </p:cNvSpPr>
          <p:nvPr/>
        </p:nvSpPr>
        <p:spPr>
          <a:xfrm>
            <a:off x="876300" y="418147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2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E3BC6E0-BA1A-44D5-9910-EBDFF6DEE484}"/>
              </a:ext>
            </a:extLst>
          </p:cNvPr>
          <p:cNvSpPr>
            <a:spLocks noGrp="1"/>
          </p:cNvSpPr>
          <p:nvPr/>
        </p:nvSpPr>
        <p:spPr>
          <a:xfrm>
            <a:off x="1371600" y="4114800"/>
            <a:ext cx="4267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Not CP-only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8B6F08E-111F-4C09-859A-717AD27CFDD4}"/>
              </a:ext>
            </a:extLst>
          </p:cNvPr>
          <p:cNvSpPr>
            <a:spLocks noGrp="1"/>
          </p:cNvSpPr>
          <p:nvPr/>
        </p:nvSpPr>
        <p:spPr>
          <a:xfrm>
            <a:off x="1371600" y="4457700"/>
            <a:ext cx="4267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Any merchant can use the same schema if it can provide SKU, batch, supplier, shipment, inspection, and media proof.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B67464F-7F07-4897-9509-16437135FEC9}"/>
              </a:ext>
            </a:extLst>
          </p:cNvPr>
          <p:cNvSpPr>
            <a:spLocks noGrp="1"/>
          </p:cNvSpPr>
          <p:nvPr/>
        </p:nvSpPr>
        <p:spPr>
          <a:xfrm>
            <a:off x="704850" y="5124450"/>
            <a:ext cx="5143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E76F2B7B-C702-4737-A264-1EDEE52B7AA4}"/>
              </a:ext>
            </a:extLst>
          </p:cNvPr>
          <p:cNvSpPr>
            <a:spLocks noGrp="1"/>
          </p:cNvSpPr>
          <p:nvPr/>
        </p:nvSpPr>
        <p:spPr>
          <a:xfrm>
            <a:off x="876300" y="529590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FBBF2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B613DE0-CB28-47AA-B75E-13AABDA586EA}"/>
              </a:ext>
            </a:extLst>
          </p:cNvPr>
          <p:cNvSpPr>
            <a:spLocks noGrp="1"/>
          </p:cNvSpPr>
          <p:nvPr/>
        </p:nvSpPr>
        <p:spPr>
          <a:xfrm>
            <a:off x="876300" y="534352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3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30CC844-AB8C-4CA3-9264-60CBE3C42FAF}"/>
              </a:ext>
            </a:extLst>
          </p:cNvPr>
          <p:cNvSpPr>
            <a:spLocks noGrp="1"/>
          </p:cNvSpPr>
          <p:nvPr/>
        </p:nvSpPr>
        <p:spPr>
          <a:xfrm>
            <a:off x="1371600" y="5276850"/>
            <a:ext cx="4267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Revenue logic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2E6D6CA-2750-4130-A1ED-B416E11F8446}"/>
              </a:ext>
            </a:extLst>
          </p:cNvPr>
          <p:cNvSpPr>
            <a:spLocks noGrp="1"/>
          </p:cNvSpPr>
          <p:nvPr/>
        </p:nvSpPr>
        <p:spPr>
          <a:xfrm>
            <a:off x="1371600" y="5619750"/>
            <a:ext cx="4267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Transparency can improve conversion, premium tolerance, retention, and reduced refund/complaint friction.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7C6FBA9-6791-4617-86AE-85F501A7E308}"/>
              </a:ext>
            </a:extLst>
          </p:cNvPr>
          <p:cNvSpPr>
            <a:spLocks noGrp="1"/>
          </p:cNvSpPr>
          <p:nvPr/>
        </p:nvSpPr>
        <p:spPr>
          <a:xfrm>
            <a:off x="6572250" y="2857500"/>
            <a:ext cx="2095500" cy="1047750"/>
          </a:xfrm>
          <a:prstGeom prst="roundRect">
            <a:avLst>
              <a:gd name="adj" fmla="val 727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CAF2B3E-AC01-4F3C-9FBB-E78B57087135}"/>
              </a:ext>
            </a:extLst>
          </p:cNvPr>
          <p:cNvSpPr>
            <a:spLocks noGrp="1"/>
          </p:cNvSpPr>
          <p:nvPr/>
        </p:nvSpPr>
        <p:spPr>
          <a:xfrm>
            <a:off x="6743700" y="3009900"/>
            <a:ext cx="1752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MERCHANT UPSIDE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3068FD7-9DFA-41E2-8D88-D262CFD94F0B}"/>
              </a:ext>
            </a:extLst>
          </p:cNvPr>
          <p:cNvSpPr>
            <a:spLocks noGrp="1"/>
          </p:cNvSpPr>
          <p:nvPr/>
        </p:nvSpPr>
        <p:spPr>
          <a:xfrm>
            <a:off x="6743700" y="3276600"/>
            <a:ext cx="17526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250" b="1">
                <a:solidFill>
                  <a:srgbClr val="F8FAFC"/>
                </a:solidFill>
              </a:defRPr>
            </a:pPr>
            <a:r>
              <a:rPr sz="2250" b="1">
                <a:solidFill>
                  <a:srgbClr val="F8FAFC"/>
                </a:solidFill>
              </a:rPr>
              <a:t>higher trust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ADC13F5B-A35E-4750-A588-9F451C004B09}"/>
              </a:ext>
            </a:extLst>
          </p:cNvPr>
          <p:cNvSpPr>
            <a:spLocks noGrp="1"/>
          </p:cNvSpPr>
          <p:nvPr/>
        </p:nvSpPr>
        <p:spPr>
          <a:xfrm>
            <a:off x="9144000" y="2857500"/>
            <a:ext cx="2095500" cy="1047750"/>
          </a:xfrm>
          <a:prstGeom prst="roundRect">
            <a:avLst>
              <a:gd name="adj" fmla="val 727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E949E23-19AD-4528-9F17-4A1984707750}"/>
              </a:ext>
            </a:extLst>
          </p:cNvPr>
          <p:cNvSpPr>
            <a:spLocks noGrp="1"/>
          </p:cNvSpPr>
          <p:nvPr/>
        </p:nvSpPr>
        <p:spPr>
          <a:xfrm>
            <a:off x="9315450" y="3009900"/>
            <a:ext cx="1752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67E8F9"/>
                </a:solidFill>
              </a:defRPr>
            </a:pPr>
            <a:r>
              <a:rPr sz="975" b="1">
                <a:solidFill>
                  <a:srgbClr val="67E8F9"/>
                </a:solidFill>
              </a:rPr>
              <a:t>AD FORMAT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8C86E3D-453F-4ADD-B044-FF0246E641F5}"/>
              </a:ext>
            </a:extLst>
          </p:cNvPr>
          <p:cNvSpPr>
            <a:spLocks noGrp="1"/>
          </p:cNvSpPr>
          <p:nvPr/>
        </p:nvSpPr>
        <p:spPr>
          <a:xfrm>
            <a:off x="9315450" y="3276600"/>
            <a:ext cx="17526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250" b="1">
                <a:solidFill>
                  <a:srgbClr val="F8FAFC"/>
                </a:solidFill>
              </a:defRPr>
            </a:pPr>
            <a:r>
              <a:rPr sz="2250" b="1">
                <a:solidFill>
                  <a:srgbClr val="F8FAFC"/>
                </a:solidFill>
              </a:rPr>
              <a:t>evidence page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0238C7E2-6D3A-421E-8071-4474EB6E7BDA}"/>
              </a:ext>
            </a:extLst>
          </p:cNvPr>
          <p:cNvSpPr>
            <a:spLocks noGrp="1"/>
          </p:cNvSpPr>
          <p:nvPr/>
        </p:nvSpPr>
        <p:spPr>
          <a:xfrm>
            <a:off x="6572250" y="4229100"/>
            <a:ext cx="4667250" cy="1047750"/>
          </a:xfrm>
          <a:prstGeom prst="roundRect">
            <a:avLst>
              <a:gd name="adj" fmla="val 727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6D416E9-3D07-4A87-8ECC-6F78551A04C4}"/>
              </a:ext>
            </a:extLst>
          </p:cNvPr>
          <p:cNvSpPr>
            <a:spLocks noGrp="1"/>
          </p:cNvSpPr>
          <p:nvPr/>
        </p:nvSpPr>
        <p:spPr>
          <a:xfrm>
            <a:off x="6743700" y="4381500"/>
            <a:ext cx="43243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BBF24"/>
                </a:solidFill>
              </a:defRPr>
            </a:pPr>
            <a:r>
              <a:rPr sz="975" b="1">
                <a:solidFill>
                  <a:srgbClr val="FBBF24"/>
                </a:solidFill>
              </a:rPr>
              <a:t>PILOT PRODUCT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5BB6B77-D11F-4199-B69B-E88867A86B28}"/>
              </a:ext>
            </a:extLst>
          </p:cNvPr>
          <p:cNvSpPr>
            <a:spLocks noGrp="1"/>
          </p:cNvSpPr>
          <p:nvPr/>
        </p:nvSpPr>
        <p:spPr>
          <a:xfrm>
            <a:off x="6743700" y="4648200"/>
            <a:ext cx="43243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250" b="1">
                <a:solidFill>
                  <a:srgbClr val="F8FAFC"/>
                </a:solidFill>
              </a:defRPr>
            </a:pPr>
            <a:r>
              <a:rPr sz="2250" b="1">
                <a:solidFill>
                  <a:srgbClr val="F8FAFC"/>
                </a:solidFill>
              </a:rPr>
              <a:t>cake / meat / dairy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E5F75A1B-EFE3-4FCF-B431-472AB792425B}"/>
              </a:ext>
            </a:extLst>
          </p:cNvPr>
          <p:cNvSpPr>
            <a:spLocks noGrp="1"/>
          </p:cNvSpPr>
          <p:nvPr/>
        </p:nvSpPr>
        <p:spPr>
          <a:xfrm>
            <a:off x="6572250" y="5505450"/>
            <a:ext cx="4667250" cy="552450"/>
          </a:xfrm>
          <a:prstGeom prst="roundRect">
            <a:avLst>
              <a:gd name="adj" fmla="val 1379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CC19BD4-0B8C-42F9-B927-05E7CF20E382}"/>
              </a:ext>
            </a:extLst>
          </p:cNvPr>
          <p:cNvSpPr>
            <a:spLocks noGrp="1"/>
          </p:cNvSpPr>
          <p:nvPr/>
        </p:nvSpPr>
        <p:spPr>
          <a:xfrm>
            <a:off x="6800850" y="5657850"/>
            <a:ext cx="4210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1367"/>
          </a:bodyPr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A/B test: baseline page versus Oasis Finder evidence page.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458EF46-CA10-4CF2-AE05-612C17C1BD87}"/>
              </a:ext>
            </a:extLst>
          </p:cNvPr>
          <p:cNvSpPr>
            <a:spLocks noGrp="1"/>
          </p:cNvSpPr>
          <p:nvPr/>
        </p:nvSpPr>
        <p:spPr>
          <a:xfrm>
            <a:off x="495300" y="65532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7C5C9"/>
                </a:solidFill>
              </a:defRPr>
            </a:pPr>
            <a:r>
              <a:rPr sz="900" b="0">
                <a:solidFill>
                  <a:srgbClr val="B7C5C9"/>
                </a:solidFill>
              </a:rPr>
              <a:t>Oasis Finder | Group 9 | Rui Huang and Zixiu Wang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9E88635D-ECD8-45AA-AA41-99D63192FA06}"/>
              </a:ext>
            </a:extLst>
          </p:cNvPr>
          <p:cNvSpPr>
            <a:spLocks noGrp="1"/>
          </p:cNvSpPr>
          <p:nvPr/>
        </p:nvSpPr>
        <p:spPr>
          <a:xfrm>
            <a:off x="6667500" y="6515100"/>
            <a:ext cx="5029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B7C5C9"/>
                </a:solidFill>
              </a:defRPr>
            </a:pPr>
            <a:r>
              <a:rPr sz="825" b="0">
                <a:solidFill>
                  <a:srgbClr val="B7C5C9"/>
                </a:solidFill>
              </a:rPr>
              <a:t>CP Group; CPF; CP Axtra official pages</a:t>
            </a:r>
          </a:p>
        </p:txBody>
      </p:sp>
    </p:spTree>
    <p:extLst>
      <p:ext uri="{BB962C8B-B14F-4D97-AF65-F5344CB8AC3E}">
        <p14:creationId xmlns:p14="http://schemas.microsoft.com/office/powerpoint/2010/main" val="1742264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FDDC667C-E5DD-48E3-9303-6C5BD682162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CAA971B-C2C5-4FC2-A283-DEB1C611DF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16824E5-00AD-4ADC-A836-1E0A83B57F8E}"/>
              </a:ext>
            </a:extLst>
          </p:cNvPr>
          <p:cNvSpPr>
            <a:spLocks noGrp="1"/>
          </p:cNvSpPr>
          <p:nvPr/>
        </p:nvSpPr>
        <p:spPr>
          <a:xfrm>
            <a:off x="495300" y="228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86EFAC"/>
                </a:solidFill>
              </a:defRPr>
            </a:pPr>
            <a:r>
              <a:rPr sz="1200" b="1">
                <a:solidFill>
                  <a:srgbClr val="86EFAC"/>
                </a:solidFill>
              </a:rPr>
              <a:t>OASIS FINDER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B29D419-1106-4384-94B9-824B60CDE288}"/>
              </a:ext>
            </a:extLst>
          </p:cNvPr>
          <p:cNvSpPr>
            <a:spLocks noGrp="1"/>
          </p:cNvSpPr>
          <p:nvPr/>
        </p:nvSpPr>
        <p:spPr>
          <a:xfrm>
            <a:off x="2628900" y="228600"/>
            <a:ext cx="476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B7C5C9"/>
                </a:solidFill>
              </a:defRPr>
            </a:pPr>
            <a:r>
              <a:rPr sz="1200" b="1">
                <a:solidFill>
                  <a:srgbClr val="B7C5C9"/>
                </a:solidFill>
              </a:rPr>
              <a:t>BUILD STORY AND CLOSE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82E1C74-7CA6-4B0D-BA19-6DC3778528DB}"/>
              </a:ext>
            </a:extLst>
          </p:cNvPr>
          <p:cNvSpPr>
            <a:spLocks noGrp="1"/>
          </p:cNvSpPr>
          <p:nvPr/>
        </p:nvSpPr>
        <p:spPr>
          <a:xfrm>
            <a:off x="10668000" y="228600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B7C5C9"/>
                </a:solidFill>
              </a:defRPr>
            </a:pPr>
            <a:r>
              <a:rPr lang="en-US" altLang="zh-CN" sz="1200" b="1">
                <a:solidFill>
                  <a:srgbClr val="B7C5C9"/>
                </a:solidFill>
              </a:rPr>
              <a:t>10 / 10</a:t>
            </a:r>
            <a:endParaRPr sz="1200" b="1">
              <a:solidFill>
                <a:srgbClr val="B7C5C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2277840-69CA-4C7E-8A1D-63BD76C20024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1201400" cy="19050"/>
          </a:xfrm>
          <a:prstGeom prst="rect">
            <a:avLst/>
          </a:prstGeom>
          <a:solidFill>
            <a:srgbClr val="3F555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0C41DC7-20B6-439B-A7D8-01A14EE53CC5}"/>
              </a:ext>
            </a:extLst>
          </p:cNvPr>
          <p:cNvSpPr>
            <a:spLocks noGrp="1"/>
          </p:cNvSpPr>
          <p:nvPr/>
        </p:nvSpPr>
        <p:spPr>
          <a:xfrm>
            <a:off x="495300" y="819150"/>
            <a:ext cx="7620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300" b="1">
                <a:solidFill>
                  <a:srgbClr val="F8FAFC"/>
                </a:solidFill>
              </a:defRPr>
            </a:pPr>
            <a:r>
              <a:rPr sz="3300" b="1">
                <a:solidFill>
                  <a:srgbClr val="F8FAFC"/>
                </a:solidFill>
              </a:rPr>
              <a:t>What we can prove today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E87F777-683E-455B-A4F0-769F0648388B}"/>
              </a:ext>
            </a:extLst>
          </p:cNvPr>
          <p:cNvSpPr>
            <a:spLocks noGrp="1"/>
          </p:cNvSpPr>
          <p:nvPr/>
        </p:nvSpPr>
        <p:spPr>
          <a:xfrm>
            <a:off x="495300" y="1885950"/>
            <a:ext cx="7620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DDE7E9"/>
                </a:solidFill>
              </a:defRPr>
            </a:pPr>
            <a:r>
              <a:rPr sz="1650" b="0">
                <a:solidFill>
                  <a:srgbClr val="DDE7E9"/>
                </a:solidFill>
              </a:rPr>
              <a:t>The rebuild is now a bilingual browser product delivered as an exe installer with verified API, frontend build, layer editor, and live screenshots.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B41F286-C73C-4CC4-8746-930CA70ECA10}"/>
              </a:ext>
            </a:extLst>
          </p:cNvPr>
          <p:cNvSpPr>
            <a:spLocks noGrp="1"/>
          </p:cNvSpPr>
          <p:nvPr/>
        </p:nvSpPr>
        <p:spPr>
          <a:xfrm>
            <a:off x="685800" y="2571750"/>
            <a:ext cx="4762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8C00F39-3B67-404F-B199-F69DBE2DDBA9}"/>
              </a:ext>
            </a:extLst>
          </p:cNvPr>
          <p:cNvSpPr>
            <a:spLocks noGrp="1"/>
          </p:cNvSpPr>
          <p:nvPr/>
        </p:nvSpPr>
        <p:spPr>
          <a:xfrm>
            <a:off x="857250" y="274320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86EFA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17A6FEE-302E-4504-91AF-EFC9995C0A3A}"/>
              </a:ext>
            </a:extLst>
          </p:cNvPr>
          <p:cNvSpPr>
            <a:spLocks noGrp="1"/>
          </p:cNvSpPr>
          <p:nvPr/>
        </p:nvSpPr>
        <p:spPr>
          <a:xfrm>
            <a:off x="857250" y="279082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1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CF4798-EF38-4305-BAB2-16010EFB12D5}"/>
              </a:ext>
            </a:extLst>
          </p:cNvPr>
          <p:cNvSpPr>
            <a:spLocks noGrp="1"/>
          </p:cNvSpPr>
          <p:nvPr/>
        </p:nvSpPr>
        <p:spPr>
          <a:xfrm>
            <a:off x="1352550" y="2724150"/>
            <a:ext cx="3886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Bilingual UI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D34BDCC-7EB1-4B55-8795-10472391197B}"/>
              </a:ext>
            </a:extLst>
          </p:cNvPr>
          <p:cNvSpPr>
            <a:spLocks noGrp="1"/>
          </p:cNvSpPr>
          <p:nvPr/>
        </p:nvSpPr>
        <p:spPr>
          <a:xfrm>
            <a:off x="1352550" y="3067050"/>
            <a:ext cx="3886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Chinese and English pages for both customer and merchant flows.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B4F05176-FA34-4BEB-AE40-1A4CFF06BEE5}"/>
              </a:ext>
            </a:extLst>
          </p:cNvPr>
          <p:cNvSpPr>
            <a:spLocks noGrp="1"/>
          </p:cNvSpPr>
          <p:nvPr/>
        </p:nvSpPr>
        <p:spPr>
          <a:xfrm>
            <a:off x="6019800" y="2571750"/>
            <a:ext cx="4762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5D6E9D4C-8831-4803-B5C5-33DB2C44469B}"/>
              </a:ext>
            </a:extLst>
          </p:cNvPr>
          <p:cNvSpPr>
            <a:spLocks noGrp="1"/>
          </p:cNvSpPr>
          <p:nvPr/>
        </p:nvSpPr>
        <p:spPr>
          <a:xfrm>
            <a:off x="6191250" y="274320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67E8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7C7D21D-1020-4246-9775-3AABD2369A48}"/>
              </a:ext>
            </a:extLst>
          </p:cNvPr>
          <p:cNvSpPr>
            <a:spLocks noGrp="1"/>
          </p:cNvSpPr>
          <p:nvPr/>
        </p:nvSpPr>
        <p:spPr>
          <a:xfrm>
            <a:off x="6191250" y="279082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2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B9BA078-1DB0-45A2-9EB9-82F43092CFFD}"/>
              </a:ext>
            </a:extLst>
          </p:cNvPr>
          <p:cNvSpPr>
            <a:spLocks noGrp="1"/>
          </p:cNvSpPr>
          <p:nvPr/>
        </p:nvSpPr>
        <p:spPr>
          <a:xfrm>
            <a:off x="6686550" y="2724150"/>
            <a:ext cx="3886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Customer frontend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B7F562E-C4D8-40DA-80EA-54D60466EB59}"/>
              </a:ext>
            </a:extLst>
          </p:cNvPr>
          <p:cNvSpPr>
            <a:spLocks noGrp="1"/>
          </p:cNvSpPr>
          <p:nvPr/>
        </p:nvSpPr>
        <p:spPr>
          <a:xfrm>
            <a:off x="6686550" y="3067050"/>
            <a:ext cx="3886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Product shelf, module dissection, route switch, variable proof panel.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DA2D1297-FBDF-4AF9-9F39-56AA35255C86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4762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C8645E21-05A3-4AEF-8243-AE5B1D2D1DC5}"/>
              </a:ext>
            </a:extLst>
          </p:cNvPr>
          <p:cNvSpPr>
            <a:spLocks noGrp="1"/>
          </p:cNvSpPr>
          <p:nvPr/>
        </p:nvSpPr>
        <p:spPr>
          <a:xfrm>
            <a:off x="857250" y="398145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FBBF2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ECC3391-D177-4637-812C-1584BB092C51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3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42EE736-9943-4519-B0A4-C47924B70D47}"/>
              </a:ext>
            </a:extLst>
          </p:cNvPr>
          <p:cNvSpPr>
            <a:spLocks noGrp="1"/>
          </p:cNvSpPr>
          <p:nvPr/>
        </p:nvSpPr>
        <p:spPr>
          <a:xfrm>
            <a:off x="1352550" y="3962400"/>
            <a:ext cx="3886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Merchant backend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392580B-CF3F-41F8-B895-18E7375BBA14}"/>
              </a:ext>
            </a:extLst>
          </p:cNvPr>
          <p:cNvSpPr>
            <a:spLocks noGrp="1"/>
          </p:cNvSpPr>
          <p:nvPr/>
        </p:nvSpPr>
        <p:spPr>
          <a:xfrm>
            <a:off x="1352550" y="4305300"/>
            <a:ext cx="3886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lang="en-US" sz="1275" b="0">
                <a:solidFill>
                  <a:srgbClr val="DDE7E9"/>
                </a:solidFill>
              </a:rPr>
              <a:t>Editable tagged nodes, modules, route edges, evidence, image slots, and Visio-style flow editing.</a:t>
            </a:r>
            <a:endParaRPr sz="1275" b="0">
              <a:solidFill>
                <a:srgbClr val="DDE7E9"/>
              </a:solidFill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FDB07B4-9698-4031-A1E6-45827C939B67}"/>
              </a:ext>
            </a:extLst>
          </p:cNvPr>
          <p:cNvSpPr>
            <a:spLocks noGrp="1"/>
          </p:cNvSpPr>
          <p:nvPr/>
        </p:nvSpPr>
        <p:spPr>
          <a:xfrm>
            <a:off x="6019800" y="3810000"/>
            <a:ext cx="4762500" cy="1066800"/>
          </a:xfrm>
          <a:prstGeom prst="roundRect">
            <a:avLst>
              <a:gd name="adj" fmla="val 7143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8DDFAA09-ED2F-430B-BB26-B850A498530D}"/>
              </a:ext>
            </a:extLst>
          </p:cNvPr>
          <p:cNvSpPr>
            <a:spLocks noGrp="1"/>
          </p:cNvSpPr>
          <p:nvPr/>
        </p:nvSpPr>
        <p:spPr>
          <a:xfrm>
            <a:off x="6191250" y="3981450"/>
            <a:ext cx="361950" cy="323850"/>
          </a:xfrm>
          <a:prstGeom prst="roundRect">
            <a:avLst>
              <a:gd name="adj" fmla="val 23529"/>
            </a:avLst>
          </a:prstGeom>
          <a:solidFill>
            <a:srgbClr val="F9731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C98CD80-C945-49DE-807F-A90ACE510874}"/>
              </a:ext>
            </a:extLst>
          </p:cNvPr>
          <p:cNvSpPr>
            <a:spLocks noGrp="1"/>
          </p:cNvSpPr>
          <p:nvPr/>
        </p:nvSpPr>
        <p:spPr>
          <a:xfrm>
            <a:off x="6191250" y="4029075"/>
            <a:ext cx="361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71014"/>
                </a:solidFill>
              </a:defRPr>
            </a:pPr>
            <a:r>
              <a:rPr sz="1275" b="1">
                <a:solidFill>
                  <a:srgbClr val="071014"/>
                </a:solidFill>
              </a:rPr>
              <a:t>4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CD80AF6-7001-4816-8E4E-251749A7CB30}"/>
              </a:ext>
            </a:extLst>
          </p:cNvPr>
          <p:cNvSpPr>
            <a:spLocks noGrp="1"/>
          </p:cNvSpPr>
          <p:nvPr/>
        </p:nvSpPr>
        <p:spPr>
          <a:xfrm>
            <a:off x="6686550" y="3962400"/>
            <a:ext cx="3886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Delivery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3D9EF0B-F452-4C45-8331-3BC92AF0AA85}"/>
              </a:ext>
            </a:extLst>
          </p:cNvPr>
          <p:cNvSpPr>
            <a:spLocks noGrp="1"/>
          </p:cNvSpPr>
          <p:nvPr/>
        </p:nvSpPr>
        <p:spPr>
          <a:xfrm>
            <a:off x="6686550" y="4305300"/>
            <a:ext cx="38862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DDE7E9"/>
                </a:solidFill>
              </a:defRPr>
            </a:pPr>
            <a:r>
              <a:rPr sz="1275" b="0">
                <a:solidFill>
                  <a:srgbClr val="DDE7E9"/>
                </a:solidFill>
              </a:rPr>
              <a:t>PyInstaller onedir plus Inno Setup installer; launcher smoke test PASS.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5C092A-B3AE-4081-BC52-9EDF8161618E}"/>
              </a:ext>
            </a:extLst>
          </p:cNvPr>
          <p:cNvSpPr>
            <a:spLocks noGrp="1"/>
          </p:cNvSpPr>
          <p:nvPr/>
        </p:nvSpPr>
        <p:spPr>
          <a:xfrm>
            <a:off x="1104900" y="5334000"/>
            <a:ext cx="9982200" cy="628650"/>
          </a:xfrm>
          <a:prstGeom prst="roundRect">
            <a:avLst>
              <a:gd name="adj" fmla="val 12121"/>
            </a:avLst>
          </a:prstGeom>
          <a:solidFill>
            <a:srgbClr val="152326"/>
          </a:solidFill>
          <a:ln w="13335">
            <a:solidFill>
              <a:srgbClr val="3F5558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0CEDA7E-BCA0-4676-BDE5-1940FE025628}"/>
              </a:ext>
            </a:extLst>
          </p:cNvPr>
          <p:cNvSpPr>
            <a:spLocks noGrp="1"/>
          </p:cNvSpPr>
          <p:nvPr/>
        </p:nvSpPr>
        <p:spPr>
          <a:xfrm>
            <a:off x="1524000" y="5543550"/>
            <a:ext cx="9144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rPr sz="1800" b="1">
                <a:solidFill>
                  <a:srgbClr val="F8FAFC"/>
                </a:solidFill>
              </a:rPr>
              <a:t>Final line: We do not ask users to trust a slogan. We let them inspect the chain behind the product.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320D7EFA-8821-4111-B6B9-00EE5E7F5D44}"/>
              </a:ext>
            </a:extLst>
          </p:cNvPr>
          <p:cNvSpPr>
            <a:spLocks noGrp="1"/>
          </p:cNvSpPr>
          <p:nvPr/>
        </p:nvSpPr>
        <p:spPr>
          <a:xfrm>
            <a:off x="3429000" y="6096000"/>
            <a:ext cx="5334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67E8F9"/>
                </a:solidFill>
              </a:defRPr>
            </a:pPr>
            <a:r>
              <a:rPr sz="1500" b="1">
                <a:solidFill>
                  <a:srgbClr val="67E8F9"/>
                </a:solidFill>
              </a:rPr>
              <a:t>https://github.com/3351666087/Oasis-Finder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0902E36-9353-4ADB-8C35-187967ACAC87}"/>
              </a:ext>
            </a:extLst>
          </p:cNvPr>
          <p:cNvSpPr>
            <a:spLocks noGrp="1"/>
          </p:cNvSpPr>
          <p:nvPr/>
        </p:nvSpPr>
        <p:spPr>
          <a:xfrm>
            <a:off x="495300" y="65532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7C5C9"/>
                </a:solidFill>
              </a:defRPr>
            </a:pPr>
            <a:r>
              <a:rPr sz="900" b="0">
                <a:solidFill>
                  <a:srgbClr val="B7C5C9"/>
                </a:solidFill>
              </a:rPr>
              <a:t>Oasis Finder | Group 9 | Rui Huang and Zixiu Wang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D16E6CA-719B-4BF7-B27F-FDBF14B92A51}"/>
              </a:ext>
            </a:extLst>
          </p:cNvPr>
          <p:cNvSpPr>
            <a:spLocks noGrp="1"/>
          </p:cNvSpPr>
          <p:nvPr/>
        </p:nvSpPr>
        <p:spPr>
          <a:xfrm>
            <a:off x="6667500" y="6515100"/>
            <a:ext cx="5029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825" b="0">
                <a:solidFill>
                  <a:srgbClr val="B7C5C9"/>
                </a:solidFill>
              </a:defRPr>
            </a:pPr>
            <a:r>
              <a:rPr sz="825" b="0">
                <a:solidFill>
                  <a:srgbClr val="B7C5C9"/>
                </a:solidFill>
              </a:rPr>
              <a:t>References in notes: Ge 2022; Tran et al. 2024; Wang et al. 2021; FDA; GS1; CP official pages</a:t>
            </a:r>
          </a:p>
        </p:txBody>
      </p:sp>
    </p:spTree>
    <p:extLst>
      <p:ext uri="{BB962C8B-B14F-4D97-AF65-F5344CB8AC3E}">
        <p14:creationId xmlns:p14="http://schemas.microsoft.com/office/powerpoint/2010/main" val="116305562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2486</Words>
  <Application>Microsoft Office PowerPoint</Application>
  <DocSecurity>0</DocSecurity>
  <PresentationFormat>宽屏</PresentationFormat>
  <Paragraphs>256</Paragraphs>
  <Slides>10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Calibri</vt:lpstr>
      <vt:lpstr>Cascadia Mono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Rui.Huang24</cp:lastModifiedBy>
  <cp:revision>2</cp:revision>
  <dcterms:created xsi:type="dcterms:W3CDTF">2026-04-28T08:59:24Z</dcterms:created>
  <dcterms:modified xsi:type="dcterms:W3CDTF">2026-04-28T13:44:50Z</dcterms:modified>
</cp:coreProperties>
</file>