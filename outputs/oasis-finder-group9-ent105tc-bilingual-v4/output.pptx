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cf701be3934fdb" /><Relationship Type="http://schemas.openxmlformats.org/officeDocument/2006/relationships/extended-properties" Target="/docProps/app.xml" Id="R93721dc8986a4120" /><Relationship Type="http://schemas.openxmlformats.org/officeDocument/2006/relationships/officeDocument" Target="/ppt/presentation.xml" Id="R49ae6338d8c046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ec618de8834081"/>
  </p:sldMasterIdLst>
  <p:notesMasterIdLst>
    <p:notesMasterId xmlns:r="http://schemas.openxmlformats.org/officeDocument/2006/relationships" r:id="R1b70d144c09943d7"/>
  </p:notesMasterIdLst>
  <p:sldIdLst>
    <p:sldId xmlns:r="http://schemas.openxmlformats.org/officeDocument/2006/relationships" id="256" r:id="R6c85ee6e48374ccf"/>
    <p:sldId xmlns:r="http://schemas.openxmlformats.org/officeDocument/2006/relationships" id="257" r:id="Rb6afb9cda09f4f09"/>
    <p:sldId xmlns:r="http://schemas.openxmlformats.org/officeDocument/2006/relationships" id="258" r:id="R2003c65d1f324874"/>
    <p:sldId xmlns:r="http://schemas.openxmlformats.org/officeDocument/2006/relationships" id="259" r:id="R022ea1677d2e4475"/>
    <p:sldId xmlns:r="http://schemas.openxmlformats.org/officeDocument/2006/relationships" id="260" r:id="R84b47dbac5d44277"/>
    <p:sldId xmlns:r="http://schemas.openxmlformats.org/officeDocument/2006/relationships" id="261" r:id="R82766803d7b14bcf"/>
    <p:sldId xmlns:r="http://schemas.openxmlformats.org/officeDocument/2006/relationships" id="262" r:id="Rfe43792951d74426"/>
    <p:sldId xmlns:r="http://schemas.openxmlformats.org/officeDocument/2006/relationships" id="263" r:id="Rbd4dfefe81fd42c3"/>
    <p:sldId xmlns:r="http://schemas.openxmlformats.org/officeDocument/2006/relationships" id="264" r:id="Rf32969d4c6cc4e40"/>
    <p:sldId xmlns:r="http://schemas.openxmlformats.org/officeDocument/2006/relationships" id="265" r:id="Rb525394e42c24c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c618de8834081" /><Relationship Type="http://schemas.openxmlformats.org/officeDocument/2006/relationships/theme" Target="/ppt/theme/theme1.xml" Id="Rbd83fdaa6f774a6b" /><Relationship Type="http://schemas.openxmlformats.org/officeDocument/2006/relationships/notesMaster" Target="/ppt/notesMasters/notesMaster1.xml" Id="R1b70d144c09943d7" /><Relationship Type="http://schemas.openxmlformats.org/officeDocument/2006/relationships/presProps" Target="/ppt/presProps.xml" Id="R01ae407366e24e4a" /><Relationship Type="http://schemas.openxmlformats.org/officeDocument/2006/relationships/viewProps" Target="/ppt/viewProps.xml" Id="Rc0ce06d1d60b4638" /><Relationship Type="http://schemas.openxmlformats.org/officeDocument/2006/relationships/tableStyles" Target="/ppt/tableStyles.xml" Id="Re035187d51224bf9" /><Relationship Type="http://schemas.openxmlformats.org/officeDocument/2006/relationships/slide" Target="/ppt/slides/slide1.xml" Id="R6c85ee6e48374ccf" /><Relationship Type="http://schemas.openxmlformats.org/officeDocument/2006/relationships/slide" Target="/ppt/slides/slide2.xml" Id="Rb6afb9cda09f4f09" /><Relationship Type="http://schemas.openxmlformats.org/officeDocument/2006/relationships/slide" Target="/ppt/slides/slide3.xml" Id="R2003c65d1f324874" /><Relationship Type="http://schemas.openxmlformats.org/officeDocument/2006/relationships/slide" Target="/ppt/slides/slide4.xml" Id="R022ea1677d2e4475" /><Relationship Type="http://schemas.openxmlformats.org/officeDocument/2006/relationships/slide" Target="/ppt/slides/slide5.xml" Id="R84b47dbac5d44277" /><Relationship Type="http://schemas.openxmlformats.org/officeDocument/2006/relationships/slide" Target="/ppt/slides/slide6.xml" Id="R82766803d7b14bcf" /><Relationship Type="http://schemas.openxmlformats.org/officeDocument/2006/relationships/slide" Target="/ppt/slides/slide7.xml" Id="Rfe43792951d74426" /><Relationship Type="http://schemas.openxmlformats.org/officeDocument/2006/relationships/slide" Target="/ppt/slides/slide8.xml" Id="Rbd4dfefe81fd42c3" /><Relationship Type="http://schemas.openxmlformats.org/officeDocument/2006/relationships/slide" Target="/ppt/slides/slide9.xml" Id="Rf32969d4c6cc4e40" /><Relationship Type="http://schemas.openxmlformats.org/officeDocument/2006/relationships/slide" Target="/ppt/slides/slide10.xml" Id="Rb525394e42c24c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b1cbda310064e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debb876f5149f3" /><Relationship Type="http://schemas.openxmlformats.org/officeDocument/2006/relationships/notesMaster" Target="/ppt/notesMasters/notesMaster1.xml" Id="R6e043acb725846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aaf244aafa4111" /><Relationship Type="http://schemas.openxmlformats.org/officeDocument/2006/relationships/notesMaster" Target="/ppt/notesMasters/notesMaster1.xml" Id="R61b48f47d25c4b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b52fafe1b54b0f" /><Relationship Type="http://schemas.openxmlformats.org/officeDocument/2006/relationships/notesMaster" Target="/ppt/notesMasters/notesMaster1.xml" Id="Rd9c475fb95624d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be5fc3baec42e1" /><Relationship Type="http://schemas.openxmlformats.org/officeDocument/2006/relationships/notesMaster" Target="/ppt/notesMasters/notesMaster1.xml" Id="Raa0a78d6bd1340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e019bc6c18428b" /><Relationship Type="http://schemas.openxmlformats.org/officeDocument/2006/relationships/notesMaster" Target="/ppt/notesMasters/notesMaster1.xml" Id="R09eb58d521034b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c862d4ed1c410c" /><Relationship Type="http://schemas.openxmlformats.org/officeDocument/2006/relationships/notesMaster" Target="/ppt/notesMasters/notesMaster1.xml" Id="R27db0616d80b4c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d0d72faf5c4fb3" /><Relationship Type="http://schemas.openxmlformats.org/officeDocument/2006/relationships/notesMaster" Target="/ppt/notesMasters/notesMaster1.xml" Id="R59f306f3406646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ed81106e804816" /><Relationship Type="http://schemas.openxmlformats.org/officeDocument/2006/relationships/notesMaster" Target="/ppt/notesMasters/notesMaster1.xml" Id="Ra2897e484aa44b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5d024d70514fb0" /><Relationship Type="http://schemas.openxmlformats.org/officeDocument/2006/relationships/notesMaster" Target="/ppt/notesMasters/notesMaster1.xml" Id="Rad5704e49b0143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71fed1173e4a9f" /><Relationship Type="http://schemas.openxmlformats.org/officeDocument/2006/relationships/notesMaster" Target="/ppt/notesMasters/notesMaster1.xml" Id="R84a3b076bccd4c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 opens. Say: Oasis Finder is not just a dashboard. It is a method for merchants to show credible supply-chain evidence at the exact buying moment.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Ge, L. (2022). To buy or not to buy?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Food Control, 162, 110453. https://doi.org/10.1016/j.foodcont.2024.110453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 explains the teacher-feedback pivot. The point is no longer to compare competitor dashboards. The point is whether supply-chain display increases buying probability.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Group 9 questionnaire direction (2026). Directional 1-5 coding; raw response file not stored in repository.</a:t>
            </a:r>
          </a:p>
          <a:p xmlns:a="http://schemas.openxmlformats.org/drawingml/2006/main">
            <a:r>
              <a:t>- Ge, L. (2022). To buy or not to buy?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Food Control, 162, 110453. https://doi.org/10.1016/j.foodcont.2024.110453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 explains the frontend logic in friendly language. Avoid over-technical wording. Emphasize that module dissection makes a complex supply chain understandable.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Wang, E. S.-T., Lin, H.-C., &amp; Tsai, M.-C. (2021). Effect of institutional trust on traceable fresh food. Foods, 10(12), 2898. https://doi.org/10.3390/foods10122898</a:t>
            </a:r>
          </a:p>
          <a:p xmlns:a="http://schemas.openxmlformats.org/drawingml/2006/main">
            <a:r>
              <a:t>- GS1. (n.d.). Traceability standards. https://www.gs1.org/standards/traceability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 covers engineering. Say clearly that PySide6 is not the main interface anymore. It is a clean one-switch launcher; the business UI is browser-based.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Oasis Finder repository and local validation evidence. https://github.com/3351666087/Oasis-Finder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 should walk through this slowly: open the customer page, show the product shelf, click one product, then point out that the UI does not begin with a scary data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Oasis Finder repository and local validation evidence. https://github.com/3351666087/Oasis-Finder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 starts here after Rui hands over. Explain the module click. The key point is the values: module, city, lot, received date, inspection, traceability.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GS1. (n.d.). Traceability standards. https://www.gs1.org/standards/traceability</a:t>
            </a:r>
          </a:p>
          <a:p xmlns:a="http://schemas.openxmlformats.org/drawingml/2006/main">
            <a:r>
              <a:t>- U.S. FDA. (2024). FSMA Food Traceability Rule: Critical Tracking Events and Key Data Elements. https://www.fda.gov/food/food-safety-modernization-act-fsma/fsma-final-rule-requirements-additional-traceability-records-certain-foods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 explains the backend in very simple steps. Also mention that merchants can provide their own images later; for now icon-style placeholders make the interface ready.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Oasis Finder repository and local validation evidence. https://github.com/3351666087/Oasis-Finder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 covers responsibility. Say: our code is open and the API is ready, but large companies remain responsible for proving their own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U.S. FDA. (2024). FSMA Food Traceability Rule: Critical Tracking Events and Key Data Elements. https://www.fda.gov/food/food-safety-modernization-act-fsma/fsma-final-rule-requirements-additional-traceability-records-certain-foods</a:t>
            </a:r>
          </a:p>
          <a:p xmlns:a="http://schemas.openxmlformats.org/drawingml/2006/main">
            <a:r>
              <a:t>- GS1. (n.d.). Traceability standards. https://www.gs1.org/standards/traceability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 explains CP Group. CP Group is suitable because the method can connect upstream and retail information. But Oasis Finder is a general merchant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Charoen Pokphand Group. Our Business. https://www.cpgroupglobal.com/en/about-cp-group/our-business</a:t>
            </a:r>
          </a:p>
          <a:p xmlns:a="http://schemas.openxmlformats.org/drawingml/2006/main">
            <a:r>
              <a:t>- Charoen Pokphand Foods. Farm business. https://www.cpfworldwide.com/en/business/farm</a:t>
            </a:r>
          </a:p>
          <a:p xmlns:a="http://schemas.openxmlformats.org/drawingml/2006/main">
            <a:r>
              <a:t>- CP Axtra. Corporate website. https://www.cpaxtra.com/</a:t>
            </a:r>
          </a:p>
          <a:p xmlns:a="http://schemas.openxmlformats.org/drawingml/2006/main">
            <a:r>
              <a:t>- Ge, L. (2022). To buy or not to buy? Frontiers in Psychology, 13, 873941. https://doi.org/10.3389/fpsyg.2022.873941</a:t>
            </a:r>
          </a:p>
          <a:p xmlns:a="http://schemas.openxmlformats.org/drawingml/2006/main">
            <a:r>
              <a:t>- Wang, E. S.-T., Lin, H.-C., &amp; Tsai, M.-C. (2021). Effect of institutional trust on traceable fresh food. Foods, 10(12), 2898. https://doi.org/10.3390/foods10122898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 closes. Mention validations quickly, point to GitHub, and say the final line slowly. Then invite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Oasis Finder repository and local validation evidence. https://github.com/3351666087/Oasis-Finder</a:t>
            </a:r>
          </a:p>
          <a:p xmlns:a="http://schemas.openxmlformats.org/drawingml/2006/main">
            <a:r>
              <a:t>- Ge, L. (2022). To buy or not to buy?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Food Control, 162, 110453. https://doi.org/10.1016/j.foodcont.2024.110453</a:t>
            </a:r>
          </a:p>
          <a:p xmlns:a="http://schemas.openxmlformats.org/drawingml/2006/main">
            <a:r>
              <a:t>- Wang, E. S.-T., Lin, H.-C., &amp; Tsai, M.-C. (2021). Effect of institutional trust on traceable fresh food. Foods, 10(12), 2898. https://doi.org/10.3390/foods10122898</a:t>
            </a:r>
          </a:p>
          <a:p xmlns:a="http://schemas.openxmlformats.org/drawingml/2006/main">
            <a:r>
              <a:t>- U.S. FDA. (2024). FSMA Food Traceability Rule: Critical Tracking Events and Key Data Elements. https://www.fda.gov/food/food-safety-modernization-act-fsma/fsma-final-rule-requirements-additional-traceability-records-certain-foods</a:t>
            </a:r>
          </a:p>
          <a:p xmlns:a="http://schemas.openxmlformats.org/drawingml/2006/main">
            <a:r>
              <a:t>- GS1. (n.d.). Traceability standards. https://www.gs1.org/standards/traceability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e964a3c67407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DFF72890-6EA6-4FAD-81A7-9D33981FCA1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F1DFFCB4-17ED-4EDC-B124-C3F85BCF47FF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673A6F-B0BD-481A-A712-89C47BFDB8D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27795E-F99D-4C13-BCEC-0E05DD53E14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DC667C-E5DD-48E3-9303-6C5BD68216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c30ff24b72a4c1c" /><Relationship Type="http://schemas.openxmlformats.org/officeDocument/2006/relationships/slideLayout" Target="/ppt/slideLayouts/slideLayout2.xml" Id="R730bb997e0f940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042F4C-98E2-4938-825C-913F6DCA089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0bb997e0f940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5f5231f7e64f43" /><Relationship Type="http://schemas.openxmlformats.org/officeDocument/2006/relationships/notesSlide" Target="/ppt/notesSlides/notesSlide1.xml" Id="R0746080c7a5845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725a6e6f844ba5" /><Relationship Type="http://schemas.openxmlformats.org/officeDocument/2006/relationships/chart" Target="/ppt/slides/charts/chart1.xml" Id="R39835f142c704b6c" /><Relationship Type="http://schemas.openxmlformats.org/officeDocument/2006/relationships/notesSlide" Target="/ppt/notesSlides/notesSlide2.xml" Id="R1eebc6b451c94a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01d9cbccdd41da" /><Relationship Type="http://schemas.openxmlformats.org/officeDocument/2006/relationships/notesSlide" Target="/ppt/notesSlides/notesSlide3.xml" Id="Rc3471e5081ce4c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a620f2e3654c14" /><Relationship Type="http://schemas.openxmlformats.org/officeDocument/2006/relationships/image" Target="/ppt/media/image.png" Id="R91756c7b75224582" /><Relationship Type="http://schemas.openxmlformats.org/officeDocument/2006/relationships/notesSlide" Target="/ppt/notesSlides/notesSlide4.xml" Id="Ra7a437fccdf647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ee1c9d657d4bc4" /><Relationship Type="http://schemas.openxmlformats.org/officeDocument/2006/relationships/image" Target="/ppt/media/image2.png" Id="R9e53286a14694bbc" /><Relationship Type="http://schemas.openxmlformats.org/officeDocument/2006/relationships/notesSlide" Target="/ppt/notesSlides/notesSlide5.xml" Id="R5ea10738d1f648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fd580cff8d4578" /><Relationship Type="http://schemas.openxmlformats.org/officeDocument/2006/relationships/image" Target="/ppt/media/image3.png" Id="R1b0014696e3b40a3" /><Relationship Type="http://schemas.openxmlformats.org/officeDocument/2006/relationships/notesSlide" Target="/ppt/notesSlides/notesSlide6.xml" Id="R4ab07ee285e24b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75aaa81dc44e3b" /><Relationship Type="http://schemas.openxmlformats.org/officeDocument/2006/relationships/image" Target="/ppt/media/image4.png" Id="Re620e50cfe414f12" /><Relationship Type="http://schemas.openxmlformats.org/officeDocument/2006/relationships/notesSlide" Target="/ppt/notesSlides/notesSlide7.xml" Id="R71b23c8854b948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91c380e6174ddf" /><Relationship Type="http://schemas.openxmlformats.org/officeDocument/2006/relationships/notesSlide" Target="/ppt/notesSlides/notesSlide8.xml" Id="R93c4c9f832934c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5b106642584130" /><Relationship Type="http://schemas.openxmlformats.org/officeDocument/2006/relationships/notesSlide" Target="/ppt/notesSlides/notesSlide9.xml" Id="Rf3b70e9473ec45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3dd69f61a048aa" /><Relationship Type="http://schemas.openxmlformats.org/officeDocument/2006/relationships/notesSlide" Target="/ppt/notesSlides/notesSlide10.xml" Id="Rf21ace90c53a4edd" /></Relationships>
</file>

<file path=ppt/slides/charts/chart1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Buying probability signal</c:v>
          </c:tx>
          <c:spPr>
            <a:solidFill xmlns:a="http://schemas.openxmlformats.org/drawingml/2006/main">
              <a:srgbClr val="14B8A6"/>
            </a:solidFill>
            <a:ln xmlns:a="http://schemas.openxmlformats.org/drawingml/2006/main" w="11430">
              <a:solidFill>
                <a:srgbClr val="14B8A6"/>
              </a:solidFill>
              <a:prstDash val="solid"/>
            </a:ln>
          </c:spPr>
          <c:cat>
            <c:strLit>
              <c:ptCount val="5"/>
              <c:pt idx="0">
                <c:v>Cake / bakery</c:v>
              </c:pt>
              <c:pt idx="1">
                <c:v>Chilled meat</c:v>
              </c:pt>
              <c:pt idx="2">
                <c:v>Dairy</c:v>
              </c:pt>
              <c:pt idx="3">
                <c:v>Fresh produce</c:v>
              </c:pt>
              <c:pt idx="4">
                <c:v>Ready meal</c:v>
              </c:pt>
            </c:strLit>
          </c:cat>
          <c:val>
            <c:numLit>
              <c:formatCode/>
              <c:ptCount val="5"/>
              <c:pt idx="0">
                <c:v>4.6</c:v>
              </c:pt>
              <c:pt idx="1">
                <c:v>4.5</c:v>
              </c:pt>
              <c:pt idx="2">
                <c:v>4.3</c:v>
              </c:pt>
              <c:pt idx="3">
                <c:v>4.1</c:v>
              </c:pt>
              <c:pt idx="4">
                <c:v>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8FAFC"/>
        </a:solidFill>
      </c:spPr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DC667C-E5DD-48E3-9303-6C5BD68216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ED512-7010-4F52-8981-F5066EB1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BFF54-984B-4297-825E-B534772E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A26D6-D3DA-4C56-8F18-9ECF4F9D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COMMERCIAL TRANSPARENCY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068B8-C782-4CB4-9F78-ADEECC32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01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99868-13B5-4EED-927B-C6809E3A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49888-1D31-4EC4-BD5E-5B6B2AA4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2C47B-8997-4E2D-93BA-0E283372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809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D96ED-EB9F-464A-A541-7394E876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921F0-6E5D-436D-8621-8CEFED62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COMMERCIAL TRANSPARENCY 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90A1B-9747-42D5-94EF-4C1A4159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01 /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EBCA9-1209-42B6-9539-E34ABF88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20BC1-2B7E-4F06-BFBA-2166DB29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2952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Oasis</a:t>
            </a:r>
          </a:p>
          <a:p xmlns:a="http://schemas.openxmlformats.org/drawingml/2006/main">
            <a:pPr algn="l">
              <a:defRPr sz="4350" b="1">
                <a:solidFill>
                  <a:srgbClr val="F8FAFC"/>
                </a:solidFill>
              </a:defRPr>
            </a:pPr>
            <a:r>
              <a:rPr sz="4350" b="1">
                <a:solidFill>
                  <a:srgbClr val="F8FAFC"/>
                </a:solidFill>
              </a:rPr>
              <a:t>Finder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7A8F0-4F83-435F-86AC-3E7E64EA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6EFAC"/>
                </a:solidFill>
              </a:defRPr>
            </a:pPr>
            <a:r>
              <a:rPr sz="1800" b="1">
                <a:solidFill>
                  <a:srgbClr val="86EFAC"/>
                </a:solidFill>
              </a:rPr>
              <a:t>Group 9</a:t>
            </a:r>
          </a:p>
          <a:p xmlns:a="http://schemas.openxmlformats.org/drawingml/2006/main">
            <a:pPr algn="l">
              <a:defRPr sz="1800" b="1">
                <a:solidFill>
                  <a:srgbClr val="86EFAC"/>
                </a:solidFill>
              </a:defRPr>
            </a:pPr>
            <a:r>
              <a:rPr sz="1800" b="1">
                <a:solidFill>
                  <a:srgbClr val="86EFAC"/>
                </a:solidFill>
              </a:rPr>
              <a:t>Rui Huang + Zixiu Wang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BF0555-94D2-40F4-8B52-C5EC2D14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66800"/>
            <a:ext cx="628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Will shoppers buy more when a product exposes its supply chain?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07504-022D-4D90-9798-45E93B1A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628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42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Our product is a merchant-facing transparency method: show the product, split it into components, then let users inspect evidence before purchase.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6FFDA-D487-4F2C-99BB-E8921C29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552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E52D3-7633-4142-A97F-0A7DCD03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57650"/>
            <a:ext cx="518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OPEN-SOURCE 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47251-9E7C-493F-90E4-2C0914CF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24350"/>
            <a:ext cx="518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github.com/3351666087/Oasis-Finder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1BFA0F-E8BD-4768-80C5-2CAFE817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91125"/>
            <a:ext cx="5524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D45C68-F3E9-4484-9A6C-4F065081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362575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AD085-5852-429E-8748-33338A83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4102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8m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FC5051-1E2A-42DB-A18F-B4FCDA0E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43525"/>
            <a:ext cx="464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Presentation promise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DC408A-744B-4318-8B4B-F10DDE55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86425"/>
            <a:ext cx="464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Every slide is readable enough for a weak-memory live presentation.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CD339A-72AC-476C-9AFA-F0299304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</p:spTree>
    <p:extLst>
      <p:ext uri="{BB962C8B-B14F-4D97-AF65-F5344CB8AC3E}">
        <p14:creationId xmlns:p14="http://schemas.microsoft.com/office/powerpoint/2010/main" val="727225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DC667C-E5DD-48E3-9303-6C5BD68216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BA369-3102-47FD-89BE-106A5292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A2C6D-E391-469E-BC81-2FE36C4F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AA008-21D6-42EF-AFB2-158F3BAD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QUESTIONNAIRE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53393-1C9E-4650-913E-071EF571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02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AD7DD-951C-4AC5-BEAD-E5D1B528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0E997-563E-4F79-8A18-FCB318CD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561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Users prefer visible supply-chain evidence for high-trust food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D991C-4C77-452A-8806-D8F04CD1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561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31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We framed the questionnaire around buying probability after merchants show route, time, place, quality, and temperature evidence.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515100" y="1200150"/>
          <a:ext xmlns:a="http://schemas.openxmlformats.org/drawingml/2006/main" cx="476250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835f142c704b6c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B992D-8E6F-4223-9F25-68AE554E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B0C18-3C34-4E28-89D5-EE0E2989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B3A18-8F0A-458F-B783-C5F35707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4C4A5-8F3C-40BC-AB0D-051D87F7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Cake / bakery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22F55-2D53-4431-9EF7-4BFE1FEE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426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Ingredients and freshness are hard to judge from appearance alone.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DB7A9B-1483-403B-B008-0B9AAEAA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7B35E-8E38-4288-A2C2-EDE39673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66E018-2D12-4F66-B3B2-5322A489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754BE-8243-48CC-9DD9-A5933077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0050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Chilled meat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627D3-8982-409B-9A3F-2EFD576B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43400"/>
            <a:ext cx="426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Safety and cold-chain trust matter before purchase.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77F471-15B7-48F1-98E4-EE3C4E3C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E41012-619A-4738-ABDF-73084FC2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BE753E-CFB8-42E0-AE86-7024B6BA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68D979-9CF2-41AC-94FE-87B45C44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Dairy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C04AD6-3C3A-46AF-B93C-602ADBC2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86350"/>
            <a:ext cx="426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Temperature and expiry evidence can reduce perceived risk.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C88079-0F20-4E81-88A7-B9E20F56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27E640-5B58-431F-BF2B-4B98FA18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83D896-5F8A-41C7-9019-F548598A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530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DF3469-7853-4C31-A605-4250B180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8640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Fresh produce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CC1E5B-D5A5-4582-8672-3903E205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29300"/>
            <a:ext cx="426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Origin and handling evidence make freshness easier to believe.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7600C6-061B-4BDB-AF10-D758DAC7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863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Directional coding: 1 = weak lift, 5 = strong lift. The exact response file can replace this chart in the same schema.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FFA319-4CCF-4FD1-9C5D-698ADF5E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175993-17F6-4A54-9E2B-615C7A2D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5C9"/>
                </a:solidFill>
              </a:defRPr>
            </a:pPr>
            <a:r>
              <a:rPr sz="825" b="0">
                <a:solidFill>
                  <a:srgbClr val="B7C5C9"/>
                </a:solidFill>
              </a:rPr>
              <a:t>Ge (2022); Tran et al. (2024); Group 9 questionnaire direction</a:t>
            </a:r>
          </a:p>
        </p:txBody>
      </p:sp>
    </p:spTree>
    <p:extLst>
      <p:ext uri="{BB962C8B-B14F-4D97-AF65-F5344CB8AC3E}">
        <p14:creationId xmlns:p14="http://schemas.microsoft.com/office/powerpoint/2010/main" val="1803297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DC667C-E5DD-48E3-9303-6C5BD68216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A4DEB-72C0-498A-98B3-4221B3DF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01F3B-B132-4552-BAF9-80CC5AD4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F95C1-E211-4A48-A51B-F7139635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CUSTOMER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102A4-243F-45A1-BBD2-840384E1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03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08C48-C241-492D-9D01-809A81CF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7EA3C-1D2A-4D82-BB07-03A17F4E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3450"/>
            <a:ext cx="647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The user experience is intentionally simple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41AAD-D2F2-4BBF-B59D-C76D39A8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647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Like a Hema or Sam's Club product page: product first, evidence second, technical graph only when the user asks for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90449-0151-4A2D-82FC-26F3F539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109D1-1065-4589-B0F2-2A3EB21E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042D8-7B26-40F4-84D0-A7964A1F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1FC0C-A9C6-469A-ACF4-7B7138F5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86100"/>
            <a:ext cx="2552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Choose a product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76A30-4453-4B57-A821-255470F7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2900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Users start from name, category, price, and proof score.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FD651-1CF4-4638-A9D1-D47F02A3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3370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F2A62-BBAF-42C3-B3E3-65B10970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B1CB7-5587-46B6-9BCA-E3F64B93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52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9400D3-DEB7-42B9-849D-EB438AF8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86100"/>
            <a:ext cx="2552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Split into modules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BF4D3A-B931-49EB-B833-2B21831A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2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Cake becomes cake base and cream; meat becomes input, packaging, QR label, and cold-chain pack.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8160A-3C18-4486-B212-A64E3C16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76F72-4FC2-48F1-8840-CB1E6B50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98024-1D18-4A3D-8FC7-7B8803F0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527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B577F2-AB79-436E-AF8B-053550B3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86100"/>
            <a:ext cx="2552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Inspect the route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04229-C5B4-4258-A242-870D9199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255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66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Click a component to switch from whole-product supply chain to module-level supply chain.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178BC0-06CF-47C8-A006-871130D5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971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1EB6FD-5236-45F4-BE1F-1DB4FA54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577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16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Plain-language promise: customers do not need to understand databases. They only need to see where the product came from, when it moved, and why it is safe enough to buy.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7A2889-54FA-4044-B282-7DE87A32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</p:spTree>
    <p:extLst>
      <p:ext uri="{BB962C8B-B14F-4D97-AF65-F5344CB8AC3E}">
        <p14:creationId xmlns:p14="http://schemas.microsoft.com/office/powerpoint/2010/main" val="12556942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DC667C-E5DD-48E3-9303-6C5BD68216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94092-83DF-4A19-8526-CB81B4DA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AC678-23D2-4407-846B-443CD588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034B4-3BB5-40BF-A628-38AEB6DA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BROWSER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A0862-B15E-4557-AD09-74392B74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04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0E4E1-8636-49E3-827C-4D4DE67E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A999F-33BC-41C3-8136-20F09D67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657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PySide6 is now only a one-switch launcher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75C37-55DE-4162-8847-997BC141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The real product is a browser system: bilingual customer frontend, merchant backend, FastAPI service, and MySQL digital twin.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56c7b75224582"/>
          <a:srcRect xmlns:a="http://schemas.openxmlformats.org/drawingml/2006/main" l="0" t="597" r="0" b="5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876300"/>
            <a:ext cx="2952750" cy="18669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6654C-6BD9-477E-B6D6-4BE971A9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190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C7349-A343-45C2-9132-0FAF2D75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B8A6"/>
                </a:solidFill>
              </a:defRPr>
            </a:pPr>
            <a:r>
              <a:rPr sz="1725" b="1">
                <a:solidFill>
                  <a:srgbClr val="14B8A6"/>
                </a:solidFill>
              </a:rPr>
              <a:t>PySide6 switch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1A083C-1806-45FF-91F4-6C99131C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1847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58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red by default</a:t>
            </a:r>
          </a:p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turns green and opens browser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32BAE-6C40-4CE7-A0A4-D0254C1A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00450"/>
            <a:ext cx="4953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19D6F-36B6-4109-85CC-FB6C6136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48000"/>
            <a:ext cx="2190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0F7A4-9411-4E9E-8A01-8F89C213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7E8F9"/>
                </a:solidFill>
              </a:defRPr>
            </a:pPr>
            <a:r>
              <a:rPr sz="1725" b="1">
                <a:solidFill>
                  <a:srgbClr val="67E8F9"/>
                </a:solidFill>
              </a:rPr>
              <a:t>FastAPI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425E0-C834-495A-896C-0B0EEC5B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52850"/>
            <a:ext cx="1847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serves API + built React</a:t>
            </a:r>
          </a:p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WebSocket live broadcast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9C472-F204-405A-A16A-51E20208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00450"/>
            <a:ext cx="4953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0E47A2-741E-473C-BBFA-35D51CD2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48000"/>
            <a:ext cx="2190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F8046-A96B-4863-8908-96D7590E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1945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</a:defRPr>
            </a:pPr>
            <a:r>
              <a:rPr sz="1725" b="1">
                <a:solidFill>
                  <a:srgbClr val="FBBF24"/>
                </a:solidFill>
              </a:rPr>
              <a:t>MySQL digital twin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01A30-111A-4DDE-A0E6-A41FF394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52850"/>
            <a:ext cx="1847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products, batches, lots</a:t>
            </a:r>
          </a:p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shipments, risk, inspections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F5C2AA-EDD3-4B75-A326-FFB80DDB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00450"/>
            <a:ext cx="4953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B5F30C-04A9-425B-AE57-DD943B6C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48000"/>
            <a:ext cx="2190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ED5613-71B6-46A3-BCE6-3889ACB6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19450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6EFAC"/>
                </a:solidFill>
              </a:defRPr>
            </a:pPr>
            <a:r>
              <a:rPr sz="1725" b="1">
                <a:solidFill>
                  <a:srgbClr val="86EFAC"/>
                </a:solidFill>
              </a:rPr>
              <a:t>Bilingual browser UI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423F27-5804-4ABE-99AF-AC0A817D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52850"/>
            <a:ext cx="1847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58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Chinese / English</a:t>
            </a:r>
          </a:p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customer page + admin page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D753A6-7135-48C8-B45D-AE5C2B27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43500"/>
            <a:ext cx="2571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25AD00-F007-4101-B5FE-DBF86137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9590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REALTIME CHANNEL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BAE195-7998-478E-9F75-76EA0DCE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6260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54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WebSocket /ws/updates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A27264-E4F1-49A9-89E5-D9EBCB58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43500"/>
            <a:ext cx="2571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63A9D3-ED8A-4891-8F2D-4AA7B2A4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9590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BBF24"/>
                </a:solidFill>
              </a:defRPr>
            </a:pPr>
            <a:r>
              <a:rPr sz="975" b="1">
                <a:solidFill>
                  <a:srgbClr val="FBBF24"/>
                </a:solidFill>
              </a:rPr>
              <a:t>BACKEND URL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020E28-68C6-4EC1-98AC-D000E083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6260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127.0.0.1:8000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8600DA-37D3-4370-B42A-3E8F8EFB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43500"/>
            <a:ext cx="2571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8D3BC0-E1AC-4659-9A4D-0FB12AF1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95900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6EFAC"/>
                </a:solidFill>
              </a:defRPr>
            </a:pPr>
            <a:r>
              <a:rPr sz="975" b="1">
                <a:solidFill>
                  <a:srgbClr val="86EFAC"/>
                </a:solidFill>
              </a:rPr>
              <a:t>BROWSER ROUTE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2D9C99-F9F4-424F-B282-936A1865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62600"/>
            <a:ext cx="2228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045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/?lang=zh or ?lang=en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CCAD92-DCE2-4DC6-90CB-B11CCE46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5AB998-884B-4458-8C1D-4ABEA733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5C9"/>
                </a:solidFill>
              </a:defRPr>
            </a:pPr>
            <a:r>
              <a:rPr sz="825" b="0">
                <a:solidFill>
                  <a:srgbClr val="B7C5C9"/>
                </a:solidFill>
              </a:rPr>
              <a:t>Repository runtime validation, 2026-04-28</a:t>
            </a:r>
          </a:p>
        </p:txBody>
      </p:sp>
    </p:spTree>
    <p:extLst>
      <p:ext uri="{BB962C8B-B14F-4D97-AF65-F5344CB8AC3E}">
        <p14:creationId xmlns:p14="http://schemas.microsoft.com/office/powerpoint/2010/main" val="20111112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DC667C-E5DD-48E3-9303-6C5BD68216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E0EC5-1FDE-4267-A67D-E4407F30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7B4B7-7E27-4858-863E-F3E4D95D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61F3F-BB11-4889-978A-2EFB9C80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CUSTOMER FRONTEND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0229A-03D6-4D7C-994B-6A488B1F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05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59F35-1892-4E95-9584-EA073E50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E81D8-7B01-40FA-9324-BF6426AF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581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Customer frontend: how a shopper uses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9DA0C-D636-4B98-9C98-FC7D8E9C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581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The homepage keeps the product shelf for marketing, then opens the inspectable supply-chain route.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3286a14694bbc"/>
          <a:srcRect xmlns:a="http://schemas.openxmlformats.org/drawingml/2006/main" l="0" t="19026" r="0" b="190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895350"/>
            <a:ext cx="5334000" cy="5048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A6D60-BDD4-49B7-AA5D-DA4A91C6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6C734-64B7-4B9B-A611-065C4F0F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962BF-5DB1-41C7-86A5-C714E23F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525E9-D072-48C6-96D1-5E30B81E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Start with product cards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930C9-8516-4C94-849E-3960F6C2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5280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Name, category, price, proof score, and simple visual placeholder.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CDA5F-8840-4116-A14A-FBC6BFBB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B69DF-154E-42D7-AD9E-3F2E2C65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5C396-EE73-43DE-A988-53F7BB8C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4E1E2-097D-4B94-9100-1DDF6377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Use Chinese or English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E7BF7-0D60-46AA-8A5B-93BEB95C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Language toggle changes the whole webpage, not just one label.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85A1E-E83D-4F29-8A3B-F3518030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6026A7-BAA3-4AB0-8CF2-D9AD6ECC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0513D4-0164-4C97-AEFD-A51914A3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530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04DF06-FE3E-41ED-A0DE-834F986C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8640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Choose SKU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AF6AE-D9C9-405B-972D-308E14D6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2930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Changing product reloads the matching route, modules, and evidence.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84F746-D97C-4F74-B38F-6E48D902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C8F5B2-34A6-426B-B8F9-34FFF2AD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5C9"/>
                </a:solidFill>
              </a:defRPr>
            </a:pPr>
            <a:r>
              <a:rPr sz="825" b="0">
                <a:solidFill>
                  <a:srgbClr val="B7C5C9"/>
                </a:solidFill>
              </a:rPr>
              <a:t>Live screenshot from local browser frontend</a:t>
            </a:r>
          </a:p>
        </p:txBody>
      </p:sp>
    </p:spTree>
    <p:extLst>
      <p:ext uri="{BB962C8B-B14F-4D97-AF65-F5344CB8AC3E}">
        <p14:creationId xmlns:p14="http://schemas.microsoft.com/office/powerpoint/2010/main" val="9358727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DC667C-E5DD-48E3-9303-6C5BD68216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2C759-CE0E-4538-9367-BA5C3A27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39BAD-1D42-4851-9A13-4FC605BF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7910B-18F8-4A03-AF4F-47614EDD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MODULE ROUTE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DF559-4E0A-4AB6-8BB3-7BF522DE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06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7608E-D9F7-4586-9CAB-59FDA2FF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3AD9E-885B-4A0C-84CB-8DCC7E9A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Click a component, then inspect module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3ABA9-FAB6-47C2-AB67-083F81AD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The whole product route stays available. One click focuses on a specific component and its supplier evidence.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014696e3b40a3"/>
          <a:srcRect xmlns:a="http://schemas.openxmlformats.org/drawingml/2006/main" l="0" t="178" r="0" b="1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819150"/>
            <a:ext cx="5353050" cy="5334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404AA-F751-452B-9E2E-A40781C8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038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261DC-4CAB-429E-9274-00825F34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765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EFAC"/>
                </a:solidFill>
              </a:defRPr>
            </a:pPr>
            <a:r>
              <a:rPr sz="900" b="1">
                <a:solidFill>
                  <a:srgbClr val="86EFAC"/>
                </a:solidFill>
              </a:rPr>
              <a:t>MODULE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48A5A-175F-4265-9862-C488D32C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22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Broiler Protein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080A4-FB80-4963-A374-15289329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2038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CFE24-E1C9-4A2F-9F7A-CBA04802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765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E8F9"/>
                </a:solidFill>
              </a:defRPr>
            </a:pPr>
            <a:r>
              <a:rPr sz="900" b="1">
                <a:solidFill>
                  <a:srgbClr val="67E8F9"/>
                </a:solidFill>
              </a:rPr>
              <a:t>SUPPLIER CITY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5608A-DE5A-4514-8703-385491A3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95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7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Fuzhou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F278A-AD69-4E26-B61D-92E89415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038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672F6-5AF0-4879-A3B4-28D2929C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719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BF24"/>
                </a:solidFill>
              </a:defRPr>
            </a:pPr>
            <a:r>
              <a:rPr sz="900" b="1">
                <a:solidFill>
                  <a:srgbClr val="FBBF24"/>
                </a:solidFill>
              </a:rPr>
              <a:t>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EC82C-7875-4FD2-BA62-7193BB42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7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LOT-00026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732B0E-B7B3-43B4-BA87-B0C1E212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48100"/>
            <a:ext cx="2038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2148E-97B2-4786-B9E9-CA3871B5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719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97316"/>
                </a:solidFill>
              </a:defRPr>
            </a:pPr>
            <a:r>
              <a:rPr sz="900" b="1">
                <a:solidFill>
                  <a:srgbClr val="F97316"/>
                </a:solidFill>
              </a:rPr>
              <a:t>RECEIVED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69172-8027-4DA9-8E1D-A47A42F3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910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7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2026-04-11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461BA-A694-4EF6-A4D3-FC11940A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2038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7F6B67-6C00-49E7-9CA2-D8CE97C0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672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B8A6"/>
                </a:solidFill>
              </a:defRPr>
            </a:pPr>
            <a:r>
              <a:rPr sz="900" b="1">
                <a:solidFill>
                  <a:srgbClr val="14B8A6"/>
                </a:solidFill>
              </a:rPr>
              <a:t>INSPECTION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4E633B-9081-4692-8F4B-DC1ED226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7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89.2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4761CA-441E-4E72-ACB6-F4723E04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43450"/>
            <a:ext cx="2038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08F8D4-FB85-4BE4-B21A-676C3D30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672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EFAC"/>
                </a:solidFill>
              </a:defRPr>
            </a:pPr>
            <a:r>
              <a:rPr sz="900" b="1">
                <a:solidFill>
                  <a:srgbClr val="86EFAC"/>
                </a:solidFill>
              </a:rPr>
              <a:t>TRACEABILITY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0285E4-D194-4DE5-9D27-0E365351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86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57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96.0%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5D24D2-75BD-40B9-B2FF-08652E9A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931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7E9"/>
                </a:solidFill>
              </a:defRPr>
            </a:pPr>
            <a:r>
              <a:rPr sz="1350" b="0">
                <a:solidFill>
                  <a:srgbClr val="DDE7E9"/>
                </a:solidFill>
              </a:rPr>
              <a:t>Transition behavior: switching between Whole product and any module redraws the route panel with a soft animated change, so users understand exactly which layer of evidence they are viewing.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D17FCE-8D22-4E98-A55B-78C8576D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B4EBBF-9E9E-46AA-B912-B4BE56C3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5C9"/>
                </a:solidFill>
              </a:defRPr>
            </a:pPr>
            <a:r>
              <a:rPr sz="825" b="0">
                <a:solidFill>
                  <a:srgbClr val="B7C5C9"/>
                </a:solidFill>
              </a:rPr>
              <a:t>Live screenshot from local browser frontend</a:t>
            </a:r>
          </a:p>
        </p:txBody>
      </p:sp>
    </p:spTree>
    <p:extLst>
      <p:ext uri="{BB962C8B-B14F-4D97-AF65-F5344CB8AC3E}">
        <p14:creationId xmlns:p14="http://schemas.microsoft.com/office/powerpoint/2010/main" val="10243222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DC667C-E5DD-48E3-9303-6C5BD68216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679D0-7EB4-4E98-8426-0E071542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AF864-3E7F-4AB7-98F8-CD168040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F7BA1-B911-40DF-ADD7-11DE5A88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MERCHANT BACKEND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CE8A4-6D8D-476B-9787-37F1037F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07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999FF-4FC8-49FB-9869-027B436D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E5CA5-BE63-4A01-B44B-D7ADED68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533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Merchant backend: edit every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5B52B-D36E-44BE-9FB0-A1B4CB56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08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The backend now supports whole-product fields, modules, L1/L2/L3 nodes, route edges, evidence records, and image slots.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0e50cfe414f12"/>
          <a:srcRect xmlns:a="http://schemas.openxmlformats.org/drawingml/2006/main" l="0" t="9431" r="0" b="94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781050"/>
            <a:ext cx="5353050" cy="5429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32076-3557-4B6D-A6F1-81DCBBEC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74504-E0B7-4AF6-A648-B9A048A5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3F430-FA9D-4AD5-98CA-8C1DB3C6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1657A-E031-4393-BDEF-64F6C40F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Choose a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83370-A063-4F36-B163-CCEA333C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Overview, modules, route nodes, route edges, and evidence are separate tabs.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2C550-2952-48FC-8B51-51200950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4643A-F3DE-496B-8E79-6CF473C8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5C5FA-9215-4C16-B405-DF44348A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1403E-74C5-4641-87CA-51C0BC3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Edit the selected 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B3B25-535D-48C9-8B0F-B86602B6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9580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Each L1/L2/L3 node can store city, time, role, risk, and visible value.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DDFA3D-EC11-4A3F-9A5B-9D7C74EE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A373B5-6759-4EE6-AC6B-87F7984E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30EF91-BEF8-409C-8B9B-022CB948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578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04658-AB9B-4A83-8C70-B67F1EB9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Save and broadcast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D29B1F-AEB2-4A92-AC46-799BC826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3405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The backend sends update events so the customer page can refresh without a restart.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EBB95-BEC8-49C0-B9F1-50C5D4E4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7E93F6-3257-433E-884C-21F1841E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5C9"/>
                </a:solidFill>
              </a:defRPr>
            </a:pPr>
            <a:r>
              <a:rPr sz="825" b="0">
                <a:solidFill>
                  <a:srgbClr val="B7C5C9"/>
                </a:solidFill>
              </a:rPr>
              <a:t>Backend sends live update events to the customer frontend</a:t>
            </a:r>
          </a:p>
        </p:txBody>
      </p:sp>
    </p:spTree>
    <p:extLst>
      <p:ext uri="{BB962C8B-B14F-4D97-AF65-F5344CB8AC3E}">
        <p14:creationId xmlns:p14="http://schemas.microsoft.com/office/powerpoint/2010/main" val="20334389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DC667C-E5DD-48E3-9303-6C5BD68216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D5C51-DE26-4B48-970C-AC63B5FE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34AE7-E707-4F97-8DB1-5B5D58C4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A1F44-6C63-4158-AFB9-8E54D72E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DATA RESPONSIBILITY AND API SLOTS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23170-5C35-4C6E-8851-E6058198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08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502BB-FEB6-4009-8733-3D30CB88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F0AAA-61E6-44F6-8C99-F69828B1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6477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Open code, but merchant data must still be 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45012-ACA9-48A5-9571-709E9813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647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Oasis Finder provides the interface and evidence slots. We do not guarantee a company's data truthfulness for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8F16B-BA86-497A-935F-CCED64DE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C519B-E369-4013-A37C-8500831C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6EFAC"/>
                </a:solidFill>
              </a:defRPr>
            </a:pPr>
            <a:r>
              <a:rPr sz="1725" b="1">
                <a:solidFill>
                  <a:srgbClr val="86EFAC"/>
                </a:solidFill>
              </a:rPr>
              <a:t>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76B4F-6E89-44B9-9477-FBBC1E95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SKU / GTIN, QR, batch ID, lot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A32B0-4CF1-40A2-96DD-8E185B6C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2890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A85A9-5232-41C2-98A2-FF05C87A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7E8F9"/>
                </a:solidFill>
              </a:defRPr>
            </a:pPr>
            <a:r>
              <a:rPr sz="1725" b="1">
                <a:solidFill>
                  <a:srgbClr val="67E8F9"/>
                </a:solidFill>
              </a:rPr>
              <a:t>Critical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9D86FD-0EAF-4BFE-84C4-B46BA877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90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harvest, production, receiving, shipping, arrival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BD909-6954-49E5-A09B-3D57FEFB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2890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007A5-D897-4E73-862A-214003BA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</a:defRPr>
            </a:pPr>
            <a:r>
              <a:rPr sz="1725" b="1">
                <a:solidFill>
                  <a:srgbClr val="FBBF24"/>
                </a:solidFill>
              </a:rPr>
              <a:t>Location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6EB2D-E72B-4584-BDBE-EEB4D2B2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2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supplier, plant, warehouse, retail node, location 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FC558-B76F-46DF-B78D-4D314C41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72642-6BF2-4BCC-B8B9-D21A99BE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6EFAC"/>
                </a:solidFill>
              </a:defRPr>
            </a:pPr>
            <a:r>
              <a:rPr sz="1725" b="1">
                <a:solidFill>
                  <a:srgbClr val="86EFAC"/>
                </a:solidFill>
              </a:rPr>
              <a:t>Condition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0E5D2D-AB83-4481-852B-79E6DA06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8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temperature range, breach minutes, shelf-life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2DA5D-3B0A-464C-A4F7-C03C2189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4810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CACC41-769B-4F7E-9B83-24D4263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005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7E8F9"/>
                </a:solidFill>
              </a:defRPr>
            </a:pPr>
            <a:r>
              <a:rPr sz="1725" b="1">
                <a:solidFill>
                  <a:srgbClr val="67E8F9"/>
                </a:solidFill>
              </a:rPr>
              <a:t>Quality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521DA4-7D42-47A0-B83A-12386F1D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243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33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inspection score, package score, residue/pathogen checks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195FC5-4701-4766-B921-FC5945EB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E1CB04-D7FA-4C19-B490-E9FBE981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</a:defRPr>
            </a:pPr>
            <a:r>
              <a:rPr sz="1725" b="1">
                <a:solidFill>
                  <a:srgbClr val="FBBF24"/>
                </a:solidFill>
              </a:rPr>
              <a:t>Owner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217A40-3060-4A3E-8A7F-5FE6E37E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243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69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supplier, carrier, auditor, certificate URI, signed file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7380DA-D07C-4104-B63D-B7310D09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34000"/>
            <a:ext cx="8991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132945-11BF-487D-828C-BFEDE6E0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562600"/>
            <a:ext cx="834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Production recommendation: validate these fields with QR events, IoT logs, supplier records, ERP/WMS integrations, and third-party audits.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F2D531-9130-4D56-817F-E081E5A3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DBFFE4-CA86-4852-9E59-233331CE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5C9"/>
                </a:solidFill>
              </a:defRPr>
            </a:pPr>
            <a:r>
              <a:rPr sz="825" b="0">
                <a:solidFill>
                  <a:srgbClr val="B7C5C9"/>
                </a:solidFill>
              </a:rPr>
              <a:t>FDA FSMA 204; GS1 Traceability</a:t>
            </a:r>
          </a:p>
        </p:txBody>
      </p:sp>
    </p:spTree>
    <p:extLst>
      <p:ext uri="{BB962C8B-B14F-4D97-AF65-F5344CB8AC3E}">
        <p14:creationId xmlns:p14="http://schemas.microsoft.com/office/powerpoint/2010/main" val="6466887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DC667C-E5DD-48E3-9303-6C5BD68216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00AC5-0EAA-4F5D-AB02-0DEEF4C0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477BA-A5A3-4870-9EC9-71E93157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89713-1B17-43CA-AB93-9F1CB3B2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CP GROUP FIT AND MERCHANT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EEF13-8072-4179-9F79-D428B962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09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6EA48-C53F-4CE0-830A-6D5221AE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74A0B-320B-49FA-B936-E451155E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685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Why CP Group fits, and why the method is not CP-only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2E15D-F248-491D-BC3F-F9058AEC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CP Group has agro-food, retail, distribution, e-commerce, and traceability contexts. That makes it a strong pilot, not a limit.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82183-7F44-44DE-8813-A096A735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C05D1-4C8D-4ED3-AEFA-7E06C3D4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DCB7C-D8E6-4FBD-940D-F46772F0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194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968C6-9160-4F59-A904-B1B1976E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5275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CP 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219AB-5716-48A8-8E3F-D2BC718D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95650"/>
            <a:ext cx="426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Feed, farm, food, retail, and distribution can be connected into one product evidence page.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67323-DD0D-495B-96C1-6AE6B718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8F73B-7768-4FE9-A2E9-6019FA5D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62F5F-5F77-4C25-9CE6-4C401FF6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814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BC6E0-BA1A-44D5-9910-EBDFF6DE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Not CP-only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B6F08E-111F-4C09-859A-717AD27C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57700"/>
            <a:ext cx="426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Any merchant can use the same schema if it can provide SKU, batch, supplier, shipment, inspection, and media proof.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67464F-7F07-4897-9509-16437135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24450"/>
            <a:ext cx="5143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F2B7B-C702-4737-A264-1EDEE52B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13DE0-CB28-47AA-B75E-13AABDA5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43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0CC844-AB8C-4CA3-9264-60CBE3C4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76850"/>
            <a:ext cx="426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Revenue logic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E6D6CA-2750-4130-A1ED-B416E11F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0"/>
            <a:ext cx="426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Transparency can improve conversion, premium tolerance, retention, and reduced refund/complaint friction.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6FBA9-6791-4617-86AE-85F501A7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AF2B3E-AC01-4F3C-9FBB-E78B5708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99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6EFAC"/>
                </a:solidFill>
              </a:defRPr>
            </a:pPr>
            <a:r>
              <a:rPr sz="975" b="1">
                <a:solidFill>
                  <a:srgbClr val="86EFAC"/>
                </a:solidFill>
              </a:rPr>
              <a:t>MERCHANT UPSIDE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068FD7-9DFA-41E2-8D88-D262CFD9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1752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higher trust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C13F5B-A35E-4750-A588-9F451C00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949E23-19AD-4528-9F17-4A198470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099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E8F9"/>
                </a:solidFill>
              </a:defRPr>
            </a:pPr>
            <a:r>
              <a:rPr sz="975" b="1">
                <a:solidFill>
                  <a:srgbClr val="67E8F9"/>
                </a:solidFill>
              </a:rPr>
              <a:t>AD FORMAT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C86E3D-453F-4ADD-B044-FF0246E6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76600"/>
            <a:ext cx="1752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evidence page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38C7E2-6D3A-421E-8071-4474EB6E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4667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D416E9-3D07-4A87-8ECC-6F78551A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81500"/>
            <a:ext cx="432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BBF24"/>
                </a:solidFill>
              </a:defRPr>
            </a:pPr>
            <a:r>
              <a:rPr sz="975" b="1">
                <a:solidFill>
                  <a:srgbClr val="FBBF24"/>
                </a:solidFill>
              </a:rPr>
              <a:t>PILOT PRODUCT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BB6B77-D11F-4199-B69B-E88867A8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432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cake / meat / dairy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F75A1B-EFE3-4FCF-B431-472AB792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05450"/>
            <a:ext cx="4667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C19BD4-0B8C-42F9-B927-05E7CF20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5785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A/B test: baseline page versus Oasis Finder evidence page.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58EF46-CA10-4CF2-AE05-612C17C1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88635D-ECD8-45AA-AA41-99D63192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5C9"/>
                </a:solidFill>
              </a:defRPr>
            </a:pPr>
            <a:r>
              <a:rPr sz="825" b="0">
                <a:solidFill>
                  <a:srgbClr val="B7C5C9"/>
                </a:solidFill>
              </a:rPr>
              <a:t>CP Group; CPF; CP Axtra official pages</a:t>
            </a:r>
          </a:p>
        </p:txBody>
      </p:sp>
    </p:spTree>
    <p:extLst>
      <p:ext uri="{BB962C8B-B14F-4D97-AF65-F5344CB8AC3E}">
        <p14:creationId xmlns:p14="http://schemas.microsoft.com/office/powerpoint/2010/main" val="17422646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DC667C-E5DD-48E3-9303-6C5BD68216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A971B-C2C5-4FC2-A283-DEB1C611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824E5-00AD-4ADC-A836-1E0A83B5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EFAC"/>
                </a:solidFill>
              </a:defRPr>
            </a:pPr>
            <a:r>
              <a:rPr sz="1200" b="1">
                <a:solidFill>
                  <a:srgbClr val="86EFAC"/>
                </a:solidFill>
              </a:rPr>
              <a:t>OASIS FINDER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9D419-1106-4384-94B9-824B60CD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BUILD STORY AND 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E1C74-7CA6-4B0D-BA19-6DC37785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7C5C9"/>
                </a:solidFill>
              </a:defRPr>
            </a:pPr>
            <a:r>
              <a:rPr sz="1200" b="1">
                <a:solidFill>
                  <a:srgbClr val="B7C5C9"/>
                </a:solidFill>
              </a:rPr>
              <a:t>10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77840-69CA-4C7E-8A1D-63BD76C2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41DC7-20B6-439B-A7D8-01A14EE5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762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What we can prove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7F777-683E-455B-A4F0-769F0648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7620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9"/>
                </a:solidFill>
              </a:defRPr>
            </a:pPr>
            <a:r>
              <a:rPr sz="1650" b="0">
                <a:solidFill>
                  <a:srgbClr val="DDE7E9"/>
                </a:solidFill>
              </a:rPr>
              <a:t>The rebuild is now a bilingual browser product delivered as an exe installer with verified API, frontend build, layer editor, and live screenshots.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1F286-C73C-4CC4-8746-930CA70E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00F39-3B67-404F-B199-F69DBE2D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A6FEE-302E-4504-91AF-EFC9995C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F4798-EF38-4305-BAB2-16010EFB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Bilingual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4BDCC-7EB1-4B55-8795-10472391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6705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Chinese and English pages for both customer and merchant flows.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05176-FA34-4BEB-AE40-1A4CFF06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7175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E9D4C-8831-4803-B5C5-33DB2C44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67E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7D21D-1020-4246-9775-3AABD236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BA078-1DB0-45A2-9EB9-82F43092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2415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Customer frontend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F562E-C4D8-40DA-80EA-54D60466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Product shelf, module dissection, route switch, variable proof panel.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D1297-FBDF-4AF9-9F39-56AA3525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45E21-05A3-4AEF-8243-AE5B1D2D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CC3391-D177-4637-812C-1584BB09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2EE736-9943-4519-B0A4-C47924B7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6240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Merchant backend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92580B-CF3F-41F8-B895-18E7375B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Editable L1/L2/L3 data, modules, route edges, evidence, image slots.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DB07B4-9698-4031-A1E6-45827C9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FAA09-ED2F-430B-BB26-B850A498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361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8CD80-C945-49DE-807F-A90ACE51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4"/>
                </a:solidFill>
              </a:defRPr>
            </a:pPr>
            <a:r>
              <a:rPr sz="1275" b="1">
                <a:solidFill>
                  <a:srgbClr val="071014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D80AF6-7001-4816-8E4E-251749A7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62400"/>
            <a:ext cx="3886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Delivery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D9EF0B-F452-4C45-8331-3BC92AF0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0530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E9"/>
                </a:solidFill>
              </a:defRPr>
            </a:pPr>
            <a:r>
              <a:rPr sz="1275" b="0">
                <a:solidFill>
                  <a:srgbClr val="DDE7E9"/>
                </a:solidFill>
              </a:rPr>
              <a:t>PyInstaller onedir plus Inno Setup installer; launcher smoke test PASS.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5C092A-B3AE-4081-BC52-9EDF8161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34000"/>
            <a:ext cx="9982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52326"/>
          </a:solidFill>
          <a:ln xmlns:a="http://schemas.openxmlformats.org/drawingml/2006/main" w="13335">
            <a:solidFill>
              <a:srgbClr val="3F55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CEDA7E-BCA0-4676-BDE5-1940FE02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914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Final line: We do not ask users to trust a slogan. We let them inspect the chain behind the product.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0D7EFA-8821-4111-B6B9-00EE5E7F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09600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7E8F9"/>
                </a:solidFill>
              </a:defRPr>
            </a:pPr>
            <a:r>
              <a:rPr sz="1500" b="1">
                <a:solidFill>
                  <a:srgbClr val="67E8F9"/>
                </a:solidFill>
              </a:rPr>
              <a:t>https://github.com/3351666087/Oasis-Finder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902E36-9353-4ADB-8C35-187967AC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7C5C9"/>
                </a:solidFill>
              </a:defRPr>
            </a:pPr>
            <a:r>
              <a:rPr sz="900" b="0">
                <a:solidFill>
                  <a:srgbClr val="B7C5C9"/>
                </a:solidFill>
              </a:rPr>
              <a:t>Oasis Finder | Group 9 | Rui Huang and Zixiu Wang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16E6CA-719B-4BF7-B27F-FDBF14B9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151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7C5C9"/>
                </a:solidFill>
              </a:defRPr>
            </a:pPr>
            <a:r>
              <a:rPr sz="825" b="0">
                <a:solidFill>
                  <a:srgbClr val="B7C5C9"/>
                </a:solidFill>
              </a:rPr>
              <a:t>References in notes: Ge 2022; Tran et al. 2024; Wang et al. 2021; FDA; GS1; CP official pages</a:t>
            </a:r>
          </a:p>
        </p:txBody>
      </p:sp>
    </p:spTree>
    <p:extLst>
      <p:ext uri="{BB962C8B-B14F-4D97-AF65-F5344CB8AC3E}">
        <p14:creationId xmlns:p14="http://schemas.microsoft.com/office/powerpoint/2010/main" val="1163055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2026-04-28T08:59:24.5070000Z</dcterms:created>
  <dcterms:modified xsi:type="dcterms:W3CDTF">2026-04-28T08:59:24.5070000Z</dcterms:modified>
</coreProperties>
</file>