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5abdc417704678" /><Relationship Type="http://schemas.openxmlformats.org/officeDocument/2006/relationships/extended-properties" Target="/docProps/app.xml" Id="Rcbe82f773d74470b" /><Relationship Type="http://schemas.openxmlformats.org/officeDocument/2006/relationships/officeDocument" Target="/ppt/presentation.xml" Id="Re4d3aeace38b4f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1b108e4a434da2"/>
  </p:sldMasterIdLst>
  <p:notesMasterIdLst>
    <p:notesMasterId xmlns:r="http://schemas.openxmlformats.org/officeDocument/2006/relationships" r:id="R23bafcca9f0d41d3"/>
  </p:notesMasterIdLst>
  <p:sldIdLst>
    <p:sldId xmlns:r="http://schemas.openxmlformats.org/officeDocument/2006/relationships" id="256" r:id="R547e1f7bda254b85"/>
    <p:sldId xmlns:r="http://schemas.openxmlformats.org/officeDocument/2006/relationships" id="257" r:id="R62221d5562f34b69"/>
    <p:sldId xmlns:r="http://schemas.openxmlformats.org/officeDocument/2006/relationships" id="258" r:id="R46d96cc80a7a42de"/>
    <p:sldId xmlns:r="http://schemas.openxmlformats.org/officeDocument/2006/relationships" id="259" r:id="R4265b5c1114f4eb5"/>
    <p:sldId xmlns:r="http://schemas.openxmlformats.org/officeDocument/2006/relationships" id="260" r:id="Rca5f7a9010ec4a17"/>
    <p:sldId xmlns:r="http://schemas.openxmlformats.org/officeDocument/2006/relationships" id="261" r:id="R7c15866be11944d2"/>
    <p:sldId xmlns:r="http://schemas.openxmlformats.org/officeDocument/2006/relationships" id="262" r:id="R066a6dd4be1b4618"/>
    <p:sldId xmlns:r="http://schemas.openxmlformats.org/officeDocument/2006/relationships" id="263" r:id="Rc08d952ba9474ec9"/>
    <p:sldId xmlns:r="http://schemas.openxmlformats.org/officeDocument/2006/relationships" id="264" r:id="R82c1520591c34c67"/>
    <p:sldId xmlns:r="http://schemas.openxmlformats.org/officeDocument/2006/relationships" id="265" r:id="R6a9434be6d9144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b108e4a434da2" /><Relationship Type="http://schemas.openxmlformats.org/officeDocument/2006/relationships/theme" Target="/ppt/theme/theme1.xml" Id="Rb9b30e9a586d4731" /><Relationship Type="http://schemas.openxmlformats.org/officeDocument/2006/relationships/notesMaster" Target="/ppt/notesMasters/notesMaster1.xml" Id="R23bafcca9f0d41d3" /><Relationship Type="http://schemas.openxmlformats.org/officeDocument/2006/relationships/presProps" Target="/ppt/presProps.xml" Id="R07afe50f694e4ed3" /><Relationship Type="http://schemas.openxmlformats.org/officeDocument/2006/relationships/viewProps" Target="/ppt/viewProps.xml" Id="R754047facf5b4596" /><Relationship Type="http://schemas.openxmlformats.org/officeDocument/2006/relationships/tableStyles" Target="/ppt/tableStyles.xml" Id="Rdca06aed45a74f9f" /><Relationship Type="http://schemas.openxmlformats.org/officeDocument/2006/relationships/slide" Target="/ppt/slides/slide1.xml" Id="R547e1f7bda254b85" /><Relationship Type="http://schemas.openxmlformats.org/officeDocument/2006/relationships/slide" Target="/ppt/slides/slide2.xml" Id="R62221d5562f34b69" /><Relationship Type="http://schemas.openxmlformats.org/officeDocument/2006/relationships/slide" Target="/ppt/slides/slide3.xml" Id="R46d96cc80a7a42de" /><Relationship Type="http://schemas.openxmlformats.org/officeDocument/2006/relationships/slide" Target="/ppt/slides/slide4.xml" Id="R4265b5c1114f4eb5" /><Relationship Type="http://schemas.openxmlformats.org/officeDocument/2006/relationships/slide" Target="/ppt/slides/slide5.xml" Id="Rca5f7a9010ec4a17" /><Relationship Type="http://schemas.openxmlformats.org/officeDocument/2006/relationships/slide" Target="/ppt/slides/slide6.xml" Id="R7c15866be11944d2" /><Relationship Type="http://schemas.openxmlformats.org/officeDocument/2006/relationships/slide" Target="/ppt/slides/slide7.xml" Id="R066a6dd4be1b4618" /><Relationship Type="http://schemas.openxmlformats.org/officeDocument/2006/relationships/slide" Target="/ppt/slides/slide8.xml" Id="Rc08d952ba9474ec9" /><Relationship Type="http://schemas.openxmlformats.org/officeDocument/2006/relationships/slide" Target="/ppt/slides/slide9.xml" Id="R82c1520591c34c67" /><Relationship Type="http://schemas.openxmlformats.org/officeDocument/2006/relationships/slide" Target="/ppt/slides/slide10.xml" Id="R6a9434be6d9144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9857403b74b4b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2fe68d02ee4602" /><Relationship Type="http://schemas.openxmlformats.org/officeDocument/2006/relationships/notesMaster" Target="/ppt/notesMasters/notesMaster1.xml" Id="R92e69bd9d2c74f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abe44b0d5e4bcf" /><Relationship Type="http://schemas.openxmlformats.org/officeDocument/2006/relationships/notesMaster" Target="/ppt/notesMasters/notesMaster1.xml" Id="R8ad648dc30aa41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55a23035854970" /><Relationship Type="http://schemas.openxmlformats.org/officeDocument/2006/relationships/notesMaster" Target="/ppt/notesMasters/notesMaster1.xml" Id="R4d29939a663546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44448dfd7a4196" /><Relationship Type="http://schemas.openxmlformats.org/officeDocument/2006/relationships/notesMaster" Target="/ppt/notesMasters/notesMaster1.xml" Id="R48525ae0bdb04e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942c9161d64163" /><Relationship Type="http://schemas.openxmlformats.org/officeDocument/2006/relationships/notesMaster" Target="/ppt/notesMasters/notesMaster1.xml" Id="R2cd409a549f94a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cf8d3a1d8341fa" /><Relationship Type="http://schemas.openxmlformats.org/officeDocument/2006/relationships/notesMaster" Target="/ppt/notesMasters/notesMaster1.xml" Id="Ra0c9b3bc0e3e4a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85b57915bd4d71" /><Relationship Type="http://schemas.openxmlformats.org/officeDocument/2006/relationships/notesMaster" Target="/ppt/notesMasters/notesMaster1.xml" Id="R094f14b5c02441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eedc2d098a48ee" /><Relationship Type="http://schemas.openxmlformats.org/officeDocument/2006/relationships/notesMaster" Target="/ppt/notesMasters/notesMaster1.xml" Id="R3ab7068840ef4d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8105073c424e72" /><Relationship Type="http://schemas.openxmlformats.org/officeDocument/2006/relationships/notesMaster" Target="/ppt/notesMasters/notesMaster1.xml" Id="R39eeb8f2a3bd4d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82ab73751941ee" /><Relationship Type="http://schemas.openxmlformats.org/officeDocument/2006/relationships/notesMaster" Target="/ppt/notesMasters/notesMaster1.xml" Id="Re0dbbd1b346243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 opens. Say: Oasis Finder is not just a dashboard. It is a method for merchants to show credible supply-chain evidence at the exact buying moment.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Ge, L. (2022). To buy or not to buy?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Food Control, 162, 110453. https://doi.org/10.1016/j.foodcont.2024.110453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 explains the teacher-feedback pivot. The point is no longer to compare competitor dashboards. The point is whether supply-chain display increases buying probability.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Group 9 questionnaire direction (2026). Directional 1-5 coding; raw response file not stored in repository.</a:t>
            </a:r>
          </a:p>
          <a:p xmlns:a="http://schemas.openxmlformats.org/drawingml/2006/main">
            <a:r>
              <a:t>- Ge, L. (2022). To buy or not to buy?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Food Control, 162, 110453. https://doi.org/10.1016/j.foodcont.2024.110453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 explains the frontend logic in friendly language. Avoid over-technical wording. Emphasize that module dissection makes a complex supply chain understandable.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Wang, E. S.-T., Lin, H.-C., &amp; Tsai, M.-C. (2021). Effect of institutional trust on traceable fresh food. Foods, 10(12), 2898. https://doi.org/10.3390/foods10122898</a:t>
            </a:r>
          </a:p>
          <a:p xmlns:a="http://schemas.openxmlformats.org/drawingml/2006/main">
            <a:r>
              <a:t>- GS1. (n.d.). Traceability standards. https://www.gs1.org/standards/traceability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 covers engineering. Say clearly that the project is now browser-based: FastAPI backend, React frontend, MySQL digital twin, and WebSocket live update.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Oasis Finder repository and local validation evidence. https://github.com/3351666087/Oasis-Finder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 should walk through this slowly: open the customer page, show the product shelf, click one product, then point out that the UI does not begin with a scary data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Oasis Finder repository and local validation evidence. https://github.com/3351666087/Oasis-Finder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 starts here after Rui hands over. Explain the module click. The key point is the values: module, city, lot, received date, inspection, traceability.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GS1. (n.d.). Traceability standards. https://www.gs1.org/standards/traceability</a:t>
            </a:r>
          </a:p>
          <a:p xmlns:a="http://schemas.openxmlformats.org/drawingml/2006/main">
            <a:r>
              <a:t>- U.S. FDA. (2024). FSMA Food Traceability Rule: Critical Tracking Events and Key Data Elements. https://www.fda.gov/food/food-safety-modernization-act-fsma/fsma-final-rule-requirements-additional-traceability-records-certain-foods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 explains the backend in very simple steps. Also mention that merchants can provide their own images later; for now icon-style placeholders make the interface 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Oasis Finder repository and local validation evidence. https://github.com/3351666087/Oasis-Finder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 covers responsibility. Say: our code is open and the API is ready, but large companies remain responsible for proving their own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U.S. FDA. (2024). FSMA Food Traceability Rule: Critical Tracking Events and Key Data Elements. https://www.fda.gov/food/food-safety-modernization-act-fsma/fsma-final-rule-requirements-additional-traceability-records-certain-foods</a:t>
            </a:r>
          </a:p>
          <a:p xmlns:a="http://schemas.openxmlformats.org/drawingml/2006/main">
            <a:r>
              <a:t>- GS1. (n.d.). Traceability standards. https://www.gs1.org/standards/traceability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 explains CP Group. CP Group is suitable because the method can connect upstream and retail information. But Oasis Finder is a general merchant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Charoen Pokphand Group. Our Business. https://www.cpgroupglobal.com/en/about-cp-group/our-business</a:t>
            </a:r>
          </a:p>
          <a:p xmlns:a="http://schemas.openxmlformats.org/drawingml/2006/main">
            <a:r>
              <a:t>- Charoen Pokphand Foods. Farm business. https://www.cpfworldwide.com/en/business/farm</a:t>
            </a:r>
          </a:p>
          <a:p xmlns:a="http://schemas.openxmlformats.org/drawingml/2006/main">
            <a:r>
              <a:t>- CP Axtra. Corporate website. https://www.cpaxtra.com/</a:t>
            </a:r>
          </a:p>
          <a:p xmlns:a="http://schemas.openxmlformats.org/drawingml/2006/main">
            <a:r>
              <a:t>- Ge, L. (2022). To buy or not to buy? Frontiers in Psychology, 13, 873941. https://doi.org/10.3389/fpsyg.2022.873941</a:t>
            </a:r>
          </a:p>
          <a:p xmlns:a="http://schemas.openxmlformats.org/drawingml/2006/main">
            <a:r>
              <a:t>- Wang, E. S.-T., Lin, H.-C., &amp; Tsai, M.-C. (2021). Effect of institutional trust on traceable fresh food. Foods, 10(12), 2898. https://doi.org/10.3390/foods10122898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 closes. Mention validations quickly, point to GitHub, and say the final line slowly. Then invite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Oasis Finder repository and local validation evidence. https://github.com/3351666087/Oasis-Finder</a:t>
            </a:r>
          </a:p>
          <a:p xmlns:a="http://schemas.openxmlformats.org/drawingml/2006/main">
            <a:r>
              <a:t>- Ge, L. (2022). To buy or not to buy?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Food Control, 162, 110453. https://doi.org/10.1016/j.foodcont.2024.110453</a:t>
            </a:r>
          </a:p>
          <a:p xmlns:a="http://schemas.openxmlformats.org/drawingml/2006/main">
            <a:r>
              <a:t>- Wang, E. S.-T., Lin, H.-C., &amp; Tsai, M.-C. (2021). Effect of institutional trust on traceable fresh food. Foods, 10(12), 2898. https://doi.org/10.3390/foods10122898</a:t>
            </a:r>
          </a:p>
          <a:p xmlns:a="http://schemas.openxmlformats.org/drawingml/2006/main">
            <a:r>
              <a:t>- U.S. FDA. (2024). FSMA Food Traceability Rule: Critical Tracking Events and Key Data Elements. https://www.fda.gov/food/food-safety-modernization-act-fsma/fsma-final-rule-requirements-additional-traceability-records-certain-foods</a:t>
            </a:r>
          </a:p>
          <a:p xmlns:a="http://schemas.openxmlformats.org/drawingml/2006/main">
            <a:r>
              <a:t>- GS1. (n.d.). Traceability standards. https://www.gs1.org/standards/traceability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def14dfe00459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4D20E498-0546-4BAD-B028-D7251AE7C8E0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02CA20FA-F9ED-4E60-B1D9-39CC839D770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75326DA-5F17-48E4-B76C-081667EFA48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DEE84A-7689-44B0-82D8-64A1AFB611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C567B8-7275-481F-AC41-801A3752D93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5c42bfe1f494f05" /><Relationship Type="http://schemas.openxmlformats.org/officeDocument/2006/relationships/slideLayout" Target="/ppt/slideLayouts/slideLayout2.xml" Id="R8c9960edd1fb4a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683852-FBDD-45D8-8791-561D105C6ED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960edd1fb4a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ee51c0cfb84caf" /><Relationship Type="http://schemas.openxmlformats.org/officeDocument/2006/relationships/notesSlide" Target="/ppt/notesSlides/notesSlide1.xml" Id="R2bae53c390ad4a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9c2534f9754aa4" /><Relationship Type="http://schemas.openxmlformats.org/officeDocument/2006/relationships/chart" Target="/ppt/slides/charts/chart1.xml" Id="R8c9fc40ae98a4983" /><Relationship Type="http://schemas.openxmlformats.org/officeDocument/2006/relationships/notesSlide" Target="/ppt/notesSlides/notesSlide2.xml" Id="Rc019ffdb2aa643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cddae79bd94c5a" /><Relationship Type="http://schemas.openxmlformats.org/officeDocument/2006/relationships/notesSlide" Target="/ppt/notesSlides/notesSlide3.xml" Id="R219b76ee6cac4d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86110f5b4541d2" /><Relationship Type="http://schemas.openxmlformats.org/officeDocument/2006/relationships/notesSlide" Target="/ppt/notesSlides/notesSlide4.xml" Id="R92c78a9cc8404c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086b8d8907463a" /><Relationship Type="http://schemas.openxmlformats.org/officeDocument/2006/relationships/image" Target="/ppt/media/image.png" Id="Rb47159539e8443af" /><Relationship Type="http://schemas.openxmlformats.org/officeDocument/2006/relationships/notesSlide" Target="/ppt/notesSlides/notesSlide5.xml" Id="R460db2e0c5514d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6a31770a1e4dc6" /><Relationship Type="http://schemas.openxmlformats.org/officeDocument/2006/relationships/image" Target="/ppt/media/image2.png" Id="Rb86e07802c7c4273" /><Relationship Type="http://schemas.openxmlformats.org/officeDocument/2006/relationships/notesSlide" Target="/ppt/notesSlides/notesSlide6.xml" Id="R340e798fbdda48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269f20a83c4335" /><Relationship Type="http://schemas.openxmlformats.org/officeDocument/2006/relationships/image" Target="/ppt/media/image3.png" Id="R6b5609aa031f4534" /><Relationship Type="http://schemas.openxmlformats.org/officeDocument/2006/relationships/notesSlide" Target="/ppt/notesSlides/notesSlide7.xml" Id="Rf727cde1a84d41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88bc145bfd4e67" /><Relationship Type="http://schemas.openxmlformats.org/officeDocument/2006/relationships/notesSlide" Target="/ppt/notesSlides/notesSlide8.xml" Id="Rd14a6b7a23d245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bd8ee208b64f8f" /><Relationship Type="http://schemas.openxmlformats.org/officeDocument/2006/relationships/notesSlide" Target="/ppt/notesSlides/notesSlide9.xml" Id="R68a0397dfa3a4d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148b074e284185" /><Relationship Type="http://schemas.openxmlformats.org/officeDocument/2006/relationships/notesSlide" Target="/ppt/notesSlides/notesSlide10.xml" Id="Reef31bee81a142c9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Buying probability signal</c:v>
          </c:tx>
          <c:spPr>
            <a:solidFill xmlns:a="http://schemas.openxmlformats.org/drawingml/2006/main">
              <a:srgbClr val="14B8A6"/>
            </a:solidFill>
            <a:ln xmlns:a="http://schemas.openxmlformats.org/drawingml/2006/main" w="11430">
              <a:solidFill>
                <a:srgbClr val="14B8A6"/>
              </a:solidFill>
              <a:prstDash val="solid"/>
            </a:ln>
          </c:spPr>
          <c:cat>
            <c:strLit>
              <c:ptCount val="5"/>
              <c:pt idx="0">
                <c:v>Cake / bakery</c:v>
              </c:pt>
              <c:pt idx="1">
                <c:v>Chilled meat</c:v>
              </c:pt>
              <c:pt idx="2">
                <c:v>Dairy</c:v>
              </c:pt>
              <c:pt idx="3">
                <c:v>Fresh produce</c:v>
              </c:pt>
              <c:pt idx="4">
                <c:v>Ready meal</c:v>
              </c:pt>
            </c:strLit>
          </c:cat>
          <c:val>
            <c:numLit>
              <c:formatCode/>
              <c:ptCount val="5"/>
              <c:pt idx="0">
                <c:v>4.6</c:v>
              </c:pt>
              <c:pt idx="1">
                <c:v>4.5</c:v>
              </c:pt>
              <c:pt idx="2">
                <c:v>4.3</c:v>
              </c:pt>
              <c:pt idx="3">
                <c:v>4.1</c:v>
              </c:pt>
              <c:pt idx="4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C567B8-7275-481F-AC41-801A3752D9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7FE41-5408-49E2-9A69-F342C51E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FD672-E3FB-42AB-8044-4514A8ED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0B840-EC30-438C-9FA3-2254A297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COMMERCIAL TRANSPARENCY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7022B-ACAE-4B8F-9875-A0F9A294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01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8768F-4CEB-4EB9-9FF5-E0ADC47E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12E87-6D99-46C7-A876-CD3E321B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B5949-8DEF-45CC-994B-D36AA377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809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B99BD-6AB0-45A0-9418-FC2B294E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0424C-92CC-4174-9C35-166DE7B7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COMMERCIAL TRANSPARENCY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5C539-79C4-4A90-8DBB-7D19C6A1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01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B1F83-EA88-4D28-907D-8CF5C8F9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AF025-3CA5-42BC-9DEE-F1D4E74C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2952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Oasis</a:t>
            </a:r>
          </a:p>
          <a:p xmlns:a="http://schemas.openxmlformats.org/drawingml/2006/main">
            <a:pPr algn="l"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Finder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71293-39FE-4A38-B611-33E04F6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6EFAC"/>
                </a:solidFill>
              </a:defRPr>
            </a:pPr>
            <a:r>
              <a:rPr sz="1800" b="1">
                <a:solidFill>
                  <a:srgbClr val="86EFAC"/>
                </a:solidFill>
              </a:rPr>
              <a:t>Group 9</a:t>
            </a:r>
          </a:p>
          <a:p xmlns:a="http://schemas.openxmlformats.org/drawingml/2006/main">
            <a:pPr algn="l">
              <a:defRPr sz="1800" b="1">
                <a:solidFill>
                  <a:srgbClr val="86EFAC"/>
                </a:solidFill>
              </a:defRPr>
            </a:pPr>
            <a:r>
              <a:rPr sz="1800" b="1">
                <a:solidFill>
                  <a:srgbClr val="86EFAC"/>
                </a:solidFill>
              </a:rPr>
              <a:t>Rui Huang + Zixiu Wang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F6624-7676-4D68-B4B8-11A6BA46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66800"/>
            <a:ext cx="628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Will shoppers buy more when a product exposes its supply chain?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E029A-B243-4CCA-B346-9DDC2848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42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Our product is a merchant-facing transparency method: show the product, split it into components, then let users inspect evidence before purchase.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59BE0-4E97-46BB-ACE8-1D3CDE7F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552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F07AC-97B7-4254-9EDF-A706F3E3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57650"/>
            <a:ext cx="518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OPEN-SOURCE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29F51-605E-4FB9-A8E1-1E3AB5AE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24350"/>
            <a:ext cx="518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github.com/3351666087/Oasis-Finder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976E5-8720-459E-9016-D3CF9C57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91125"/>
            <a:ext cx="552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A400C-8821-4A02-A763-A58E7C93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362575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0C9F9E-AF29-47EF-891F-E77EB4BE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10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8m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D79009-ED49-42E3-90D4-3638F468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43525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Presentation promise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F35C7A-DAC2-402D-B5A0-2E0D8772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86425"/>
            <a:ext cx="464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Every slide is readable enough for a weak-memory live presentation.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E2C972-F08A-4A56-8C12-9ACE252F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</p:spTree>
    <p:extLst>
      <p:ext uri="{BB962C8B-B14F-4D97-AF65-F5344CB8AC3E}">
        <p14:creationId xmlns:p14="http://schemas.microsoft.com/office/powerpoint/2010/main" val="1126702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C567B8-7275-481F-AC41-801A3752D9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67D0B-3A72-4344-AC8E-52FEC522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6272A-731B-4042-BB8A-CD199119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17107-9396-44F8-8F3C-BD558AFE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QUESTIONNAIRE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AE23A-4D90-408B-A3C4-20C08BEC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02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B807C-72DF-479E-B317-6B35EF78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06A45-7869-4710-A6F7-5ED290FA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561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Users prefer visible supply-chain evidence for high-trust food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BA9EE-DBBF-42C5-88DF-56E8EB81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31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We framed the questionnaire around buying probability after merchants show route, time, place, quality, and temperature evidence.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515100" y="1200150"/>
          <a:ext xmlns:a="http://schemas.openxmlformats.org/drawingml/2006/main" cx="476250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9fc40ae98a4983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852FA-AF96-4FA4-AA29-1902C58E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BDDAD-0D9B-402E-B501-560512EA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638D8-B220-43B1-BDF9-9507A9EE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440B2-E259-4E64-8DA4-3D576969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Cake / bakery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C692C-E82F-450C-BCD6-3A939EA3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426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Ingredients and freshness are hard to judge from appearance alone.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0886E-17F2-4A5E-8FEA-4C5F16A6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B3B90-5E8F-4EE4-B7C3-896D12CB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95533-A217-4E3F-82D4-1E7FCEB9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4CFE4C-5C29-4304-8AD7-CBE55974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0050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Chilled meat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224AF-872C-409A-9E42-7EABF3C3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43400"/>
            <a:ext cx="426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Safety and cold-chain trust matter before purchase.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0226E-CB20-4412-91C8-2CA0F30E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2AD7D-406F-40E8-B0AB-EA594744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AACBB-D01E-4675-9A31-4D0DB882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C1209C-290C-443C-B779-043FABC5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Dairy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C3C1F2-1C5C-4874-8D3F-CE2263AB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86350"/>
            <a:ext cx="426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Temperature and expiry evidence can reduce perceived risk.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07358-4302-4CC3-96CE-AC6EEDEA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AE288A-33F0-4335-A84D-F5D43C92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FB1D8-2C0E-43E0-B5AD-AA23DBA2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530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CD659F-2AE1-4DDE-B44E-06990EC3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8640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Fresh produce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07B028-0681-4F13-98DB-2C9B46BC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29300"/>
            <a:ext cx="426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Origin and handling evidence make freshness easier to believe.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E60DC9-1040-46CB-A555-3F7ACEA4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863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Directional coding: 1 = weak lift, 5 = strong lift. The exact response file can replace this chart in the same schema.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540D5E-0C9D-4F4C-8521-D2EF0D5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89B9B5-9E53-4A11-8FEE-2249F2AC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Ge (2022); Tran et al. (2024); Group 9 questionnaire direction</a:t>
            </a:r>
          </a:p>
        </p:txBody>
      </p:sp>
    </p:spTree>
    <p:extLst>
      <p:ext uri="{BB962C8B-B14F-4D97-AF65-F5344CB8AC3E}">
        <p14:creationId xmlns:p14="http://schemas.microsoft.com/office/powerpoint/2010/main" val="8050641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C567B8-7275-481F-AC41-801A3752D9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B2617-CD86-4231-B2EB-3BE580C8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9204B-C653-417D-AF0E-1E397C65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77C73-F38B-4D80-B77E-AABC44DD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CUSTOMER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F046C-2DF5-417A-BC7F-2A5D35BD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03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1100F-C27A-49E7-BC0C-13394C08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A5441-097D-4DB1-AD33-574A198E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647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The user experience is intentionally simple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EE5A4-DDBE-49F2-8FB9-D3621802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Like a Hema or Sam's Club product page: product first, evidence second, technical graph only when the user asks for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530A5-83D1-462B-812E-138E9E6B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CF439-BB70-4F0F-B40E-66B9E4A2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FCBD7-A181-4A00-9701-AF61E93D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9D914-805A-420F-82C3-83D5F4EA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255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Choose a 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0E178-A60E-4069-9C66-9D26262F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2900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Users start from name, category, price, and proof score.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96343-5D90-4BD9-ADA3-1398B3D4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3370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F5209-EB1D-47EC-BD4A-52B943D0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9A4FA-573D-4F26-80F3-01639D77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52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88277-D1D0-4519-8000-E2ABF2D5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86100"/>
            <a:ext cx="255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Split into modules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EBA8D-5D65-4CBF-A685-4BAC7BDE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2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Cake becomes cake base and cream; meat becomes input, packaging, QR label, and cold-chain pack.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74D3B-0B39-4C66-85D1-E7E61E5E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D7707-DD1A-4689-B685-7A873612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112EC-292F-4C21-80BE-FBCDC3AD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52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26AF4F-DF7F-4E0F-B5D4-B694B011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86100"/>
            <a:ext cx="255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Inspect the route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2B1E7-8CE6-4FC1-A4E3-237C81EA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66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Click a component to switch from whole-product supply chain to module-level supply chain.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068A35-A2C1-4712-9054-FF2C24B4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971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2ECBE-1C11-43A4-924B-536B5B53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577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Plain-language promise: customers do not need to understand databases. They only need to see where the product came from, when it moved, and why it is safe enough to buy.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745B2-9FAB-4BDE-BE72-6C780B3A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</p:spTree>
    <p:extLst>
      <p:ext uri="{BB962C8B-B14F-4D97-AF65-F5344CB8AC3E}">
        <p14:creationId xmlns:p14="http://schemas.microsoft.com/office/powerpoint/2010/main" val="1688640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C567B8-7275-481F-AC41-801A3752D9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3AC89-FD1E-4B9F-AB78-2A0F5655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9D3AC-7C34-4EAE-8395-01B53F21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FD7AB-E077-434C-9B5C-7CC0BF0B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BROWSER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B724E-C8CE-4770-A2ED-EC265FF4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04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FDE54-2381-458D-BC3A-9E2237B2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E82FF-13E4-4106-92D0-E42BC31F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676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We removed PySide6 and rebuilt it as a browser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C7EE2-2C26-475C-8EB9-138901C1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676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Frontend and backend run together. Backend edits push live updates to the customer page.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B6038-D2E9-43CE-86F2-202827CF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190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B5C48-5B1F-4A3A-A88B-4B624A7A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B8A6"/>
                </a:solidFill>
              </a:defRPr>
            </a:pPr>
            <a:r>
              <a:rPr sz="1800" b="1">
                <a:solidFill>
                  <a:srgbClr val="14B8A6"/>
                </a:solidFill>
              </a:rPr>
              <a:t>Merchant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002E4-A40E-42EB-886B-A7BD7BFF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1847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7E9"/>
                </a:solidFill>
              </a:defRPr>
            </a:pPr>
            <a:r>
              <a:rPr sz="1350" b="0">
                <a:solidFill>
                  <a:srgbClr val="DDE7E9"/>
                </a:solidFill>
              </a:rPr>
              <a:t>React / admin route</a:t>
            </a:r>
          </a:p>
          <a:p xmlns:a="http://schemas.openxmlformats.org/drawingml/2006/main">
            <a:pPr algn="l">
              <a:defRPr sz="1350" b="0">
                <a:solidFill>
                  <a:srgbClr val="DDE7E9"/>
                </a:solidFill>
              </a:defRPr>
            </a:pPr>
            <a:r>
              <a:rPr sz="1350" b="0">
                <a:solidFill>
                  <a:srgbClr val="DDE7E9"/>
                </a:solidFill>
              </a:rPr>
              <a:t>edit data, upload 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6CC00-F579-46DA-B4BE-27421C43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00450"/>
            <a:ext cx="4953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67905-C725-4F3D-8446-7450A46A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48000"/>
            <a:ext cx="2190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BB6A3-02CF-4774-91CD-CFEB41C2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7E8F9"/>
                </a:solidFill>
              </a:defRPr>
            </a:pPr>
            <a:r>
              <a:rPr sz="1800" b="1">
                <a:solidFill>
                  <a:srgbClr val="67E8F9"/>
                </a:solidFill>
              </a:rPr>
              <a:t>FastAPI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21BCF-AA0D-44A2-AE52-808D8BCC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38550"/>
            <a:ext cx="1847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7E9"/>
                </a:solidFill>
              </a:defRPr>
            </a:pPr>
            <a:r>
              <a:rPr sz="1350" b="0">
                <a:solidFill>
                  <a:srgbClr val="DDE7E9"/>
                </a:solidFill>
              </a:rPr>
              <a:t>REST API + WebSocket</a:t>
            </a:r>
          </a:p>
          <a:p xmlns:a="http://schemas.openxmlformats.org/drawingml/2006/main">
            <a:pPr algn="l">
              <a:defRPr sz="1350" b="0">
                <a:solidFill>
                  <a:srgbClr val="DDE7E9"/>
                </a:solidFill>
              </a:defRPr>
            </a:pPr>
            <a:r>
              <a:rPr sz="1350" b="0">
                <a:solidFill>
                  <a:srgbClr val="DDE7E9"/>
                </a:solidFill>
              </a:rPr>
              <a:t>media upload and broadcast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4037E-60B1-4A50-8E24-EC7DBC78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00450"/>
            <a:ext cx="4953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6F57F-1248-487D-9AD9-CBD431A8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48000"/>
            <a:ext cx="2190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3DCCB-6DA2-449F-A168-A73D40D3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1945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BF24"/>
                </a:solidFill>
              </a:defRPr>
            </a:pPr>
            <a:r>
              <a:rPr sz="1800" b="1">
                <a:solidFill>
                  <a:srgbClr val="FBBF24"/>
                </a:solidFill>
              </a:rPr>
              <a:t>MySQL digital twin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7DEBBA-E185-417A-B3A1-2F603B80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1847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7E9"/>
                </a:solidFill>
              </a:defRPr>
            </a:pPr>
            <a:r>
              <a:rPr sz="1350" b="0">
                <a:solidFill>
                  <a:srgbClr val="DDE7E9"/>
                </a:solidFill>
              </a:rPr>
              <a:t>products, batches, lots</a:t>
            </a:r>
          </a:p>
          <a:p xmlns:a="http://schemas.openxmlformats.org/drawingml/2006/main">
            <a:pPr algn="l">
              <a:defRPr sz="1350" b="0">
                <a:solidFill>
                  <a:srgbClr val="DDE7E9"/>
                </a:solidFill>
              </a:defRPr>
            </a:pPr>
            <a:r>
              <a:rPr sz="1350" b="0">
                <a:solidFill>
                  <a:srgbClr val="DDE7E9"/>
                </a:solidFill>
              </a:rPr>
              <a:t>shipments, risk, inspections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E6850-6F26-485C-A792-21DA7D37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00450"/>
            <a:ext cx="4953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C9C3BA-E262-4555-8AC0-73349078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48000"/>
            <a:ext cx="2190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1CAC77-CDE0-49D5-84E7-7F8957B8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1945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6EFAC"/>
                </a:solidFill>
              </a:defRPr>
            </a:pPr>
            <a:r>
              <a:rPr sz="1800" b="1">
                <a:solidFill>
                  <a:srgbClr val="86EFAC"/>
                </a:solidFill>
              </a:rPr>
              <a:t>Customer frontend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31F2D-75BB-4E1E-B31C-EF71D07A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38550"/>
            <a:ext cx="1847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7E9"/>
                </a:solidFill>
              </a:defRPr>
            </a:pPr>
            <a:r>
              <a:rPr sz="1350" b="0">
                <a:solidFill>
                  <a:srgbClr val="DDE7E9"/>
                </a:solidFill>
              </a:rPr>
              <a:t>React / product route</a:t>
            </a:r>
          </a:p>
          <a:p xmlns:a="http://schemas.openxmlformats.org/drawingml/2006/main">
            <a:pPr algn="l">
              <a:defRPr sz="1350" b="0">
                <a:solidFill>
                  <a:srgbClr val="DDE7E9"/>
                </a:solidFill>
              </a:defRPr>
            </a:pPr>
            <a:r>
              <a:rPr sz="1350" b="0">
                <a:solidFill>
                  <a:srgbClr val="DDE7E9"/>
                </a:solidFill>
              </a:rPr>
              <a:t>module graph and proof panel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B7D1DF-795F-4A6D-BA4D-71ED03F5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4350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2F7AC-44D0-44D9-A172-A4DC54C2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9590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REALTIME CHANNEL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9DEC8-BD39-4526-9015-A8CC115B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626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54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WebSocket /ws/updates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1C58CC-E984-4263-A613-F54FCB6A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4350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D141D3-BAE0-46BA-9B3A-B99C0712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9590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BBF24"/>
                </a:solidFill>
              </a:defRPr>
            </a:pPr>
            <a:r>
              <a:rPr sz="975" b="1">
                <a:solidFill>
                  <a:srgbClr val="FBBF24"/>
                </a:solidFill>
              </a:rPr>
              <a:t>BACKEND URL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A0D15B-F83F-48DB-81CD-78341A73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626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127.0.0.1:8000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B28E80-B5AA-42CA-8C4A-A308D08D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4350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CBC637-4937-4E90-AD52-073137F8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9590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6EFAC"/>
                </a:solidFill>
              </a:defRPr>
            </a:pPr>
            <a:r>
              <a:rPr sz="975" b="1">
                <a:solidFill>
                  <a:srgbClr val="86EFAC"/>
                </a:solidFill>
              </a:rPr>
              <a:t>FRONTEND URL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35C7CB-D293-49B8-A424-17EA4EE5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626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127.0.0.1:5173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D49E10-E3D8-4AF2-A078-16F34D3D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458357-B0F4-45E5-A796-1EAE1B0D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Repository runtime validation, 2026-04-28</a:t>
            </a:r>
          </a:p>
        </p:txBody>
      </p:sp>
    </p:spTree>
    <p:extLst>
      <p:ext uri="{BB962C8B-B14F-4D97-AF65-F5344CB8AC3E}">
        <p14:creationId xmlns:p14="http://schemas.microsoft.com/office/powerpoint/2010/main" val="21395124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C567B8-7275-481F-AC41-801A3752D9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8F08B-3444-41DA-8ADC-53BF4D67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955C9-7FA5-4CE1-AF4B-992EAA62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63A99-631B-430A-BBB0-4466B00C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CUSTOMER FRONTEND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487DF-64B3-43D3-A278-B501CA70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F123B-DFD0-4919-911E-BB43ED7B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6F5CA-7489-43D1-A547-425F9648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581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Customer frontend: how a shopper uses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9D776-D11F-4FC3-A523-4786BF39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581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The homepage keeps the product shelf for marketing, then opens the inspectable supply-chain route.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159539e8443af"/>
          <a:srcRect xmlns:a="http://schemas.openxmlformats.org/drawingml/2006/main" l="0" t="22743" r="0" b="227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895350"/>
            <a:ext cx="5334000" cy="5048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2B71F-CFBD-4830-870F-E0768CCA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21DA8-4421-4B6F-8C47-E6623130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034EE-AC79-49BD-9C5E-715675BB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F5A09-D903-4E1C-87B3-0EFB31D9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Start with product cards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BDBE1-3061-4918-B434-BFC79639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5280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Name, category, price, proof score, and simple visual placeholder.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5CCB9-D1A0-4CBA-8714-6DCB9B86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94B7B-9F71-481C-AE46-6A3FBE99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F6B7E-772D-4532-8E2E-C0EE5A46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D5736-2DC2-4931-87D8-87004EB6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Read the plain guide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DCC81-B187-402E-B2CF-5773BA7B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The page tells users what to do without technical vocabulary.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3BB00-6B5F-4306-8588-6C2CDC72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61DB61-10D9-447C-B348-06565E8F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518BAB-DE34-4338-8C47-1185D8A4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530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0620F7-1E25-4FC1-981B-6AE5DAFB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8640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Choose SKU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FC7A8-52AF-45D3-9194-1BCA158C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2930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Changing product reloads the matching route, modules, and evidence.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328237-01A2-4BAD-A9A5-A6630725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8C81EC-A413-4884-BE8B-4B5DA4B6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Live screenshot from local browser frontend</a:t>
            </a:r>
          </a:p>
        </p:txBody>
      </p:sp>
    </p:spTree>
    <p:extLst>
      <p:ext uri="{BB962C8B-B14F-4D97-AF65-F5344CB8AC3E}">
        <p14:creationId xmlns:p14="http://schemas.microsoft.com/office/powerpoint/2010/main" val="764255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C567B8-7275-481F-AC41-801A3752D9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2F5B1-E66C-4BB0-8E36-E57DFE75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084B4-25D2-47F7-B01B-7B543A72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6845D-BB52-4DCE-AA79-6673B21F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MODULE ROUTE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7B9C1-97BE-4FC0-B697-9C41BD62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06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3D1C3-2929-4D06-85AF-8095837E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76804-BB01-4836-9DF9-151F6641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Click a component, then inspect module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49D1E-227E-45D0-8D8D-62D40CE7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The whole product route stays available. One click focuses on a specific component and its supplier evidence.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e07802c7c4273"/>
          <a:srcRect xmlns:a="http://schemas.openxmlformats.org/drawingml/2006/main" l="0" t="21302" r="0" b="213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819150"/>
            <a:ext cx="5353050" cy="5334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D4E89-AD02-4387-9269-A6378328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038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73906-51AF-41C9-B4DB-DCC89F7A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765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EFAC"/>
                </a:solidFill>
              </a:defRPr>
            </a:pPr>
            <a:r>
              <a:rPr sz="900" b="1">
                <a:solidFill>
                  <a:srgbClr val="86EFAC"/>
                </a:solidFill>
              </a:rPr>
              <a:t>MODULE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CEF32-9657-4053-AA2D-6F4012B2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22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Broiler Protein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733FC-0938-4CB1-8902-AA7E0539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2038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66971-6BC9-4148-B788-E998CE02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765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E8F9"/>
                </a:solidFill>
              </a:defRPr>
            </a:pPr>
            <a:r>
              <a:rPr sz="900" b="1">
                <a:solidFill>
                  <a:srgbClr val="67E8F9"/>
                </a:solidFill>
              </a:rPr>
              <a:t>SUPPLIER CITY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32495-CC3D-4EDC-945C-ACE23376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95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7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Fuzhou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36537-1921-42B9-9184-26E42B79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038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456C5-0F4C-49DE-A25C-03DF1024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BF24"/>
                </a:solidFill>
              </a:defRPr>
            </a:pPr>
            <a:r>
              <a:rPr sz="900" b="1">
                <a:solidFill>
                  <a:srgbClr val="FBBF24"/>
                </a:solidFill>
              </a:rPr>
              <a:t>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5C6FF-5B4D-491F-AF7C-98DE01B9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7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LOT-00026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67802-81FA-4E6A-89D2-C79E7B25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48100"/>
            <a:ext cx="2038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20F3FC-C8D5-47CB-9148-89D0040E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719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97316"/>
                </a:solidFill>
              </a:defRPr>
            </a:pPr>
            <a:r>
              <a:rPr sz="900" b="1">
                <a:solidFill>
                  <a:srgbClr val="F97316"/>
                </a:solidFill>
              </a:rPr>
              <a:t>RECEIVED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A4D665-B3C9-4F28-B8A5-7B2ACCFE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910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7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2026-04-11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FEC18C-BA5A-4213-9925-4E807D41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2038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C88702-D3DA-454B-B4F7-D730F550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672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</a:defRPr>
            </a:pPr>
            <a:r>
              <a:rPr sz="900" b="1">
                <a:solidFill>
                  <a:srgbClr val="14B8A6"/>
                </a:solidFill>
              </a:rPr>
              <a:t>INSPECTION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DE2FC0-5E5B-478B-AD78-2C54796B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7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89.2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82075D-633E-4D9F-9903-C4873AB6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2038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094C5-C34F-4370-9D2A-032704DE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672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EFAC"/>
                </a:solidFill>
              </a:defRPr>
            </a:pPr>
            <a:r>
              <a:rPr sz="900" b="1">
                <a:solidFill>
                  <a:srgbClr val="86EFAC"/>
                </a:solidFill>
              </a:rPr>
              <a:t>TRACEABILITY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1D5971-01CD-4684-8A82-EF5AA56F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86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7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96.0%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E628B5-0DDC-4555-A9B5-DB6027EA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93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7E9"/>
                </a:solidFill>
              </a:defRPr>
            </a:pPr>
            <a:r>
              <a:rPr sz="1350" b="0">
                <a:solidFill>
                  <a:srgbClr val="DDE7E9"/>
                </a:solidFill>
              </a:rPr>
              <a:t>Transition behavior: switching between Whole product and any module redraws the route panel with a soft animated change, so users understand exactly which layer of evidence they are viewing.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8A0BDE-560B-49E7-B57A-60C3610C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2F19B5-03E4-4AFB-98FF-9C70DC2A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Live screenshot from local browser frontend</a:t>
            </a:r>
          </a:p>
        </p:txBody>
      </p:sp>
    </p:spTree>
    <p:extLst>
      <p:ext uri="{BB962C8B-B14F-4D97-AF65-F5344CB8AC3E}">
        <p14:creationId xmlns:p14="http://schemas.microsoft.com/office/powerpoint/2010/main" val="560773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C567B8-7275-481F-AC41-801A3752D9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552A2-C00D-4DA1-969D-FFE7EB14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09BFC-82BE-40F1-A27D-02584F8C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09C63-E3F1-4961-8C43-10485F63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MERCHANT BACKEND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A7FFB-6F70-416E-AE37-957526AE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07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7E465-1223-4733-B1D0-D81E8D6E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DF73F-A1DA-4CEB-AFD5-F1D92122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Merchant backend: edit data and images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3F00D-0634-4C0F-A3AA-2C601D68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Seller-side workflow: choose SKU, edit product facts, then upload or paste evidence media.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609aa031f4534"/>
          <a:srcRect xmlns:a="http://schemas.openxmlformats.org/drawingml/2006/main" l="15765" t="0" r="157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781050"/>
            <a:ext cx="5353050" cy="5429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954FF-D8E7-444B-85A6-031B3899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59449-89DC-4049-AD10-87E01FFB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96EB9-5BD0-4EF0-83F5-04BD33A9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85D08-BC1F-4453-9B5D-D208A04F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Select SKU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1A8EF-FBC1-407D-BAEF-9F544617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Merchant chooses the product to edit from the left product list.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05388-0CBC-448C-BD2D-245A3926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605A0-C07D-4015-97EF-457FD33D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D5B42-6F56-4F29-94AE-88F4F6E2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5CA21-7652-46C9-960A-E87ED045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Edit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C94A2-0159-43F6-A36E-72EE137D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9580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Name, category, price, shelf life, and storage temperature are editable.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4A4251-4B75-4372-8D40-B116045A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FF685-0957-412A-8952-44F40FF2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67F32C-9DBA-45A0-A277-9A29347B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578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626147-6306-427C-B305-4437143C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Upload or paste image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9F0F7-CF70-4726-BC44-453F1738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340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Media slots are reserved for product photo, origin image, certificate, and cold-chain proof.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1A7B7-A008-4859-BAED-B9B7071E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9A1F9C-014D-42DD-86DD-FBA9490F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Backend sends live update events to the customer frontend</a:t>
            </a:r>
          </a:p>
        </p:txBody>
      </p:sp>
    </p:spTree>
    <p:extLst>
      <p:ext uri="{BB962C8B-B14F-4D97-AF65-F5344CB8AC3E}">
        <p14:creationId xmlns:p14="http://schemas.microsoft.com/office/powerpoint/2010/main" val="16373999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C567B8-7275-481F-AC41-801A3752D9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EAB25-58D3-4F28-8CFD-3F6027AC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1A18F-5383-4EEB-A165-3E399A94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6E83A-FA8F-449D-A9F6-C45CF99E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DATA RESPONSIBILITY AND API SLOTS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D761E-5905-4724-BD3A-2391DC7F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08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ADF18-F5E5-4E8F-A9B7-E76ED1F8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13FAB-92F1-417E-946F-ACB06327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647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Open code, but merchant data must still be 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2DCF5-04FD-48EC-8E69-09C2EA96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Oasis Finder provides the interface and evidence slots. We do not guarantee a company's data truthfulness for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7D1D6-D2A4-4606-8823-FA89FDA1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D2DC8-9FFC-4A03-9830-0E20333B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6EFAC"/>
                </a:solidFill>
              </a:defRPr>
            </a:pPr>
            <a:r>
              <a:rPr sz="1725" b="1">
                <a:solidFill>
                  <a:srgbClr val="86EFAC"/>
                </a:solidFill>
              </a:rPr>
              <a:t>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9D33B-EB87-4C44-9BB4-32A94B3F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SKU / GTIN, QR, batch ID, lot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FF131-E626-4DD1-9C54-6D7FEBF8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289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A994B-5F87-42C8-A4FF-9F2A281F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7E8F9"/>
                </a:solidFill>
              </a:defRPr>
            </a:pPr>
            <a:r>
              <a:rPr sz="1725" b="1">
                <a:solidFill>
                  <a:srgbClr val="67E8F9"/>
                </a:solidFill>
              </a:rPr>
              <a:t>Critical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CFBE4-6F95-4D98-96EF-C089F2AE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90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harvest, production, receiving, shipping, arrival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252D2-DA95-401D-985C-B79DE0C3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289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99641-686E-46E8-AF6D-CBFE9B72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</a:defRPr>
            </a:pPr>
            <a:r>
              <a:rPr sz="1725" b="1">
                <a:solidFill>
                  <a:srgbClr val="FBBF24"/>
                </a:solidFill>
              </a:rPr>
              <a:t>Location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97EB6-0737-483F-8B09-EE4A7ACD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2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supplier, plant, warehouse, retail node, location 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BF566-2364-4EA9-9764-CBFB591F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A3BBB-3A44-49C1-9ED1-F7DA6F1B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6EFAC"/>
                </a:solidFill>
              </a:defRPr>
            </a:pPr>
            <a:r>
              <a:rPr sz="1725" b="1">
                <a:solidFill>
                  <a:srgbClr val="86EFAC"/>
                </a:solidFill>
              </a:rPr>
              <a:t>Condition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DAF17-A360-4432-BBF8-AD5C5EFD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8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temperature range, breach minutes, shelf-life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A1C2F8-D038-48CB-9ACF-C4613663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481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F988D-3F30-45D0-BD39-EE5638D5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005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7E8F9"/>
                </a:solidFill>
              </a:defRPr>
            </a:pPr>
            <a:r>
              <a:rPr sz="1725" b="1">
                <a:solidFill>
                  <a:srgbClr val="67E8F9"/>
                </a:solidFill>
              </a:rPr>
              <a:t>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EA49F-A100-470C-AC28-49152C33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243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33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inspection score, package score, residue/pathogen checks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88CDB8-9720-48CD-A113-3603A109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F60470-84DD-4255-A10D-9411D619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</a:defRPr>
            </a:pPr>
            <a:r>
              <a:rPr sz="1725" b="1">
                <a:solidFill>
                  <a:srgbClr val="FBBF24"/>
                </a:solidFill>
              </a:rPr>
              <a:t>Owner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5FD517-0442-4604-9F61-02828251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243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6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supplier, carrier, auditor, certificate URI, signed file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FCD3A2-BCE6-4754-A653-8CA5675B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34000"/>
            <a:ext cx="8991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88FAF9-0EFE-4619-9B4D-46B890D1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62600"/>
            <a:ext cx="834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Production recommendation: validate these fields with QR events, IoT logs, supplier records, ERP/WMS integrations, and third-party audits.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BEBCFE-E28B-434F-9CF6-1686AA77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ED370F-C177-4F5E-AA7C-B026DAB2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FDA FSMA 204; GS1 Traceability</a:t>
            </a:r>
          </a:p>
        </p:txBody>
      </p:sp>
    </p:spTree>
    <p:extLst>
      <p:ext uri="{BB962C8B-B14F-4D97-AF65-F5344CB8AC3E}">
        <p14:creationId xmlns:p14="http://schemas.microsoft.com/office/powerpoint/2010/main" val="8076920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C567B8-7275-481F-AC41-801A3752D9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F5BBC-48E4-4D50-8FEF-838D5A15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ED4B8-C14E-4F3F-9580-F5EFE15B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90652-E6FA-46AF-BF5B-E737AC17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CP GROUP FIT AND MERCHANT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87E2D-0629-4E5B-B10F-E4BF2994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09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58386-1CE5-4DFC-B048-92A01540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17771-D200-419B-8485-4F9070A3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685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Why CP Group fits, and why the method is not CP-only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12464-D147-498A-AC36-D237E23D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CP Group has agro-food, retail, distribution, e-commerce, and traceability contexts. That makes it a strong pilot, not a limit.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04344-3EA9-44D4-A623-A9C54523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789C7-1139-4FCE-BDF4-FF13CEC8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1B1D6-62EC-4D6A-BBEE-58152D0D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94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5AF09-1D0D-4926-AA52-47BE8EA1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5275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CP 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4AD99-1884-44E4-8084-634E391F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95650"/>
            <a:ext cx="426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Feed, farm, food, retail, and distribution can be connected into one product evidence page.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5CB18-0FF0-4A69-8F93-DFF27767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0120A-160C-4EC5-93CF-0C81722D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67B48-8561-47A8-86B7-C81E19DD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AD5F9-0218-45E2-9A61-1CF57856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Not CP-only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AB6EA-4553-4C3F-BD55-871E96ED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57700"/>
            <a:ext cx="426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Any merchant can use the same schema if it can provide SKU, batch, supplier, shipment, inspection, and media proof.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E6C24-68E1-4BC1-952D-A3EE1863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67A8E-07B6-438D-A798-BE7121D8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8A637-3FEA-415C-B8EA-1341D66D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43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E677D-A545-4535-A911-49AF2CE5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7685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Revenue logic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9D1E39-35A0-48DA-85A4-118BA9E4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0"/>
            <a:ext cx="426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Transparency can improve conversion, premium tolerance, retention, and reduced refund/complaint friction.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1F9246-882B-4090-B9F6-BA318DAE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A9B801-75B4-480B-BBE8-A67F8DBB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99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6EFAC"/>
                </a:solidFill>
              </a:defRPr>
            </a:pPr>
            <a:r>
              <a:rPr sz="975" b="1">
                <a:solidFill>
                  <a:srgbClr val="86EFAC"/>
                </a:solidFill>
              </a:rPr>
              <a:t>MERCHANT UPSIDE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0C0077-192A-4936-A25D-85AA2928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175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higher trust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2F2731-5B03-41F4-A8F2-5682C475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162E1F-A71A-47E5-BA0E-205224BB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099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AD FORMAT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AA48C4-A366-4CFB-8076-960D8417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76600"/>
            <a:ext cx="175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evidence page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7800C8-4293-4FEF-82FF-2DBF59D7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4667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B6F380-E5EA-49C5-8CB0-A78564CD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432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BBF24"/>
                </a:solidFill>
              </a:defRPr>
            </a:pPr>
            <a:r>
              <a:rPr sz="975" b="1">
                <a:solidFill>
                  <a:srgbClr val="FBBF24"/>
                </a:solidFill>
              </a:rPr>
              <a:t>PILOT PRODUCT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D8073F-9C3C-41D9-8547-3BC3EDC2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32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cake / meat / dairy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65B7E3-A158-464C-A8D4-54B2EF89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05450"/>
            <a:ext cx="4667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CC3E05-F318-4CF0-B308-2F628726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5785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A/B test: baseline page versus Oasis Finder evidence page.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A90F1D-A46E-436A-9947-76439749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0C181A-0B5B-4D94-B9B4-9A63C8B7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CP Group; CPF; CP Axtra official pages</a:t>
            </a:r>
          </a:p>
        </p:txBody>
      </p:sp>
    </p:spTree>
    <p:extLst>
      <p:ext uri="{BB962C8B-B14F-4D97-AF65-F5344CB8AC3E}">
        <p14:creationId xmlns:p14="http://schemas.microsoft.com/office/powerpoint/2010/main" val="6120112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C567B8-7275-481F-AC41-801A3752D9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A0C1C-C483-4770-8E7C-92F642C9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3390E-44E9-453F-8B82-7DFB66B1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9F501-FB90-49FD-A9D6-CE9E669C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BUILD STORY AND 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E5AEB-5B20-4B71-B315-BB18203F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10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93510-FA01-4D30-83E7-22FD5A05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D26BE-A39D-4C68-8613-2F52301F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7048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What we can prove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A040F-F84D-4A46-A226-89957925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704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The rebuild is now a running browser product with verified backend API, frontend build, product modules, merchant editing, and live screenshots.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187AB-C053-452F-BFE8-8C9783E7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05B56-5621-4C32-88B4-A430525D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A4133-7303-4CDD-9EBB-C2D021F6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53491-E3B7-463A-A97C-25AA07E8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Architecture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03A63-E0DB-4526-A925-F478CE3B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PySide6 removed; FastAPI + React/Vite + MySQL running locally.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C3C9D-F63E-4F3D-9F41-050251EB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904AA-687D-4ED7-A5BE-81F2CA85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EA520-1FA8-46A5-87F2-D4138891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C4AC7-1FE9-4B21-8D7E-6D9E4394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Frontend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006C3-611F-43D8-8F79-F9467999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Customer shelf, module dissection, route transition, variable proof panel.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581F3-7D07-4B1E-BB9B-A70ABC7E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3E85E-2888-4A13-88C8-873C4582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01DE99-FEDC-46E3-908C-FCDCFCF3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5AB72-A471-4036-89AE-A0461992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240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Backend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520FDD-BFE2-400A-838C-1E9F574A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Merchant editor, upload/image URL slots, WebSocket live-update bus.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6CED8-1050-47E1-95AF-4B49276F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3E068A-A3EA-4B79-8A71-4464F184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48C110-2225-414C-B6F3-0611DA52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DEFC64-8BBD-46BF-835C-6404742A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6240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4F623-D960-4D3C-9145-6A4D3665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0530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compileall PASS, health-check PASS, npm build PASS, API smoke PASS.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14BAE4-768B-44B8-82AC-D5B2E21C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34000"/>
            <a:ext cx="9982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5A25F4-9F49-426B-B195-006940C4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914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Final line: We do not ask users to trust a slogan. We let them inspect the chain behind the product.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311D27-B7EE-4B2F-8337-D76DE1A6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0960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7E8F9"/>
                </a:solidFill>
              </a:defRPr>
            </a:pPr>
            <a:r>
              <a:rPr sz="1500" b="1">
                <a:solidFill>
                  <a:srgbClr val="67E8F9"/>
                </a:solidFill>
              </a:rPr>
              <a:t>https://github.com/3351666087/Oasis-Finder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FBE4D3-C4AB-4C34-A1AA-3E6E4E69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2E94D4-D1E4-4613-BFDF-E3D8C271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References in notes: Ge 2022; Tran et al. 2024; Wang et al. 2021; FDA; GS1; CP official pages</a:t>
            </a:r>
          </a:p>
        </p:txBody>
      </p:sp>
    </p:spTree>
    <p:extLst>
      <p:ext uri="{BB962C8B-B14F-4D97-AF65-F5344CB8AC3E}">
        <p14:creationId xmlns:p14="http://schemas.microsoft.com/office/powerpoint/2010/main" val="859728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2026-04-28T07:51:10.3290000Z</dcterms:created>
  <dcterms:modified xsi:type="dcterms:W3CDTF">2026-04-28T07:51:10.3290000Z</dcterms:modified>
</coreProperties>
</file>