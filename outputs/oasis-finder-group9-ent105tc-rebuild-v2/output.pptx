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afb6f7278a415d" /><Relationship Type="http://schemas.openxmlformats.org/officeDocument/2006/relationships/extended-properties" Target="/docProps/app.xml" Id="R7197acdcb01f42d5" /><Relationship Type="http://schemas.openxmlformats.org/officeDocument/2006/relationships/officeDocument" Target="/ppt/presentation.xml" Id="Rf2e9f22f2f904f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bb656dade749a2"/>
  </p:sldMasterIdLst>
  <p:notesMasterIdLst>
    <p:notesMasterId xmlns:r="http://schemas.openxmlformats.org/officeDocument/2006/relationships" r:id="R8b8feb9562234d85"/>
  </p:notesMasterIdLst>
  <p:sldIdLst>
    <p:sldId xmlns:r="http://schemas.openxmlformats.org/officeDocument/2006/relationships" id="256" r:id="R12964e5d3f394915"/>
    <p:sldId xmlns:r="http://schemas.openxmlformats.org/officeDocument/2006/relationships" id="257" r:id="R16cc3573cd8746e4"/>
    <p:sldId xmlns:r="http://schemas.openxmlformats.org/officeDocument/2006/relationships" id="258" r:id="R799948549a5f4b8a"/>
    <p:sldId xmlns:r="http://schemas.openxmlformats.org/officeDocument/2006/relationships" id="259" r:id="R4dc2edd5eb8f4988"/>
    <p:sldId xmlns:r="http://schemas.openxmlformats.org/officeDocument/2006/relationships" id="260" r:id="R6bd63e1fbafa42bf"/>
    <p:sldId xmlns:r="http://schemas.openxmlformats.org/officeDocument/2006/relationships" id="261" r:id="R180dd73643f743b8"/>
    <p:sldId xmlns:r="http://schemas.openxmlformats.org/officeDocument/2006/relationships" id="262" r:id="Rfb375383afd144ad"/>
    <p:sldId xmlns:r="http://schemas.openxmlformats.org/officeDocument/2006/relationships" id="263" r:id="R61f1f98f90644d4f"/>
    <p:sldId xmlns:r="http://schemas.openxmlformats.org/officeDocument/2006/relationships" id="264" r:id="Rd89ec86cece04a3d"/>
    <p:sldId xmlns:r="http://schemas.openxmlformats.org/officeDocument/2006/relationships" id="265" r:id="Ra474fe7d79334c5a"/>
    <p:sldId xmlns:r="http://schemas.openxmlformats.org/officeDocument/2006/relationships" id="266" r:id="R4bfffb77ec4a4cc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b656dade749a2" /><Relationship Type="http://schemas.openxmlformats.org/officeDocument/2006/relationships/theme" Target="/ppt/theme/theme1.xml" Id="R020faa3a47954408" /><Relationship Type="http://schemas.openxmlformats.org/officeDocument/2006/relationships/notesMaster" Target="/ppt/notesMasters/notesMaster1.xml" Id="R8b8feb9562234d85" /><Relationship Type="http://schemas.openxmlformats.org/officeDocument/2006/relationships/presProps" Target="/ppt/presProps.xml" Id="R9518ba2115324e5b" /><Relationship Type="http://schemas.openxmlformats.org/officeDocument/2006/relationships/viewProps" Target="/ppt/viewProps.xml" Id="Rf84174e315d645e5" /><Relationship Type="http://schemas.openxmlformats.org/officeDocument/2006/relationships/tableStyles" Target="/ppt/tableStyles.xml" Id="R6ba2f462477c4248" /><Relationship Type="http://schemas.openxmlformats.org/officeDocument/2006/relationships/slide" Target="/ppt/slides/slide1.xml" Id="R12964e5d3f394915" /><Relationship Type="http://schemas.openxmlformats.org/officeDocument/2006/relationships/slide" Target="/ppt/slides/slide2.xml" Id="R16cc3573cd8746e4" /><Relationship Type="http://schemas.openxmlformats.org/officeDocument/2006/relationships/slide" Target="/ppt/slides/slide3.xml" Id="R799948549a5f4b8a" /><Relationship Type="http://schemas.openxmlformats.org/officeDocument/2006/relationships/slide" Target="/ppt/slides/slide4.xml" Id="R4dc2edd5eb8f4988" /><Relationship Type="http://schemas.openxmlformats.org/officeDocument/2006/relationships/slide" Target="/ppt/slides/slide5.xml" Id="R6bd63e1fbafa42bf" /><Relationship Type="http://schemas.openxmlformats.org/officeDocument/2006/relationships/slide" Target="/ppt/slides/slide6.xml" Id="R180dd73643f743b8" /><Relationship Type="http://schemas.openxmlformats.org/officeDocument/2006/relationships/slide" Target="/ppt/slides/slide7.xml" Id="Rfb375383afd144ad" /><Relationship Type="http://schemas.openxmlformats.org/officeDocument/2006/relationships/slide" Target="/ppt/slides/slide8.xml" Id="R61f1f98f90644d4f" /><Relationship Type="http://schemas.openxmlformats.org/officeDocument/2006/relationships/slide" Target="/ppt/slides/slide9.xml" Id="Rd89ec86cece04a3d" /><Relationship Type="http://schemas.openxmlformats.org/officeDocument/2006/relationships/slide" Target="/ppt/slides/slide10.xml" Id="Ra474fe7d79334c5a" /><Relationship Type="http://schemas.openxmlformats.org/officeDocument/2006/relationships/slide" Target="/ppt/slides/slide11.xml" Id="R4bfffb77ec4a4c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1c2bb8a633f48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8e6a3e09fa49d7" /><Relationship Type="http://schemas.openxmlformats.org/officeDocument/2006/relationships/notesMaster" Target="/ppt/notesMasters/notesMaster1.xml" Id="R7b967258170848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351efdda09458c" /><Relationship Type="http://schemas.openxmlformats.org/officeDocument/2006/relationships/notesMaster" Target="/ppt/notesMasters/notesMaster1.xml" Id="Rc24a575599ed49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8de3cd2d94475b" /><Relationship Type="http://schemas.openxmlformats.org/officeDocument/2006/relationships/notesMaster" Target="/ppt/notesMasters/notesMaster1.xml" Id="R5b958928a0eb4f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68815d15154b5f" /><Relationship Type="http://schemas.openxmlformats.org/officeDocument/2006/relationships/notesMaster" Target="/ppt/notesMasters/notesMaster1.xml" Id="R011c22f9e84d4a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8d918160914941" /><Relationship Type="http://schemas.openxmlformats.org/officeDocument/2006/relationships/notesMaster" Target="/ppt/notesMasters/notesMaster1.xml" Id="Rb37503ebf09f40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6b020d86634539" /><Relationship Type="http://schemas.openxmlformats.org/officeDocument/2006/relationships/notesMaster" Target="/ppt/notesMasters/notesMaster1.xml" Id="R9f80b05a1eed4d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dfdccc2a004b7f" /><Relationship Type="http://schemas.openxmlformats.org/officeDocument/2006/relationships/notesMaster" Target="/ppt/notesMasters/notesMaster1.xml" Id="R48c93c8c6a3445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efad1296fe48a4" /><Relationship Type="http://schemas.openxmlformats.org/officeDocument/2006/relationships/notesMaster" Target="/ppt/notesMasters/notesMaster1.xml" Id="R794e83a8b5334c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1df3ad5f024ef4" /><Relationship Type="http://schemas.openxmlformats.org/officeDocument/2006/relationships/notesMaster" Target="/ppt/notesMasters/notesMaster1.xml" Id="R8e2fd67d002c4b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f97e59ac3641c3" /><Relationship Type="http://schemas.openxmlformats.org/officeDocument/2006/relationships/notesMaster" Target="/ppt/notesMasters/notesMaster1.xml" Id="R34e02ed655f742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ace239112644bd" /><Relationship Type="http://schemas.openxmlformats.org/officeDocument/2006/relationships/notesMaster" Target="/ppt/notesMasters/notesMaster1.xml" Id="Rb39e6135256b4a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Opening. Reframe Oasis Finder as a commercial transparency method: merchants show supply-chain structure and evidence so users feel safer and are more likely to buy.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explain the revised premise. We are testing purchase probability after a merchant shows supply-chain structure. Do not claim a precise sample statistic unless raw survey data is 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Group 9 internal questionnaire direction (2026); raw response file is not stored in this repository, so charts are treated as directional evidence rather than population statistics.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explain why merchants would pay for this method. It is a marketing tool because traceable information quality and certification credibility affect perceived risk, perceived value, and purchase intention.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connect this to teacher feedback. The product layer must show exactly what variables appear when the user clicks a node. Mention FDA CTE/KDE logic and GS1 traceability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tell the build story. We started with a broad transparency idea, used research to narrow it, built the data foundation, and then added the click-to-inspect product evidence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Badia-Melis, R., Mishra, P., &amp; Ruiz-García, L. (2015). Food traceability: New trends and recent advances. Food Control, 57, 393-401. https://doi.org/10.1016/j.foodcont.2015.05.005</a:t>
            </a:r>
          </a:p>
          <a:p xmlns:a="http://schemas.openxmlformats.org/drawingml/2006/main">
            <a:r>
              <a:t>- 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this is the central product slide. Say that a merchant can use this exact view, or a web/QR version of it, to show evidence at the product page. Point to variables: time, place, stage, quality, temperature,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clarify the data-responsibility point. Our code is open source, and the product reserves interfaces. We do not guarantee a big company's or any merchant's data authenticity.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show that we can back the marketing interface with operational data. Mention 97 facilities, 200 links, 418 batches, and model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this slide answers why merchants gain. It is an indexed value model, not a guaranteed financial forecast. Tie it to WTP, purchase intention, perceived risk, and perceived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future-validation slide. It replaces the internal speaking-flow page, which is not useful for assessors. Explain that the project can move from stated preference to merchant A/B testing.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Group 9 internal questionnaire direction (2026); raw response file is not stored in this repository, so charts are treated as directional evidence rather than population statistics.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Closing. State the final line slowly, then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  <a:p xmlns:a="http://schemas.openxmlformats.org/drawingml/2006/main">
            <a:r>
              <a:t>- Badia-Melis, R., Mishra, P., &amp; Ruiz-García, L. (2015). Food traceability: New trends and recent advances. Food Control, 57, 393-401. https://doi.org/10.1016/j.foodcont.2015.05.005</a:t>
            </a:r>
          </a:p>
          <a:p xmlns:a="http://schemas.openxmlformats.org/drawingml/2006/main">
            <a:r>
              <a:t>- 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d12c43b7ba4b4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AC83BA7F-F5B5-4AD8-9032-9879298DAF03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C718D340-96DA-4333-A1E2-574A8556F34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7216D6-C704-407F-B10D-2EACBD5CE0F6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F8B3FBA-66E2-41B6-8252-BBFF1EF8FA2D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3accceb35a14a89" /><Relationship Type="http://schemas.openxmlformats.org/officeDocument/2006/relationships/slideLayout" Target="/ppt/slideLayouts/slideLayout2.xml" Id="R6c8ab6d1497044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A0B446-73B5-40E6-A57A-7EC32F760F92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8ab6d1497044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91dca30a5745fe" /><Relationship Type="http://schemas.openxmlformats.org/officeDocument/2006/relationships/notesSlide" Target="/ppt/notesSlides/notesSlide1.xml" Id="R3dd533c5c8ba4d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d2272520c24e79" /><Relationship Type="http://schemas.openxmlformats.org/officeDocument/2006/relationships/chart" Target="/ppt/slides/charts/chart1.xml" Id="R1a76efa55f3f46bf" /><Relationship Type="http://schemas.openxmlformats.org/officeDocument/2006/relationships/notesSlide" Target="/ppt/notesSlides/notesSlide2.xml" Id="R8270d80ee4c447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19cb43644e4450" /><Relationship Type="http://schemas.openxmlformats.org/officeDocument/2006/relationships/notesSlide" Target="/ppt/notesSlides/notesSlide3.xml" Id="Rb2718394ce1746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ce84dcb28746fa" /><Relationship Type="http://schemas.openxmlformats.org/officeDocument/2006/relationships/notesSlide" Target="/ppt/notesSlides/notesSlide4.xml" Id="Rcad5d02d59ca45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54d8ff3a74e8a" /><Relationship Type="http://schemas.openxmlformats.org/officeDocument/2006/relationships/notesSlide" Target="/ppt/notesSlides/notesSlide5.xml" Id="R2fde87cebec84d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3ac88e79c449eb" /><Relationship Type="http://schemas.openxmlformats.org/officeDocument/2006/relationships/image" Target="/ppt/media/image.png" Id="R314fa3fe785d4302" /><Relationship Type="http://schemas.openxmlformats.org/officeDocument/2006/relationships/notesSlide" Target="/ppt/notesSlides/notesSlide6.xml" Id="Rf43ddd43356942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6ccbaffe5a4496" /><Relationship Type="http://schemas.openxmlformats.org/officeDocument/2006/relationships/image" Target="/ppt/media/image2.png" Id="R78172e2176404bc9" /><Relationship Type="http://schemas.openxmlformats.org/officeDocument/2006/relationships/notesSlide" Target="/ppt/notesSlides/notesSlide7.xml" Id="Rf509c733310a46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3404c71e594b58" /><Relationship Type="http://schemas.openxmlformats.org/officeDocument/2006/relationships/chart" Target="/ppt/slides/charts/chart2.xml" Id="R95f67121e44744eb" /><Relationship Type="http://schemas.openxmlformats.org/officeDocument/2006/relationships/image" Target="/ppt/media/image3.png" Id="Rdb179fa2e86e4151" /><Relationship Type="http://schemas.openxmlformats.org/officeDocument/2006/relationships/notesSlide" Target="/ppt/notesSlides/notesSlide8.xml" Id="R9afdb71bae5b44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5eebc3763948ff" /><Relationship Type="http://schemas.openxmlformats.org/officeDocument/2006/relationships/chart" Target="/ppt/slides/charts/chart3.xml" Id="Rfaa64b42f3d84a24" /><Relationship Type="http://schemas.openxmlformats.org/officeDocument/2006/relationships/notesSlide" Target="/ppt/notesSlides/notesSlide9.xml" Id="R8e2795d8c7ec4e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f9b023627d4afb" /><Relationship Type="http://schemas.openxmlformats.org/officeDocument/2006/relationships/notesSlide" Target="/ppt/notesSlides/notesSlide10.xml" Id="R7a26e088a04640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b3dc25696e4e05" /><Relationship Type="http://schemas.openxmlformats.org/officeDocument/2006/relationships/notesSlide" Target="/ppt/notesSlides/notesSlide11.xml" Id="R1bfb0d07852d44d6" /></Relationships>
</file>

<file path=ppt/slides/charts/chart1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Relative buying-lift signal</c:v>
          </c:tx>
          <c:spPr>
            <a:solidFill xmlns:a="http://schemas.openxmlformats.org/drawingml/2006/main">
              <a:srgbClr val="0E7C72"/>
            </a:solidFill>
            <a:ln xmlns:a="http://schemas.openxmlformats.org/drawingml/2006/main" w="14288">
              <a:solidFill>
                <a:srgbClr val="0E7C72"/>
              </a:solidFill>
              <a:prstDash val="solid"/>
            </a:ln>
          </c:spPr>
          <c:cat>
            <c:strLit>
              <c:ptCount val="6"/>
              <c:pt idx="0">
                <c:v>Cake</c:v>
              </c:pt>
              <c:pt idx="1">
                <c:v>Seafood</c:v>
              </c:pt>
              <c:pt idx="2">
                <c:v>Meat</c:v>
              </c:pt>
              <c:pt idx="3">
                <c:v>Dairy</c:v>
              </c:pt>
              <c:pt idx="4">
                <c:v>Ready meal</c:v>
              </c:pt>
              <c:pt idx="5">
                <c:v>Beverage</c:v>
              </c:pt>
            </c:strLit>
          </c:cat>
          <c:val>
            <c:numLit>
              <c:formatCode/>
              <c:ptCount val="6"/>
              <c:pt idx="0">
                <c:v>4.8</c:v>
              </c:pt>
              <c:pt idx="1">
                <c:v>4.7</c:v>
              </c:pt>
              <c:pt idx="2">
                <c:v>4.6</c:v>
              </c:pt>
              <c:pt idx="3">
                <c:v>4.4</c:v>
              </c:pt>
              <c:pt idx="4">
                <c:v>4.2</c:v>
              </c:pt>
              <c:pt idx="5">
                <c:v>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Model metric</c:v>
          </c:tx>
          <c:spPr>
            <a:solidFill xmlns:a="http://schemas.openxmlformats.org/drawingml/2006/main">
              <a:srgbClr val="3564A7"/>
            </a:solidFill>
          </c:spPr>
          <c:cat>
            <c:strLit>
              <c:ptCount val="3"/>
              <c:pt idx="0">
                <c:v>Risk RMSE</c:v>
              </c:pt>
              <c:pt idx="1">
                <c:v>Risk MAE</c:v>
              </c:pt>
              <c:pt idx="2">
                <c:v>Forecast MAPE</c:v>
              </c:pt>
            </c:strLit>
          </c:cat>
          <c:val>
            <c:numLit>
              <c:formatCode/>
              <c:ptCount val="3"/>
              <c:pt idx="0">
                <c:v>5.83</c:v>
              </c:pt>
              <c:pt idx="1">
                <c:v>4.65</c:v>
              </c:pt>
              <c:pt idx="2">
                <c:v>4.81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Indexed merchant value</c:v>
          </c:tx>
          <c:spPr>
            <a:solidFill xmlns:a="http://schemas.openxmlformats.org/drawingml/2006/main">
              <a:srgbClr val="0E7C72"/>
            </a:solidFill>
          </c:spPr>
          <c:cat>
            <c:strLit>
              <c:ptCount val="4"/>
              <c:pt idx="0">
                <c:v>Baseline</c:v>
              </c:pt>
              <c:pt idx="1">
                <c:v>+ conversion</c:v>
              </c:pt>
              <c:pt idx="2">
                <c:v>+ premium trust</c:v>
              </c:pt>
              <c:pt idx="3">
                <c:v>- complaints</c:v>
              </c:pt>
            </c:strLit>
          </c:cat>
          <c:val>
            <c:numLit>
              <c:formatCode/>
              <c:ptCount val="4"/>
              <c:pt idx="0">
                <c:v>100</c:v>
              </c:pt>
              <c:pt idx="1">
                <c:v>108</c:v>
              </c:pt>
              <c:pt idx="2">
                <c:v>114</c:v>
              </c:pt>
              <c:pt idx="3">
                <c:v>116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6EE04-F481-44AF-9570-C1387698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C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28108-8CF0-404D-B346-77BE12D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178BB-54BC-411A-95AD-17B0E5E7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Oasis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Finder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884BC-39DC-4B90-9DF1-D69C3433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3143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DEB"/>
                </a:solidFill>
              </a:defRPr>
            </a:pPr>
            <a:r>
              <a:rPr sz="1800" b="0">
                <a:solidFill>
                  <a:srgbClr val="DDEDEB"/>
                </a:solidFill>
              </a:rPr>
              <a:t>Supply-chain transparency as a merchant conversion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F1E6B-85A4-44E2-A24E-44F1E668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Open-source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7615C-8508-4F29-BB84-ABBA952C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Group 9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Rui Huang + Zixiu Wang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B20A8-5136-405D-9D49-135AF62A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876300"/>
            <a:ext cx="619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2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Does supply-chain visibility make users more likely to buy?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21C3B-A8CA-467A-AE6D-9B6D4F40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619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Our product is not a single app feature. It is a way for merchants to show credible product evidence at the buying moment.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C41D3-2627-4824-9D60-F3F393E9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19450"/>
            <a:ext cx="60198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3973-E6CF-4E82-8BFB-6833964B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56769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Thesis: more credible supply-chain evidence reduces perceived risk and increases purchase confidence, especially for perishable or high-trust foods.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BAA6C-3AD4-44B8-B624-1C934088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4A7"/>
                </a:solidFill>
              </a:defRPr>
            </a:pPr>
            <a:r>
              <a:rPr sz="1575" b="1">
                <a:solidFill>
                  <a:srgbClr val="3564A7"/>
                </a:solidFill>
              </a:rPr>
              <a:t>https://github.com/3351666087/Oasis-Finder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43B40-0878-43D0-9BB4-C934323A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67350"/>
            <a:ext cx="609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5414A"/>
                </a:solidFill>
              </a:defRPr>
            </a:pPr>
            <a:r>
              <a:rPr sz="1500" b="0">
                <a:solidFill>
                  <a:srgbClr val="35414A"/>
                </a:solidFill>
              </a:rPr>
              <a:t>8-minute flow: problem -&gt; questionnaire signal -&gt; product proof -&gt; merchant value -&gt; build 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8CF87D-5BCE-4FF7-912B-35C825FD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7423755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EDC22E-6147-4861-A274-7F88017E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REBUILT RESEARCH FOCUS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29B5B-3A79-448F-9548-6FE85C03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02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77386-E381-4C98-8464-23211051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3DC5E-ABA1-4A7D-9918-00322CBC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552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6624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1820"/>
                </a:solidFill>
              </a:defRPr>
            </a:pPr>
            <a:r>
              <a:rPr sz="2925" b="1">
                <a:solidFill>
                  <a:srgbClr val="121820"/>
                </a:solidFill>
              </a:rPr>
              <a:t>Questionnaire: transparency changes buying probability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FB124-CE1D-4BCA-8725-E5F11900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research focus is direct: can visible supply-chain evidence increase buying confidence at the product page?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D698E-7866-4AC1-9CE9-804078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5334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D95F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504B0-9633-4046-82F4-F1EC2878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0350"/>
            <a:ext cx="4991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Question asked: If a merchant shows supplier nodes, time, place, quality checks, temperature, and batch movement, are you more likely to buy?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334125" y="1200150"/>
          <a:ext xmlns:a="http://schemas.openxmlformats.org/drawingml/2006/main" cx="509587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76efa55f3f46b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5D507E-9F95-48E7-8958-759E03A9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E02EF-8F21-442B-A561-E756AC2B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Cake / bakery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251DB-9FD8-4127-8C88-1B6985E8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624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freshness + ingredients + allergy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CCD4A8-588B-495E-AD8A-99065ECF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F7D0B-7785-4B22-81D7-3A4D0D4A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Seafood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A4FC6-D62C-4745-B014-0CCAB8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196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cold-chain and origin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D2DDAB-D505-4B9C-AF3F-06ECA80F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97CAC-FD93-4F68-B37B-D87CFBE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768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Meat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F5E958-D1B9-4613-935F-3E6FB044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768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safety expiry inspection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3799C-450F-49A1-B9E5-F3E567C2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0E6D23-1629-4646-B48B-C6BCA804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340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Dairy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958EAE-7122-4B16-B0B1-B6B23174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5340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safety expiry inspection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20062-81A3-4B2E-B7EA-0355761F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768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C"/>
                </a:solidFill>
              </a:defRPr>
            </a:pPr>
            <a:r>
              <a:rPr sz="1125" b="0">
                <a:solidFill>
                  <a:srgbClr val="66727C"/>
                </a:solidFill>
              </a:rPr>
              <a:t>CSV-backed directional 1-5 response coding; replace with exact raw counts when the final questionnaire file is available.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8240E-C549-4FC6-90F9-B5D6255F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06E73-3BA8-4EA3-A226-3C4F222B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Ge (2022); Tran et al. (2024); Group 9 questionnaire direction</a:t>
            </a:r>
          </a:p>
        </p:txBody>
      </p:sp>
    </p:spTree>
    <p:extLst>
      <p:ext uri="{BB962C8B-B14F-4D97-AF65-F5344CB8AC3E}">
        <p14:creationId xmlns:p14="http://schemas.microsoft.com/office/powerpoint/2010/main" val="6891190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360C7-FA8D-4EF2-858F-9D3AF91A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WHY IT PAYS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3F07D-00CE-4BB4-B99C-7662415D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03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E6CB1-8C6D-4532-A37C-9EC8F262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82E3B-A25E-4DD7-9BED-2C2FD114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48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The commercial mechanism is risk reduction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BE3C12-C051-4BD2-B233-46517654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Transparency works as advertising because it turns an invisible quality claim into a visible decision cue.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A09DD-BED8-456B-A71A-F4A49A45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6E375-3C6F-4406-B846-7731FEC4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2B542-5375-4AE1-B1FE-E9C009AC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B3A86-D92C-4409-86B2-A8CC6F0A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Evidence shown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AFD86-ED3F-44F7-8ECB-6BBD5BD6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 map, batch, timestamp, location, temperature, certificate.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32EE5-04BD-4DD1-86EF-7C4D4A6A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44C4A-376C-4188-A464-8F2DE88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245C7-6C24-48A9-AB2F-54E31922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045270-DE4B-48A9-8684-92F2AF61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Risk drops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F8F0C-4EE5-49F2-AAED-A49290EA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Consumers feel less uncertainty about freshness and safety.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A749CB-3508-4C18-8276-E5F618BF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5B298-D997-483D-A61B-D2100B95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7D09B-728A-4CEA-A91B-48F0E9BD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72A4A-86E3-4827-990B-D6D19E70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Value rises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F2849-D4D6-492C-90B7-126A0C41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The product becomes easier to trust and easier to justify.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EFE08-4574-496A-9201-8A9DA765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0E968C-0773-47C0-8044-E8E3E3E3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B27718-5565-4FA9-AA80-A662D9E7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D711C0-2FE5-4870-92D4-9EEE6CDD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Revenue improves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7E187A-4086-4016-815D-C946F163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Higher conversion, premium tolerance, and repeat intention.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7BC19-B76B-4AD2-AAA4-58799DAA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91100"/>
            <a:ext cx="94869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F2B164-0213-41FC-998A-4A02DB47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82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Advertising claim moves from “trust us” to “inspect the evidence”. That is why the same product page can become more persuasive.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B313D8-8C01-44BE-A3E3-751EB6A7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D14ACB-2B1D-4D6A-8772-22231AE2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Ge (2022); Wang et al. (2021)</a:t>
            </a:r>
          </a:p>
        </p:txBody>
      </p:sp>
    </p:spTree>
    <p:extLst>
      <p:ext uri="{BB962C8B-B14F-4D97-AF65-F5344CB8AC3E}">
        <p14:creationId xmlns:p14="http://schemas.microsoft.com/office/powerpoint/2010/main" val="10781473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8C07B-FB59-4294-B305-ED2ED32F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PRODUCT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B8E67-E1DB-40CC-9F1B-21BDDACA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04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4CD83-AFD0-4450-BBEE-C6C4760B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F70AD-944A-4598-8C07-59D270E5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What a merchant should show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4D879-4921-4419-A2B9-6787951B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Oasis Finder is a display method plus data schema. We open-source the code, but merchants remain responsible for the truth of their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DCB02-8C35-4EA7-B185-E94FBA9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5002F-C2F2-4607-911E-275DF184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Product identity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D8C48-57FD-4D29-8B65-6C5E80A5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SKU / GTIN, QR code, batch or lot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7DE43-B3C1-4773-A23E-5E05BF71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00337-66B7-4A37-9403-7F86EA49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Place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FC346-0CD6-45A2-A103-D0A5B099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supplier, plant, warehouse, location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876FD8-C4FD-4B80-B87B-5279AB70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EE0196-B419-46D3-AE88-9146E3FA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800D03-420F-4491-9F9B-0C0FAA0D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53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harvest, production, receiving, shipping, arrival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9C909A-EED0-41DA-9F71-B96484E5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9F77E-117F-4F5F-838E-7B22785D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Condition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7BD2A-C8B2-4BA9-82A6-D82583E5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temperature, breach minutes, freshness, shelf life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5F3B58-834C-4D7C-A4B9-29758DAC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802E5B-AAE4-4154-801C-33465C12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Quality 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4F578-5EF8-428A-ABA8-14F5C356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92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inspection result, package score, residue/pathogen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77765A-7D9F-4B9D-AA9D-FACC6412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E4E459-70E5-423F-BAC7-481A1F34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Evidence owner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24D006-8BF0-401C-BAD6-5DB7BDD0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5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supplier, auditor, carrier, certificate URI or hash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CDA32-C1A0-4835-A30F-5F6CC531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10039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D95F4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70E3C4-06A7-4D41-BAAE-454AE69A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82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Data disclaimer: Oasis Finder provides interface, schema, and API slots. We do not guarantee merchant data authenticity; audits, IoT logs, and supplier records should validate claims.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C92082-1155-481D-8D5A-E0DB5F9B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5131B6-9B0A-4C87-93A3-1374D8D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FDA FSMA 204; GS1 Traceability Standard</a:t>
            </a:r>
          </a:p>
        </p:txBody>
      </p:sp>
    </p:spTree>
    <p:extLst>
      <p:ext uri="{BB962C8B-B14F-4D97-AF65-F5344CB8AC3E}">
        <p14:creationId xmlns:p14="http://schemas.microsoft.com/office/powerpoint/2010/main" val="5511484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19880-9777-40D5-A658-26158E51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BUILD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219E7-E90F-429D-8E41-3BCAB7A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05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1CF9B-22FB-4242-BBCD-B6A4AF6B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4FCF7-21DC-41AA-B742-48FD47F5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How we built the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9BAF2-B1AB-4A43-8C29-1C1691D5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story is simple: research corrected the feature idea, then engineering turned the method into a working evidence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F8B0C-47F4-4D53-A629-092332CD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62350"/>
            <a:ext cx="9753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E74EE-29A6-4C42-B765-A938CDC9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67F1B-C984-4D29-AFAC-F74888E9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Week 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13D60-92CF-40AD-9DDE-165DADB5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Open coding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74399-5D6D-4CA9-85B8-E9BCC13B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QR traceability and analytics beat superficial visibility.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E679E6-DAB4-46A5-9712-E1725AD7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061D8-4DA8-41B2-A38D-7583864C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INF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786D9-ECEB-4E99-88F6-FB489C9C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Data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A1920-5781-4A96-AFD4-A2532F13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17 tables connect facilities, lots, batches, shipments, risk, demand.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4565D8-DEB1-4403-98C5-5A17F9AD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9B01E-84CC-43D0-9ADB-BB1845D6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Prototype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75A5F-747A-4BD3-86CA-15EBB6D4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Control tower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BCF171-72DE-4E95-9528-B183BCC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PySide6 interface shows dashboard, mesh, traceability, forecast, scenario.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E931B-4D64-478F-933F-1E1D0F13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8C573F-303B-406F-AEF7-E5AC2D97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Now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A5989D-8311-49DE-98A2-3922BB4E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Node click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E0FE6-16B7-4C24-B58A-4AAF628A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Every supply node exposes stage variables and preset values.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7C8EA4-DB88-4998-BDC5-1B6A583B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FC924-D235-41B9-B681-22C71227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62600"/>
            <a:ext cx="8039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62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This turns the presentation from a concept pitch into a build narrative: question -&gt; evidence -&gt; system -&gt; proof.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CB0A10-1691-4986-AB09-095EC0A6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745C10-CC7F-435B-941B-D5A0CC7D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Week 6 artefacts; INF report; repository runtime</a:t>
            </a:r>
          </a:p>
        </p:txBody>
      </p:sp>
    </p:spTree>
    <p:extLst>
      <p:ext uri="{BB962C8B-B14F-4D97-AF65-F5344CB8AC3E}">
        <p14:creationId xmlns:p14="http://schemas.microsoft.com/office/powerpoint/2010/main" val="13135445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1E1C3-360E-4A42-A8DE-86A743EC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PRODUCT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CD07E-40EE-47B5-BF7E-F01295EC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06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9C02-7E12-440B-BD2E-B2F5668B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54231-14EF-4642-B6CC-804DF820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04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1820"/>
                </a:solidFill>
              </a:defRPr>
            </a:pPr>
            <a:r>
              <a:rPr sz="3000" b="1">
                <a:solidFill>
                  <a:srgbClr val="121820"/>
                </a:solidFill>
              </a:rPr>
              <a:t>Click a node, inspect the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61E3D-6DE2-4EEF-8CB5-67A05C40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685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64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revised product proof: a user sees concrete stage data, not just a decorative supply-chain map.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fa3fe785d4302"/>
          <a:srcRect xmlns:a="http://schemas.openxmlformats.org/drawingml/2006/main" l="0" t="6250" r="0" b="62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2305050"/>
            <a:ext cx="685800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EDDFB-F89A-44BD-A033-B956D414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86000"/>
            <a:ext cx="3714750" cy="373380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B75F3-FF4D-4984-82E7-4E012090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Example node: FAC-L1-003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F8F56-C046-4856-BE64-33CEA3AB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289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989F6-A067-4B21-B2E3-96394183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194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380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China - Fujian - Fuzhou - Minhou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E473D-AA9A-4E54-9A8A-3067EDE4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861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0DCB4-A633-4F16-B4E6-10592369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30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2026-04-11 09:00 quality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5281D1-24EC-4757-BF2C-78587CF7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433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A9EED-2AA5-47D0-88DF-A4308272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338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40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Ingredient lot -&gt; cold-chain shipment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D841B-D97D-4D32-87C2-D9498A6D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005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Quality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D06AF-1561-4A1C-BC72-78C6ECB4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910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Package 95.8 | trace 96.0%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503D0-AFF9-4391-A707-AF0B6D2B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8577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Temperature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5357B3-F3B9-4AC0-AB2C-2B622CD7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8482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0.1C to 4.1C | breach 0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93E625-B7A5-4BEC-97D5-D178AC75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7C72"/>
                </a:solidFill>
              </a:defRPr>
            </a:pPr>
            <a:r>
              <a:rPr sz="1275" b="1">
                <a:solidFill>
                  <a:srgbClr val="0E7C72"/>
                </a:solidFill>
              </a:rPr>
              <a:t>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C7302-DC6C-4E2C-A7FF-7B2E1755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305425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5414A"/>
                </a:solidFill>
              </a:defRPr>
            </a:pPr>
            <a:r>
              <a:rPr sz="1275" b="0">
                <a:solidFill>
                  <a:srgbClr val="35414A"/>
                </a:solidFill>
              </a:rPr>
              <a:t>critical | score 81.6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DBF2F1-290E-49C5-A4C5-7F4C0099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0FF4C3-68EF-451F-A232-73C82C4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Local runtime screenshot; repository code</a:t>
            </a:r>
          </a:p>
        </p:txBody>
      </p:sp>
    </p:spTree>
    <p:extLst>
      <p:ext uri="{BB962C8B-B14F-4D97-AF65-F5344CB8AC3E}">
        <p14:creationId xmlns:p14="http://schemas.microsoft.com/office/powerpoint/2010/main" val="1740009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4DE3A-3B9C-4ACE-BAAC-7C9080B4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OPEN SOURCE +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268E1-2D4E-4833-BC43-832553B7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07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E5178-35DD-4C54-A634-20F3D593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A039C-ABA1-4918-8CCC-859A143A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9166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21820"/>
                </a:solidFill>
              </a:defRPr>
            </a:pPr>
            <a:r>
              <a:rPr sz="2850" b="1">
                <a:solidFill>
                  <a:srgbClr val="121820"/>
                </a:solidFill>
              </a:rPr>
              <a:t>GitHub proves code openness, not merchant truth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655C3-0559-4EC1-9E47-AFDBF89B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36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Reviewers can inspect our method. Merchant data still needs supplier, IoT, and audit validation.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72e2176404bc9"/>
          <a:srcRect xmlns:a="http://schemas.openxmlformats.org/drawingml/2006/main" l="0" t="16583" r="0" b="165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438400"/>
            <a:ext cx="4953000" cy="2724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54378-057A-4553-B032-A1A00BEB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4EF6A-8A2B-4C1F-A124-0C2FC67D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1FB51-989B-4601-8C59-0D69C19D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527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OPEN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3442B-1073-4540-B19C-EB63FCDF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194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E7C72"/>
                </a:solidFill>
              </a:defRPr>
            </a:pPr>
            <a:r>
              <a:rPr sz="2325" b="1">
                <a:solidFill>
                  <a:srgbClr val="0E7C72"/>
                </a:solidFill>
              </a:rPr>
              <a:t>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B80EF-9BFB-4A0D-9E07-33CB1821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956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reproducible setup and evidence assets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DFEE7-E72F-456C-8A49-7027A1C4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AC0CB0-F1A3-4D53-A17F-F351D8E4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02D9C7-55EB-4763-9D9C-7661BA7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527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HEALTH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358C9-DDEA-4AD6-AB6A-B501BCF1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194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564A7"/>
                </a:solidFill>
              </a:defRPr>
            </a:pPr>
            <a:r>
              <a:rPr sz="2325" b="1">
                <a:solidFill>
                  <a:srgbClr val="3564A7"/>
                </a:solidFill>
              </a:rPr>
              <a:t>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6992B8-318A-4ECB-8843-2A422E49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database, traces, forecasts, scenario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8841A9-A020-4EBC-8A5A-538B0048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48890-E6A9-4E3E-819F-5C98ADF6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C2547-44CD-4D3F-B7EC-13D20683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8145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DATA TRUTH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6B6469-B34A-4837-B1B3-34EEF185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95F45"/>
                </a:solidFill>
              </a:defRPr>
            </a:pPr>
            <a:r>
              <a:rPr sz="2325" b="1">
                <a:solidFill>
                  <a:srgbClr val="D95F45"/>
                </a:solidFill>
              </a:rPr>
              <a:t>merchant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78AE79-94FD-4EC6-AB43-4F9F3D48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2440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supplier records, QR events, IoT logs, audits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5F3EF-8580-4FF8-B0E6-DDC9CFC5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65AA4D-47B2-49A6-97F3-2F692022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634BDC-1AFF-4F3E-A2E5-357328E6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8145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AI LAYER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35876-BA10-4D07-BA2B-4BC7C208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481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89B35"/>
                </a:solidFill>
              </a:defRPr>
            </a:pPr>
            <a:r>
              <a:rPr sz="2325" b="1">
                <a:solidFill>
                  <a:srgbClr val="C89B35"/>
                </a:solidFill>
              </a:rPr>
              <a:t>optional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8A1715-93BC-4ED1-81B1-3D950829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2440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summarize evidence; never certify it alone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03FAC7-92A8-4758-BE55-D31D9E63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34000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4A7"/>
                </a:solidFill>
              </a:defRPr>
            </a:pPr>
            <a:r>
              <a:rPr sz="1650" b="1">
                <a:solidFill>
                  <a:srgbClr val="3564A7"/>
                </a:solidFill>
              </a:rPr>
              <a:t>https://github.com/3351666087/Oasis-Finder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E38D6B-4A9E-411E-B767-D80568E7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337291-B513-4ED3-9EEB-21DE3DA0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GitHub repository; FDA/GS1 data-field logic</a:t>
            </a:r>
          </a:p>
        </p:txBody>
      </p:sp>
    </p:spTree>
    <p:extLst>
      <p:ext uri="{BB962C8B-B14F-4D97-AF65-F5344CB8AC3E}">
        <p14:creationId xmlns:p14="http://schemas.microsoft.com/office/powerpoint/2010/main" val="19436727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60762-A496-4E39-973C-0FDA7382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TECHNICAL CAPABILITY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39A20-3FCB-495A-81C9-8B438FBF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08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31908-D6F6-4733-B4BC-D080F4D6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CA471-E1E8-457F-8CF7-19D2FB05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357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A working digital twin supports the ad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2438D-7192-43B3-960A-BAA98E42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consumer-facing transparency layer is backed by an operational model, not a static poster.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C0274-7FDD-44EA-80CB-10828E3E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21BB5-856A-488A-9A70-3A4D743E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D1FCD-73A6-4E79-B0A5-C026A16E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FACILITIES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596E1-2D78-4477-8945-47A5D37C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E7C72"/>
                </a:solidFill>
              </a:defRPr>
            </a:pPr>
            <a:r>
              <a:rPr sz="2325" b="1">
                <a:solidFill>
                  <a:srgbClr val="0E7C72"/>
                </a:solidFill>
              </a:rPr>
              <a:t>97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A3210-D8C7-4E7F-B9C8-0ECD6346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nodes across supplier, plant, downstream, and service tiers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6D823-F3E3-4350-96F3-F6769964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A27BB-7829-41EA-9F98-7DD211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9B1D-4C0D-4210-BDEC-5088AC1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ACTIVE LINKS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A605ED-D228-4657-99F4-B1831E02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564A7"/>
                </a:solidFill>
              </a:defRPr>
            </a:pPr>
            <a:r>
              <a:rPr sz="2325" b="1">
                <a:solidFill>
                  <a:srgbClr val="3564A7"/>
                </a:solidFill>
              </a:rPr>
              <a:t>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D3F817-FC78-45C3-9360-58DC576B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material and distribution relationships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6E8A2-DD98-4A69-87BA-9491A54F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BD1AB8-AA5F-41A1-B6C9-3ED177CC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7E3D7-0C94-4C20-BF29-A5FE749A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BATCHES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0DA008-2C20-43FE-8280-66AA4920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89B35"/>
                </a:solidFill>
              </a:defRPr>
            </a:pPr>
            <a:r>
              <a:rPr sz="2325" b="1">
                <a:solidFill>
                  <a:srgbClr val="C89B35"/>
                </a:solidFill>
              </a:rPr>
              <a:t>418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761F0-CE04-4ECC-998D-F55FB6B3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finished-goods batches with trace paths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B7FCB4-8EEC-4E24-BC65-01753A97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AA343-2829-4800-9023-084F0422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D1EC68-2E6D-46BF-9C51-9ADCE24C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FORECAST DAYS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AC3A75-5FB4-44FA-B476-1883EE9B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95F45"/>
                </a:solidFill>
              </a:defRPr>
            </a:pPr>
            <a:r>
              <a:rPr sz="2325" b="1">
                <a:solidFill>
                  <a:srgbClr val="D95F45"/>
                </a:solidFill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0CBA52-BC9F-497C-ABC9-A99A5B21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planning horizon for demand and inventory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57250" y="4210050"/>
          <a:ext xmlns:a="http://schemas.openxmlformats.org/drawingml/2006/main" cx="4476750" cy="1619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f67121e44744eb"/>
          </a:graphicData>
        </a:graphic>
      </p:graphicFrame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79fa2e86e4151"/>
          <a:srcRect xmlns:a="http://schemas.openxmlformats.org/drawingml/2006/main" l="0" t="22544" r="0" b="22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4095750"/>
            <a:ext cx="4953000" cy="169545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5F6B53-3C4B-4A9A-8E0B-0DB9104B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4D8F87-3E0E-42E7-8CC6-B378667D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CSV: technical_model_metrics.csv; local health check</a:t>
            </a:r>
          </a:p>
        </p:txBody>
      </p:sp>
    </p:spTree>
    <p:extLst>
      <p:ext uri="{BB962C8B-B14F-4D97-AF65-F5344CB8AC3E}">
        <p14:creationId xmlns:p14="http://schemas.microsoft.com/office/powerpoint/2010/main" val="20947770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F653C-A01C-47FD-9411-A4F4B11A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4F311-C052-4ABD-9BE6-849288F3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09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94CCE-E12A-492B-8B05-4A272E12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8C51F-288C-48CC-A593-B60F43A5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204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Why merchants can earn more with this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504F0-3FCD-47E5-AC5F-4525A9FD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Oasis Finder is useful to merchants because it makes premium quality easier to believe before purchase.</a:t>
            </a:r>
          </a:p>
        </p:txBody>
      </p:sp>
      <p:graphicFrame>
        <p:nvGraphicFramePr>
          <p:cNvPr id="7" name="Chart"/>
          <p:cNvGraphicFramePr/>
          <p:nvPr/>
        </p:nvGraphicFramePr>
        <p:xfrm>
          <a:off xmlns:a="http://schemas.openxmlformats.org/drawingml/2006/main" x="666750" y="215265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a64b42f3d84a2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E533B-E268-47EB-9DE4-2617155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29033-D67D-4C5A-94D4-7FDF505A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2"/>
                </a:solidFill>
              </a:defRPr>
            </a:pPr>
            <a:r>
              <a:rPr sz="1800" b="1">
                <a:solidFill>
                  <a:srgbClr val="0E7C72"/>
                </a:solidFill>
              </a:rPr>
              <a:t>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A2006-2A10-4392-8753-2BA191B2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lower uncertainty at the exact buying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848DD-03D6-4CC5-AD79-633DA07F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D5DA0-0909-4CA9-B3A3-FB009D4D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99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9B35"/>
                </a:solidFill>
              </a:defRPr>
            </a:pPr>
            <a:r>
              <a:rPr sz="1800" b="1">
                <a:solidFill>
                  <a:srgbClr val="C89B35"/>
                </a:solidFill>
              </a:rPr>
              <a:t>Premium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FB3E0-3813-46E8-9128-EBA0E43B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traceability is linked with WTP and perceived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F264F-2DD5-4F7D-8AD7-47BDE32C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663DB-52D5-468F-B03E-46F58B2A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38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F45"/>
                </a:solidFill>
              </a:defRPr>
            </a:pPr>
            <a:r>
              <a:rPr sz="1800" b="1">
                <a:solidFill>
                  <a:srgbClr val="D95F45"/>
                </a:solidFill>
              </a:rPr>
              <a:t>Retention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FF1B0-A82F-4330-BEA6-C9B118DE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005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clearer evidence supports repeat intention and fewer disputes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D7AEF-86F6-4AEB-A132-B3B46177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429250"/>
            <a:ext cx="7715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356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5F435-E007-4155-AEA3-EB5E5F9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581650"/>
            <a:ext cx="7372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Use as ad copy: "scan the product journey, not just the package."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99C36-587B-442C-BA96-F4BF85A1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199A5F-4DDE-479E-A2EC-D9C3DB65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CSV: merchant_value_index.csv; Tran et al. (2024)</a:t>
            </a:r>
          </a:p>
        </p:txBody>
      </p:sp>
    </p:spTree>
    <p:extLst>
      <p:ext uri="{BB962C8B-B14F-4D97-AF65-F5344CB8AC3E}">
        <p14:creationId xmlns:p14="http://schemas.microsoft.com/office/powerpoint/2010/main" val="5373423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9EACF-D78E-40AC-A154-44D26C36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PILOT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A11F2-D684-4553-850D-B28CC886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10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CD2D1-6B67-4EBA-A874-AE51D41B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48151-047B-47BD-8AF7-04A6FF77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Next proof: merchant A/B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4ACFC-2185-432A-8A65-77741C7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After the questionnaire signal, the next step is a real product-page experiment that links transparency to purchase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528E4-3470-4D04-B13F-8DD08524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1681A-42E3-4345-A5DD-43C2D3A4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2"/>
                </a:solidFill>
              </a:defRPr>
            </a:pPr>
            <a:r>
              <a:rPr sz="1800" b="1">
                <a:solidFill>
                  <a:srgbClr val="0E7C72"/>
                </a:solidFill>
              </a:rPr>
              <a:t>Test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4A149-8F73-4E73-8355-034770A0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Same product, same price, two product pages: baseline page versus Oasis Finder evidence page.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03D10-2324-49E4-8141-F9A126AD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3A470-28D5-49DF-81E2-86F2DBA3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64A7"/>
                </a:solidFill>
              </a:defRPr>
            </a:pPr>
            <a:r>
              <a:rPr sz="1800" b="1">
                <a:solidFill>
                  <a:srgbClr val="3564A7"/>
                </a:solidFill>
              </a:rPr>
              <a:t>Product cells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817AD3-3926-41F4-86AF-17CEFFE0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Cake, seafood, meat, dairy, and ready-to-eat meals because freshness and safety concerns are high.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6F05C-968B-4112-9E63-04213027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9EE881-5C1E-4F6D-AB49-23A72B70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9B35"/>
                </a:solidFill>
              </a:defRPr>
            </a:pPr>
            <a:r>
              <a:rPr sz="1800" b="1">
                <a:solidFill>
                  <a:srgbClr val="C89B35"/>
                </a:solidFill>
              </a:rPr>
              <a:t>Outcome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226EB-7868-4DEB-8FF1-6456BE6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QR scan rate, evidence-panel clicks, add-to-cart, purchase conversion, willingness-to-pay, repeat intent.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9D0FA-CCED-4F04-BD67-A9B8AECB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24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7107E-4554-40E2-AA1D-7D91A5A3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F45"/>
                </a:solidFill>
              </a:defRPr>
            </a:pPr>
            <a:r>
              <a:rPr sz="1800" b="1">
                <a:solidFill>
                  <a:srgbClr val="D95F45"/>
                </a:solidFill>
              </a:rPr>
              <a:t>Decision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C02913-F165-4B9E-B9D7-C128F6B5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8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Adopt the method when purchase lift and trust lift both improve without increasing confusion.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8902E5-BC56-441B-BC9B-3AAF4414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676900"/>
            <a:ext cx="96012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F25D3-E354-4F72-8C6C-39103217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29300"/>
            <a:ext cx="9258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464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Commercial validation target: prove that inspectable supply-chain evidence changes real purchase behavior, not only stated preference.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5223D0-7C42-4D24-9484-AEC75D0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4A1242-D28E-427E-AA70-A30042AD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Pilot metrics prepared for CSV event export</a:t>
            </a:r>
          </a:p>
        </p:txBody>
      </p:sp>
    </p:spTree>
    <p:extLst>
      <p:ext uri="{BB962C8B-B14F-4D97-AF65-F5344CB8AC3E}">
        <p14:creationId xmlns:p14="http://schemas.microsoft.com/office/powerpoint/2010/main" val="16213228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516ABB-FCF1-4E7C-99A7-1619D174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DEF50-2490-4B3B-85C1-32BB6214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APA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3F912-5746-425A-9141-DDAC7C48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11 /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F0EBA-AC9C-431D-82A5-85BBE6E0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BEDE4-651E-4E87-925D-0371EA46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1820"/>
                </a:solidFill>
              </a:defRPr>
            </a:pPr>
            <a:r>
              <a:rPr sz="3000" b="1">
                <a:solidFill>
                  <a:srgbClr val="121820"/>
                </a:solidFill>
              </a:rPr>
              <a:t>References and closing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89CE2-E323-4C89-B922-D399A73E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474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5414A"/>
                </a:solidFill>
              </a:defRPr>
            </a:pPr>
            <a:r>
              <a:rPr sz="1575" b="0">
                <a:solidFill>
                  <a:srgbClr val="35414A"/>
                </a:solidFill>
              </a:rPr>
              <a:t>Oasis Finder is a transparent-commerce method: open code, clear fields, and inspectable product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8E77B-91DC-4D50-9B71-9DB15636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Ge, L. (2022). To buy or not to buy? A research on the relationship between traceable food extrinsic cues and consumers' purchase intention. Frontiers in Psychology, 13, 873941. https://doi.org/10.3389/fpsyg.2022.873941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09A03-E1B3-4C7E-98EB-8BC3A015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365F3-573E-435C-9C26-1D71861D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51D12-E608-4FFD-8C6D-744FA208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Badia-Melis, R., Mishra, P., &amp; Ruiz-García, L. (2015). Food traceability: New trends and recent advances. Food Control, 57, 393-401. https://doi.org/10.1016/j.foodcont.2015.05.005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FBCAB-585B-4D88-8FC8-B84F60D6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FB650-8356-4807-A0A0-7A0F74CD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U.S. Food and Drug Administration. (2024). Food Traceability Rule: Critical Tracking Events and Key Data Elements. https://www.fda.gov/food/food-safety-modernization-act-fsma/fsma-proposed-rule-food-traceability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36256-D907-464C-80BC-DD6A2C69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GS1. (n.d.). Traceability standards: Critical Tracking Events and Key Data Elements. https://www.gs1.org/standards/traceability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08711-4B90-4224-B561-BB0665F9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990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Final line: We do not ask users to trust a slogan. We let them inspect the chain behind the product.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5CFBA-08C0-4164-B0C0-23005B9C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</p:spTree>
    <p:extLst>
      <p:ext uri="{BB962C8B-B14F-4D97-AF65-F5344CB8AC3E}">
        <p14:creationId xmlns:p14="http://schemas.microsoft.com/office/powerpoint/2010/main" val="9269642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2026-04-27T15:31:48.1260000Z</dcterms:created>
  <dcterms:modified xsi:type="dcterms:W3CDTF">2026-04-27T15:31:48.1260000Z</dcterms:modified>
</coreProperties>
</file>