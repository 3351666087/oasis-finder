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db20f8f07443a6" /><Relationship Type="http://schemas.openxmlformats.org/officeDocument/2006/relationships/extended-properties" Target="/docProps/app.xml" Id="Re440f368a62f4c85" /><Relationship Type="http://schemas.openxmlformats.org/officeDocument/2006/relationships/officeDocument" Target="/ppt/presentation.xml" Id="Raa75bee31ecf43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88cadb42d441d0"/>
  </p:sldMasterIdLst>
  <p:notesMasterIdLst>
    <p:notesMasterId xmlns:r="http://schemas.openxmlformats.org/officeDocument/2006/relationships" r:id="Ra4f41aa0984a47ac"/>
  </p:notesMasterIdLst>
  <p:sldIdLst>
    <p:sldId xmlns:r="http://schemas.openxmlformats.org/officeDocument/2006/relationships" id="256" r:id="Rc53cfe18375b422b"/>
    <p:sldId xmlns:r="http://schemas.openxmlformats.org/officeDocument/2006/relationships" id="257" r:id="R389cac7c262a4b86"/>
    <p:sldId xmlns:r="http://schemas.openxmlformats.org/officeDocument/2006/relationships" id="258" r:id="R248eedf1461f4797"/>
    <p:sldId xmlns:r="http://schemas.openxmlformats.org/officeDocument/2006/relationships" id="259" r:id="Rc962ba697cd74f52"/>
    <p:sldId xmlns:r="http://schemas.openxmlformats.org/officeDocument/2006/relationships" id="260" r:id="R13280296689b47bf"/>
    <p:sldId xmlns:r="http://schemas.openxmlformats.org/officeDocument/2006/relationships" id="261" r:id="R58f3642820114f64"/>
    <p:sldId xmlns:r="http://schemas.openxmlformats.org/officeDocument/2006/relationships" id="262" r:id="Rb8a37e06f554465a"/>
    <p:sldId xmlns:r="http://schemas.openxmlformats.org/officeDocument/2006/relationships" id="263" r:id="R66a98344eb2f4d5f"/>
    <p:sldId xmlns:r="http://schemas.openxmlformats.org/officeDocument/2006/relationships" id="264" r:id="R702c31f0700442a0"/>
    <p:sldId xmlns:r="http://schemas.openxmlformats.org/officeDocument/2006/relationships" id="265" r:id="R0baad820c9a640f3"/>
    <p:sldId xmlns:r="http://schemas.openxmlformats.org/officeDocument/2006/relationships" id="266" r:id="Rfc166ecc275a40dd"/>
    <p:sldId xmlns:r="http://schemas.openxmlformats.org/officeDocument/2006/relationships" id="267" r:id="Ra0004feb2d804dc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88cadb42d441d0" /><Relationship Type="http://schemas.openxmlformats.org/officeDocument/2006/relationships/theme" Target="/ppt/theme/theme1.xml" Id="Rb8f42f1bb1ef4beb" /><Relationship Type="http://schemas.openxmlformats.org/officeDocument/2006/relationships/notesMaster" Target="/ppt/notesMasters/notesMaster1.xml" Id="Ra4f41aa0984a47ac" /><Relationship Type="http://schemas.openxmlformats.org/officeDocument/2006/relationships/presProps" Target="/ppt/presProps.xml" Id="R0232f50edd6148ca" /><Relationship Type="http://schemas.openxmlformats.org/officeDocument/2006/relationships/viewProps" Target="/ppt/viewProps.xml" Id="Rd480105b998d4235" /><Relationship Type="http://schemas.openxmlformats.org/officeDocument/2006/relationships/tableStyles" Target="/ppt/tableStyles.xml" Id="R5c9797787b6249b4" /><Relationship Type="http://schemas.openxmlformats.org/officeDocument/2006/relationships/slide" Target="/ppt/slides/slide1.xml" Id="Rc53cfe18375b422b" /><Relationship Type="http://schemas.openxmlformats.org/officeDocument/2006/relationships/slide" Target="/ppt/slides/slide2.xml" Id="R389cac7c262a4b86" /><Relationship Type="http://schemas.openxmlformats.org/officeDocument/2006/relationships/slide" Target="/ppt/slides/slide3.xml" Id="R248eedf1461f4797" /><Relationship Type="http://schemas.openxmlformats.org/officeDocument/2006/relationships/slide" Target="/ppt/slides/slide4.xml" Id="Rc962ba697cd74f52" /><Relationship Type="http://schemas.openxmlformats.org/officeDocument/2006/relationships/slide" Target="/ppt/slides/slide5.xml" Id="R13280296689b47bf" /><Relationship Type="http://schemas.openxmlformats.org/officeDocument/2006/relationships/slide" Target="/ppt/slides/slide6.xml" Id="R58f3642820114f64" /><Relationship Type="http://schemas.openxmlformats.org/officeDocument/2006/relationships/slide" Target="/ppt/slides/slide7.xml" Id="Rb8a37e06f554465a" /><Relationship Type="http://schemas.openxmlformats.org/officeDocument/2006/relationships/slide" Target="/ppt/slides/slide8.xml" Id="R66a98344eb2f4d5f" /><Relationship Type="http://schemas.openxmlformats.org/officeDocument/2006/relationships/slide" Target="/ppt/slides/slide9.xml" Id="R702c31f0700442a0" /><Relationship Type="http://schemas.openxmlformats.org/officeDocument/2006/relationships/slide" Target="/ppt/slides/slide10.xml" Id="R0baad820c9a640f3" /><Relationship Type="http://schemas.openxmlformats.org/officeDocument/2006/relationships/slide" Target="/ppt/slides/slide11.xml" Id="Rfc166ecc275a40dd" /><Relationship Type="http://schemas.openxmlformats.org/officeDocument/2006/relationships/slide" Target="/ppt/slides/slide12.xml" Id="Ra0004feb2d804d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9d002be50924f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3a9ea8f36374b44" /><Relationship Type="http://schemas.openxmlformats.org/officeDocument/2006/relationships/notesMaster" Target="/ppt/notesMasters/notesMaster1.xml" Id="R025bbdc0bf3a49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383fed35114ce6" /><Relationship Type="http://schemas.openxmlformats.org/officeDocument/2006/relationships/notesMaster" Target="/ppt/notesMasters/notesMaster1.xml" Id="R6a56515b94524d0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f1925d4cfc14a02" /><Relationship Type="http://schemas.openxmlformats.org/officeDocument/2006/relationships/notesMaster" Target="/ppt/notesMasters/notesMaster1.xml" Id="Rdcfa86516f6b4c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4e09fe87ae460f" /><Relationship Type="http://schemas.openxmlformats.org/officeDocument/2006/relationships/notesMaster" Target="/ppt/notesMasters/notesMaster1.xml" Id="R4ba1741c7bce4b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6a069e49414224" /><Relationship Type="http://schemas.openxmlformats.org/officeDocument/2006/relationships/notesMaster" Target="/ppt/notesMasters/notesMaster1.xml" Id="R99e79684a99845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3d617a6ce64bac" /><Relationship Type="http://schemas.openxmlformats.org/officeDocument/2006/relationships/notesMaster" Target="/ppt/notesMasters/notesMaster1.xml" Id="R3186f6b4f564412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d4dcdd1378647b9" /><Relationship Type="http://schemas.openxmlformats.org/officeDocument/2006/relationships/notesMaster" Target="/ppt/notesMasters/notesMaster1.xml" Id="R5df4c9b7720d47a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bbe8fe5ea54d21" /><Relationship Type="http://schemas.openxmlformats.org/officeDocument/2006/relationships/notesMaster" Target="/ppt/notesMasters/notesMaster1.xml" Id="R031e20901080496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366761fb7c4a03" /><Relationship Type="http://schemas.openxmlformats.org/officeDocument/2006/relationships/notesMaster" Target="/ppt/notesMasters/notesMaster1.xml" Id="Rce4f603093094ce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bfe8e99bce04a14" /><Relationship Type="http://schemas.openxmlformats.org/officeDocument/2006/relationships/notesMaster" Target="/ppt/notesMasters/notesMaster1.xml" Id="R9daf204e89834e9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ae335d2f6c48a8" /><Relationship Type="http://schemas.openxmlformats.org/officeDocument/2006/relationships/notesMaster" Target="/ppt/notesMasters/notesMaster1.xml" Id="R419f9b64b1c74df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2d38b90c8e04152" /><Relationship Type="http://schemas.openxmlformats.org/officeDocument/2006/relationships/notesMaster" Target="/ppt/notesMasters/notesMaster1.xml" Id="Rba9935681c8345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Opening. Reframe Oasis Finder as a commercial transparency method: merchants show supply-chain structure and evidence so users feel safer and are more likely to buy.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Ge, L. (2022). To buy or not to buy? A research on the relationship between traceable food extrinsic cues and consumers' purchase intention. Frontiers in Psychology, 13, 873941. https://doi.org/10.3389/fpsyg.2022.873941</a:t>
            </a:r>
          </a:p>
          <a:p xmlns:a="http://schemas.openxmlformats.org/drawingml/2006/main">
            <a:r>
              <a:t>- Tran, D., Schouteten, J. J., Gellynck, X., &amp; De Steur, H. (2024). How do consumers value food traceability? A meta-analysis. Food Control, 162, 110453. https://doi.org/10.1016/j.foodcont.2024.110453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Rui: explain the revised premise. We are testing purchase probability after a merchant shows supply-chain structure. Do not claim a precise sample statistic unless raw survey data is available.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Group 9 internal questionnaire direction (2026); raw response file is not stored in this repository, so charts are treated as directional evidence rather than population statistics.</a:t>
            </a:r>
          </a:p>
          <a:p xmlns:a="http://schemas.openxmlformats.org/drawingml/2006/main">
            <a:r>
              <a:t>- Ge, L. (2022). To buy or not to buy? A research on the relationship between traceable food extrinsic cues and consumers' purchase intention. Frontiers in Psychology, 13, 873941. https://doi.org/10.3389/fpsyg.2022.873941</a:t>
            </a:r>
          </a:p>
          <a:p xmlns:a="http://schemas.openxmlformats.org/drawingml/2006/main">
            <a:r>
              <a:t>- Tran, D., Schouteten, J. J., Gellynck, X., &amp; De Steur, H. (2024). How do consumers value food traceability? A meta-analysis. Food Control, 162, 110453. https://doi.org/10.1016/j.foodcont.2024.110453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Rui: explain why merchants would pay for this method. It is a marketing tool because traceable information quality and certification credibility affect perceived risk, perceived value, and purchase intention.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Ge, L. (2022). To buy or not to buy? A research on the relationship between traceable food extrinsic cues and consumers' purchase intention. Frontiers in Psychology, 13, 873941. https://doi.org/10.3389/fpsyg.2022.873941</a:t>
            </a:r>
          </a:p>
          <a:p xmlns:a="http://schemas.openxmlformats.org/drawingml/2006/main">
            <a:r>
              <a:t>- Wang, E. S.-T., Lin, H.-C., &amp; Tsai, M.-C. (2021). Effect of institutional trust on consumers' health and safety perceptions and repurchase intention for traceable fresh food. Foods, 10(12), 2898. https://doi.org/10.3390/foods10122898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Rui: connect this to teacher feedback. The product layer must show exactly what variables appear when the user clicks a node. Mention FDA CTE/KDE logic and GS1 traceability ideas.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U.S. Food and Drug Administration. (2024). Food Traceability Rule: Critical Tracking Events and Key Data Elements. https://www.fda.gov/food/food-safety-modernization-act-fsma/fsma-proposed-rule-food-traceability</a:t>
            </a:r>
          </a:p>
          <a:p xmlns:a="http://schemas.openxmlformats.org/drawingml/2006/main">
            <a:r>
              <a:t>- GS1. (n.d.). Traceability standards: Critical Tracking Events and Key Data Elements. https://www.gs1.org/standards/traceability</a:t>
            </a:r>
          </a:p>
          <a:p xmlns:a="http://schemas.openxmlformats.org/drawingml/2006/main">
            <a:r>
              <a:t>- https://github.com/3351666087/Oasis-Finder; local health check on 2026-04-27; artifacts/risk_metrics.json; artifacts/forecast_metrics.json.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Rui: tell the build story. We started with a broad transparency idea, used research to narrow it, built the data foundation, and then added the click-to-inspect product evidence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https://github.com/3351666087/Oasis-Finder; local health check on 2026-04-27; artifacts/risk_metrics.json; artifacts/forecast_metrics.json.</a:t>
            </a:r>
          </a:p>
          <a:p xmlns:a="http://schemas.openxmlformats.org/drawingml/2006/main">
            <a:r>
              <a:t>- Badia-Melis, R., Mishra, P., &amp; Ruiz-García, L. (2015). Food traceability: New trends and recent advances. Food Control, 57, 393-401. https://doi.org/10.1016/j.foodcont.2015.05.005</a:t>
            </a:r>
          </a:p>
          <a:p xmlns:a="http://schemas.openxmlformats.org/drawingml/2006/main">
            <a:r>
              <a:t>- World Economic Forum. (2019). Innovation with a purpose: Improving traceability in food value chains through technology innovations. https://www.weforum.org/publications/innovation-with-a-purpose-improving-traceability-in-food-value-chains-through-technology-innovations/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Zixiu: say the platform is now more friendly. The user first sees product name and category like a retail app, then clicks the product to see the route, evidence fields, and vendor image slots.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https://github.com/3351666087/Oasis-Finder; local health check on 2026-04-27; artifacts/risk_metrics.json; artifacts/forecast_metrics.json.</a:t>
            </a:r>
          </a:p>
          <a:p xmlns:a="http://schemas.openxmlformats.org/drawingml/2006/main">
            <a:r>
              <a:t>- U.S. Food and Drug Administration. (2024). Food Traceability Rule: Critical Tracking Events and Key Data Elements. https://www.fda.gov/food/food-safety-modernization-act-fsma/fsma-proposed-rule-food-traceability</a:t>
            </a:r>
          </a:p>
          <a:p xmlns:a="http://schemas.openxmlformats.org/drawingml/2006/main">
            <a:r>
              <a:t>- GS1. (n.d.). Traceability standards: Critical Tracking Events and Key Data Elements. https://www.gs1.org/standards/traceability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Zixiu: explain this in very plain language. Product photo tells people what it is. Origin photo tells where it came from. QC certificate tells whether it passed inspection. Cold-chain log tells whether it stayed fresh.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https://github.com/3351666087/Oasis-Finder; local health check on 2026-04-27; artifacts/risk_metrics.json; artifacts/forecast_metrics.json.</a:t>
            </a:r>
          </a:p>
          <a:p xmlns:a="http://schemas.openxmlformats.org/drawingml/2006/main">
            <a:r>
              <a:t>- U.S. Food and Drug Administration. (2024). Food Traceability Rule: Critical Tracking Events and Key Data Elements. https://www.fda.gov/food/food-safety-modernization-act-fsma/fsma-proposed-rule-food-traceability</a:t>
            </a:r>
          </a:p>
          <a:p xmlns:a="http://schemas.openxmlformats.org/drawingml/2006/main">
            <a:r>
              <a:t>- GS1. (n.d.). Traceability standards: Critical Tracking Events and Key Data Elements. https://www.gs1.org/standards/traceability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Zixiu: clarify the data-responsibility point. Our code is open source, and the product reserves interfaces. We do not guarantee a big company's or any merchant's data authenticity.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https://github.com/3351666087/Oasis-Finder; local health check on 2026-04-27; artifacts/risk_metrics.json; artifacts/forecast_metrics.json.</a:t>
            </a:r>
          </a:p>
          <a:p xmlns:a="http://schemas.openxmlformats.org/drawingml/2006/main">
            <a:r>
              <a:t>- U.S. Food and Drug Administration. (2024). Food Traceability Rule: Critical Tracking Events and Key Data Elements. https://www.fda.gov/food/food-safety-modernization-act-fsma/fsma-proposed-rule-food-traceability</a:t>
            </a:r>
          </a:p>
          <a:p xmlns:a="http://schemas.openxmlformats.org/drawingml/2006/main">
            <a:r>
              <a:t>- GS1. (n.d.). Traceability standards: Critical Tracking Events and Key Data Elements. https://www.gs1.org/standards/traceability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Zixiu: show that we can back the marketing interface with operational data. Mention 97 facilities, 200 links, 418 batches, and model metrics.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https://github.com/3351666087/Oasis-Finder; local health check on 2026-04-27; artifacts/risk_metrics.json; artifacts/forecast_metrics.json.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Zixiu: this slide answers why merchants gain. It is an indexed value model, not a guaranteed financial forecast. Tie it to WTP, purchase intention, perceived risk, and perceived value.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Tran, D., Schouteten, J. J., Gellynck, X., &amp; De Steur, H. (2024). How do consumers value food traceability? A meta-analysis. Food Control, 162, 110453. https://doi.org/10.1016/j.foodcont.2024.110453</a:t>
            </a:r>
          </a:p>
          <a:p xmlns:a="http://schemas.openxmlformats.org/drawingml/2006/main">
            <a:r>
              <a:t>- Ge, L. (2022). To buy or not to buy? A research on the relationship between traceable food extrinsic cues and consumers' purchase intention. Frontiers in Psychology, 13, 873941. https://doi.org/10.3389/fpsyg.2022.873941</a:t>
            </a:r>
          </a:p>
          <a:p xmlns:a="http://schemas.openxmlformats.org/drawingml/2006/main">
            <a:r>
              <a:t>- Wang, E. S.-T., Lin, H.-C., &amp; Tsai, M.-C. (2021). Effect of institutional trust on consumers' health and safety perceptions and repurchase intention for traceable fresh food. Foods, 10(12), 2898. https://doi.org/10.3390/foods10122898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future-validation slide. It replaces the internal speaking-flow page, which is not useful for assessors. Explain that the project can move from stated preference to merchant A/B testing.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Group 9 internal questionnaire direction (2026); raw response file is not stored in this repository, so charts are treated as directional evidence rather than population statistics.</a:t>
            </a:r>
          </a:p>
          <a:p xmlns:a="http://schemas.openxmlformats.org/drawingml/2006/main">
            <a:r>
              <a:t>- Ge, L. (2022). To buy or not to buy? A research on the relationship between traceable food extrinsic cues and consumers' purchase intention. Frontiers in Psychology, 13, 873941. https://doi.org/10.3389/fpsyg.2022.873941</a:t>
            </a:r>
          </a:p>
          <a:p xmlns:a="http://schemas.openxmlformats.org/drawingml/2006/main">
            <a:r>
              <a:t>- Tran, D., Schouteten, J. J., Gellynck, X., &amp; De Steur, H. (2024). How do consumers value food traceability? A meta-analysis. Food Control, 162, 110453. https://doi.org/10.1016/j.foodcont.2024.110453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Closing. State the final line slowly, then invite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[APA sources / evidence]</a:t>
            </a:r>
          </a:p>
          <a:p xmlns:a="http://schemas.openxmlformats.org/drawingml/2006/main">
            <a:r>
              <a:t>- Ge, L. (2022). To buy or not to buy? A research on the relationship between traceable food extrinsic cues and consumers' purchase intention. Frontiers in Psychology, 13, 873941. https://doi.org/10.3389/fpsyg.2022.873941</a:t>
            </a:r>
          </a:p>
          <a:p xmlns:a="http://schemas.openxmlformats.org/drawingml/2006/main">
            <a:r>
              <a:t>- Tran, D., Schouteten, J. J., Gellynck, X., &amp; De Steur, H. (2024). How do consumers value food traceability? A meta-analysis. Food Control, 162, 110453. https://doi.org/10.1016/j.foodcont.2024.110453</a:t>
            </a:r>
          </a:p>
          <a:p xmlns:a="http://schemas.openxmlformats.org/drawingml/2006/main">
            <a:r>
              <a:t>- Wang, E. S.-T., Lin, H.-C., &amp; Tsai, M.-C. (2021). Effect of institutional trust on consumers' health and safety perceptions and repurchase intention for traceable fresh food. Foods, 10(12), 2898. https://doi.org/10.3390/foods10122898</a:t>
            </a:r>
          </a:p>
          <a:p xmlns:a="http://schemas.openxmlformats.org/drawingml/2006/main">
            <a:r>
              <a:t>- Badia-Melis, R., Mishra, P., &amp; Ruiz-García, L. (2015). Food traceability: New trends and recent advances. Food Control, 57, 393-401. https://doi.org/10.1016/j.foodcont.2015.05.005</a:t>
            </a:r>
          </a:p>
          <a:p xmlns:a="http://schemas.openxmlformats.org/drawingml/2006/main">
            <a:r>
              <a:t>- World Economic Forum. (2019). Innovation with a purpose: Improving traceability in food value chains through technology innovations. https://www.weforum.org/publications/innovation-with-a-purpose-improving-traceability-in-food-value-chains-through-technology-innovations/</a:t>
            </a:r>
          </a:p>
          <a:p xmlns:a="http://schemas.openxmlformats.org/drawingml/2006/main">
            <a:r>
              <a:t>- U.S. Food and Drug Administration. (2024). Food Traceability Rule: Critical Tracking Events and Key Data Elements. https://www.fda.gov/food/food-safety-modernization-act-fsma/fsma-proposed-rule-food-traceability</a:t>
            </a:r>
          </a:p>
          <a:p xmlns:a="http://schemas.openxmlformats.org/drawingml/2006/main">
            <a:r>
              <a:t>- GS1. (n.d.). Traceability standards: Critical Tracking Events and Key Data Elements. https://www.gs1.org/standards/traceability</a:t>
            </a:r>
          </a:p>
          <a:p xmlns:a="http://schemas.openxmlformats.org/drawingml/2006/main">
            <a:r>
              <a:t>- https://github.com/3351666087/Oasis-Finder; local health check on 2026-04-27; artifacts/risk_metrics.json; artifacts/forecast_metrics.json.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44bc19dfe14ea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51F91045-0A6C-4BB0-87A2-B923AD8793C9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F281AA5D-75F6-433D-91AE-1A4D0C00A0A2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B393E79-38E2-4E22-85FB-807A16BF1FDF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0B30E9F-C858-4A33-AB74-FE35B06EE0AF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6689D6-316C-40A4-B9EC-6F76ABC16AF9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c2379ad750f48a2" /><Relationship Type="http://schemas.openxmlformats.org/officeDocument/2006/relationships/slideLayout" Target="/ppt/slideLayouts/slideLayout2.xml" Id="Ra1dd20ee897442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FBF183A-5548-4B41-946E-12BC38B38095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dd20ee897442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5510b60c524ca5" /><Relationship Type="http://schemas.openxmlformats.org/officeDocument/2006/relationships/notesSlide" Target="/ppt/notesSlides/notesSlide1.xml" Id="R7d0e9514e9e6473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e269959d9f499f" /><Relationship Type="http://schemas.openxmlformats.org/officeDocument/2006/relationships/chart" Target="/ppt/slides/charts/chart1.xml" Id="R729eaed47baf4232" /><Relationship Type="http://schemas.openxmlformats.org/officeDocument/2006/relationships/notesSlide" Target="/ppt/notesSlides/notesSlide2.xml" Id="R675395724f6740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87fd9b6b6d49bc" /><Relationship Type="http://schemas.openxmlformats.org/officeDocument/2006/relationships/notesSlide" Target="/ppt/notesSlides/notesSlide3.xml" Id="R4727491fd63d4a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6435f603d44153" /><Relationship Type="http://schemas.openxmlformats.org/officeDocument/2006/relationships/notesSlide" Target="/ppt/notesSlides/notesSlide4.xml" Id="Rece3fed7f2fd4f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9719fdd09546fb" /><Relationship Type="http://schemas.openxmlformats.org/officeDocument/2006/relationships/notesSlide" Target="/ppt/notesSlides/notesSlide5.xml" Id="R33233243d0fb48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1f7dc1337741cc" /><Relationship Type="http://schemas.openxmlformats.org/officeDocument/2006/relationships/image" Target="/ppt/media/image.png" Id="R71b4f8f1831d4543" /><Relationship Type="http://schemas.openxmlformats.org/officeDocument/2006/relationships/notesSlide" Target="/ppt/notesSlides/notesSlide6.xml" Id="R357f99c3030b4c7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91726669f143ee" /><Relationship Type="http://schemas.openxmlformats.org/officeDocument/2006/relationships/notesSlide" Target="/ppt/notesSlides/notesSlide7.xml" Id="R14c971fd9ca940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2761bc8b9c4fcb" /><Relationship Type="http://schemas.openxmlformats.org/officeDocument/2006/relationships/image" Target="/ppt/media/image2.png" Id="R42fe02f73cef49b1" /><Relationship Type="http://schemas.openxmlformats.org/officeDocument/2006/relationships/notesSlide" Target="/ppt/notesSlides/notesSlide8.xml" Id="R8912adb6e582472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f198a687784430" /><Relationship Type="http://schemas.openxmlformats.org/officeDocument/2006/relationships/chart" Target="/ppt/slides/charts/chart2.xml" Id="R3c9b9b397d1b4d17" /><Relationship Type="http://schemas.openxmlformats.org/officeDocument/2006/relationships/image" Target="/ppt/media/image3.png" Id="R16d2434545634ba5" /><Relationship Type="http://schemas.openxmlformats.org/officeDocument/2006/relationships/notesSlide" Target="/ppt/notesSlides/notesSlide9.xml" Id="R296c3cdeb741482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2a222e798d41ac" /><Relationship Type="http://schemas.openxmlformats.org/officeDocument/2006/relationships/chart" Target="/ppt/slides/charts/chart3.xml" Id="Rcf84896cabfd4e54" /><Relationship Type="http://schemas.openxmlformats.org/officeDocument/2006/relationships/notesSlide" Target="/ppt/notesSlides/notesSlide10.xml" Id="R500be3fba1c44d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283a756d4f4bdd" /><Relationship Type="http://schemas.openxmlformats.org/officeDocument/2006/relationships/notesSlide" Target="/ppt/notesSlides/notesSlide11.xml" Id="R28c1f84b469949d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fb12c5bd8c45b7" /><Relationship Type="http://schemas.openxmlformats.org/officeDocument/2006/relationships/notesSlide" Target="/ppt/notesSlides/notesSlide12.xml" Id="Rc6d2d61cb3c54a82" /></Relationships>
</file>

<file path=ppt/slides/charts/chart1.xml><?xml version="1.0" encoding="utf-8"?>
<c:chartSpace xmlns:c="http://schemas.openxmlformats.org/drawingml/2006/chart">
  <c:lang val="en-US"/>
  <c:roundedCorners val="0"/>
  <c:chart>
    <c:view3D/>
    <c:plotArea>
      <c:layout/>
      <c:barChart>
        <c:barDir val="col"/>
        <c:varyColors val="0"/>
        <c:ser>
          <c:idx val="0"/>
          <c:order val="0"/>
          <c:tx>
            <c:v>Relative buying-lift signal</c:v>
          </c:tx>
          <c:spPr>
            <a:solidFill xmlns:a="http://schemas.openxmlformats.org/drawingml/2006/main">
              <a:srgbClr val="0E7C72"/>
            </a:solidFill>
            <a:ln xmlns:a="http://schemas.openxmlformats.org/drawingml/2006/main" w="14288">
              <a:solidFill>
                <a:srgbClr val="0E7C72"/>
              </a:solidFill>
              <a:prstDash val="solid"/>
            </a:ln>
          </c:spPr>
          <c:cat>
            <c:strLit>
              <c:ptCount val="6"/>
              <c:pt idx="0">
                <c:v>Cake</c:v>
              </c:pt>
              <c:pt idx="1">
                <c:v>Seafood</c:v>
              </c:pt>
              <c:pt idx="2">
                <c:v>Meat</c:v>
              </c:pt>
              <c:pt idx="3">
                <c:v>Dairy</c:v>
              </c:pt>
              <c:pt idx="4">
                <c:v>Ready meal</c:v>
              </c:pt>
              <c:pt idx="5">
                <c:v>Beverage</c:v>
              </c:pt>
            </c:strLit>
          </c:cat>
          <c:val>
            <c:numLit>
              <c:formatCode/>
              <c:ptCount val="6"/>
              <c:pt idx="0">
                <c:v>4.8</c:v>
              </c:pt>
              <c:pt idx="1">
                <c:v>4.7</c:v>
              </c:pt>
              <c:pt idx="2">
                <c:v>4.6</c:v>
              </c:pt>
              <c:pt idx="3">
                <c:v>4.4</c:v>
              </c:pt>
              <c:pt idx="4">
                <c:v>4.2</c:v>
              </c:pt>
              <c:pt idx="5">
                <c:v>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</c:chartSpace>
</file>

<file path=ppt/slides/charts/chart2.xml><?xml version="1.0" encoding="utf-8"?>
<c:chartSpace xmlns:c="http://schemas.openxmlformats.org/drawingml/2006/chart">
  <c:lang val="en-US"/>
  <c:roundedCorners val="0"/>
  <c:chart>
    <c:view3D/>
    <c:plotArea>
      <c:layout/>
      <c:barChart>
        <c:barDir val="col"/>
        <c:varyColors val="0"/>
        <c:ser>
          <c:idx val="0"/>
          <c:order val="0"/>
          <c:tx>
            <c:v>Model metric</c:v>
          </c:tx>
          <c:spPr>
            <a:solidFill xmlns:a="http://schemas.openxmlformats.org/drawingml/2006/main">
              <a:srgbClr val="3564A7"/>
            </a:solidFill>
          </c:spPr>
          <c:cat>
            <c:strLit>
              <c:ptCount val="3"/>
              <c:pt idx="0">
                <c:v>Risk RMSE</c:v>
              </c:pt>
              <c:pt idx="1">
                <c:v>Risk MAE</c:v>
              </c:pt>
              <c:pt idx="2">
                <c:v>Forecast MAPE</c:v>
              </c:pt>
            </c:strLit>
          </c:cat>
          <c:val>
            <c:numLit>
              <c:formatCode/>
              <c:ptCount val="3"/>
              <c:pt idx="0">
                <c:v>5.83</c:v>
              </c:pt>
              <c:pt idx="1">
                <c:v>4.65</c:v>
              </c:pt>
              <c:pt idx="2">
                <c:v>4.81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</c:chartSpace>
</file>

<file path=ppt/slides/charts/chart3.xml><?xml version="1.0" encoding="utf-8"?>
<c:chartSpace xmlns:c="http://schemas.openxmlformats.org/drawingml/2006/chart">
  <c:lang val="en-US"/>
  <c:roundedCorners val="0"/>
  <c:chart>
    <c:view3D/>
    <c:plotArea>
      <c:layout/>
      <c:barChart>
        <c:barDir val="col"/>
        <c:varyColors val="0"/>
        <c:ser>
          <c:idx val="0"/>
          <c:order val="0"/>
          <c:tx>
            <c:v>Indexed merchant value</c:v>
          </c:tx>
          <c:spPr>
            <a:solidFill xmlns:a="http://schemas.openxmlformats.org/drawingml/2006/main">
              <a:srgbClr val="0E7C72"/>
            </a:solidFill>
          </c:spPr>
          <c:cat>
            <c:strLit>
              <c:ptCount val="4"/>
              <c:pt idx="0">
                <c:v>Baseline</c:v>
              </c:pt>
              <c:pt idx="1">
                <c:v>+ conversion</c:v>
              </c:pt>
              <c:pt idx="2">
                <c:v>+ premium trust</c:v>
              </c:pt>
              <c:pt idx="3">
                <c:v>- complaints</c:v>
              </c:pt>
            </c:strLit>
          </c:cat>
          <c:val>
            <c:numLit>
              <c:formatCode/>
              <c:ptCount val="4"/>
              <c:pt idx="0">
                <c:v>100</c:v>
              </c:pt>
              <c:pt idx="1">
                <c:v>108</c:v>
              </c:pt>
              <c:pt idx="2">
                <c:v>114</c:v>
              </c:pt>
              <c:pt idx="3">
                <c:v>116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6666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6689D6-316C-40A4-B9EC-6F76ABC16A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1EF18C-63E9-401F-B0A0-347F27477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81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2C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4B29FF-F3C0-41CB-90E2-169E54E1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0"/>
            <a:ext cx="781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CF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5B1682-6EE5-4960-8078-ED9CE801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3143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Oasis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Finder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E95594-930E-4DD9-8C26-9470F0E7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3143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DEDEB"/>
                </a:solidFill>
              </a:defRPr>
            </a:pPr>
            <a:r>
              <a:rPr sz="1800" b="0">
                <a:solidFill>
                  <a:srgbClr val="DDEDEB"/>
                </a:solidFill>
              </a:rPr>
              <a:t>Supply-chain transparency as a merchant conversion method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BB458B-AE0E-4D92-81A3-0394D5A4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0E7C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Open-source prototype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879D46-9D6D-486D-904C-D5409B99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6260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Group 9</a:t>
            </a:r>
          </a:p>
          <a:p xmlns:a="http://schemas.openxmlformats.org/drawingml/2006/main"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Rui Huang + Zixiu Wang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FBCB89-0A66-4AA4-A5F6-C1565E70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876300"/>
            <a:ext cx="619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9722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1820"/>
                </a:solidFill>
              </a:defRPr>
            </a:pPr>
            <a:r>
              <a:rPr sz="3150" b="1">
                <a:solidFill>
                  <a:srgbClr val="121820"/>
                </a:solidFill>
              </a:rPr>
              <a:t>Does supply-chain visibility make users more likely to buy?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9AF9F8-4162-4C37-B095-D6B4C370A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66900"/>
            <a:ext cx="6191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Our product is not a single app feature. It is a way for merchants to show credible product evidence at the buying moment.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ACB6D3-692B-4E1C-AC80-703D7D21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19450"/>
            <a:ext cx="60198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0E7C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76D051-853C-483C-995D-FF5469DA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56769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Thesis: more credible supply-chain evidence reduces perceived risk and increases purchase confidence, especially for perishable or high-trust foods.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22E4EB-3F93-44D5-87FE-4F462B5D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57750"/>
            <a:ext cx="609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3564A7"/>
                </a:solidFill>
              </a:defRPr>
            </a:pPr>
            <a:r>
              <a:rPr sz="1575" b="1">
                <a:solidFill>
                  <a:srgbClr val="3564A7"/>
                </a:solidFill>
              </a:rPr>
              <a:t>https://github.com/3351666087/Oasis-Finder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DDDC4A-2970-43EB-889E-C0365F6A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467350"/>
            <a:ext cx="609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5414A"/>
                </a:solidFill>
              </a:defRPr>
            </a:pPr>
            <a:r>
              <a:rPr sz="1500" b="0">
                <a:solidFill>
                  <a:srgbClr val="35414A"/>
                </a:solidFill>
              </a:rPr>
              <a:t>8-minute flow: problem -&gt; questionnaire signal -&gt; product proof -&gt; merchant value -&gt; build story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C725D2-22CD-4937-AA98-EFE7720F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</p:spTree>
    <p:extLst>
      <p:ext uri="{BB962C8B-B14F-4D97-AF65-F5344CB8AC3E}">
        <p14:creationId xmlns:p14="http://schemas.microsoft.com/office/powerpoint/2010/main" val="18104329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6689D6-316C-40A4-B9EC-6F76ABC16A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1962A8-80BF-42C7-B2FE-1752EEDA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REBUILT RESEARCH FOCUS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3F972-31CD-4A9B-9294-E0A73399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02 /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CB9612-8E5B-4B7C-BE8E-2E399036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92A700-AA23-43B6-B916-33A400D9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57250"/>
            <a:ext cx="552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6624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21820"/>
                </a:solidFill>
              </a:defRPr>
            </a:pPr>
            <a:r>
              <a:rPr sz="2925" b="1">
                <a:solidFill>
                  <a:srgbClr val="121820"/>
                </a:solidFill>
              </a:rPr>
              <a:t>Questionnaire: transparency changes buying probability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CF0055-2EEA-4E7D-AE0E-F9052C88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542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The research focus is direct: can visible supply-chain evidence increase buying confidence at the product page?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B6382A-3FCC-4C57-82FD-C236D260D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53340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D95F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58C454-7F0D-48D2-8EFF-B9F3CA79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00350"/>
            <a:ext cx="49911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Question asked: If a merchant shows supplier nodes, time, place, quality checks, temperature, and batch movement, are you more likely to buy?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334125" y="1200150"/>
          <a:ext xmlns:a="http://schemas.openxmlformats.org/drawingml/2006/main" cx="5095875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29eaed47baf423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4FD21D-3516-4E30-A41C-FB05741B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95750"/>
            <a:ext cx="53340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B09172-0035-4ED5-9D8A-10B8F425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1820"/>
                </a:solidFill>
              </a:defRPr>
            </a:pPr>
            <a:r>
              <a:rPr sz="1350" b="1">
                <a:solidFill>
                  <a:srgbClr val="121820"/>
                </a:solidFill>
              </a:rPr>
              <a:t>Cake / bakery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2638FF-26DD-4D07-8BAD-A78747F9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1624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freshness + ingredients + allergy trust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65A6F2-53C7-495D-90E1-C43D81599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52950"/>
            <a:ext cx="53340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7F9FA"/>
          </a:solidFill>
          <a:ln xmlns:a="http://schemas.openxmlformats.org/drawingml/2006/main" w="9525">
            <a:solidFill>
              <a:srgbClr val="D7DE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2E8A93-808F-4402-8950-D9FB40D0B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962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1820"/>
                </a:solidFill>
              </a:defRPr>
            </a:pPr>
            <a:r>
              <a:rPr sz="1350" b="1">
                <a:solidFill>
                  <a:srgbClr val="121820"/>
                </a:solidFill>
              </a:rPr>
              <a:t>Seafood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45BCA1-8162-4905-AF26-E29A1D19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6196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cold-chain and origin 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FA84BB-F415-4BDB-9B16-4105E4E3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10150"/>
            <a:ext cx="53340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174AD7-4726-4D9E-BC05-35DBA3725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7682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1820"/>
                </a:solidFill>
              </a:defRPr>
            </a:pPr>
            <a:r>
              <a:rPr sz="1350" b="1">
                <a:solidFill>
                  <a:srgbClr val="121820"/>
                </a:solidFill>
              </a:rPr>
              <a:t>Meat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FD26E0-A30F-46FB-9479-0808D2A7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768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safety expiry inspection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7F22D1-78E1-4FE5-93E0-600A1402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53340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7F9FA"/>
          </a:solidFill>
          <a:ln xmlns:a="http://schemas.openxmlformats.org/drawingml/2006/main" w="9525">
            <a:solidFill>
              <a:srgbClr val="D7DE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DF381D-5998-483C-A944-F29D534C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3402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1820"/>
                </a:solidFill>
              </a:defRPr>
            </a:pPr>
            <a:r>
              <a:rPr sz="1350" b="1">
                <a:solidFill>
                  <a:srgbClr val="121820"/>
                </a:solidFill>
              </a:rPr>
              <a:t>Dairy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20F742-FC05-458A-87B2-D7B685D8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5340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safety expiry inspection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B777E9-323A-4C64-BA94-7A8ECCDF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76800"/>
            <a:ext cx="495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7C"/>
                </a:solidFill>
              </a:defRPr>
            </a:pPr>
            <a:r>
              <a:rPr sz="1125" b="0">
                <a:solidFill>
                  <a:srgbClr val="66727C"/>
                </a:solidFill>
              </a:rPr>
              <a:t>CSV-backed directional 1-5 response coding; replace with exact raw counts when the final questionnaire file is available.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B778D6-2242-4C26-9647-484ABF20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F2A132-6C90-43FC-A87A-293B97C8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Ge (2022); Tran et al. (2024); Group 9 questionnaire direction</a:t>
            </a:r>
          </a:p>
        </p:txBody>
      </p:sp>
    </p:spTree>
    <p:extLst>
      <p:ext uri="{BB962C8B-B14F-4D97-AF65-F5344CB8AC3E}">
        <p14:creationId xmlns:p14="http://schemas.microsoft.com/office/powerpoint/2010/main" val="13005616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6689D6-316C-40A4-B9EC-6F76ABC16A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2CA29-89E2-4F7F-8A56-C2173054F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WHY IT PAYS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51C40E-4BD9-43E7-B3C1-DCF2BEF3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03 /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C3CC05-EEC5-4157-9930-3045A572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04B3D0-38CA-461B-BBB9-BDC5C161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8482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1820"/>
                </a:solidFill>
              </a:defRPr>
            </a:pPr>
            <a:r>
              <a:rPr sz="3150" b="1">
                <a:solidFill>
                  <a:srgbClr val="121820"/>
                </a:solidFill>
              </a:rPr>
              <a:t>The commercial mechanism is risk reduction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2F4DF8-7C27-4731-8339-DF18D29D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Transparency works as advertising because it turns an invisible quality claim into a visible decision cue.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61137E-9999-4D90-9F5C-EF3033DE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24150"/>
            <a:ext cx="23431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CAA797-B4A2-4C06-A029-68796253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0C6A80-59C2-47BA-A20C-10FF382D7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419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6E7E46-17C9-4E9F-9289-C10DAA23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956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Evidence shown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0885A5-392C-4208-8C57-EEF38C48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1885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Supplier map, batch, timestamp, location, temperature, certificate.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8FEC39-886D-4176-AE70-B31CB805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724150"/>
            <a:ext cx="23431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EBC084-125F-4BFD-BD80-513A38C9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952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64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2B62A1-76EB-4BD2-9133-2EF95C6A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09875"/>
            <a:ext cx="419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D8CC26-EAF2-4037-9C08-54D646DD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8956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Risk drops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8DBA6D-E445-4039-9CDB-AE453C73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352800"/>
            <a:ext cx="1885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Consumers feel less uncertainty about freshness and safety.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7754F0-10F7-4F10-B410-2EE0A696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23431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86F573-AF90-42AE-91C1-3E9A5273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52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9B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9C1DEF-D514-46CE-8D57-530DB18D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09875"/>
            <a:ext cx="419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2AD329-64D0-47B8-817C-4525471DB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8956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Value rises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F084FC-23EC-4D49-BF52-DC212371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352800"/>
            <a:ext cx="1885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The product becomes easier to trust and easier to justify.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9F88C1-F1B4-49CD-AFCF-8C595E6D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724150"/>
            <a:ext cx="23431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28E81E-2B9F-4051-A0F2-5FBA15D5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527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5F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F9B290-E57C-44E6-8C8B-7490B1EA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809875"/>
            <a:ext cx="419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16BBE2-0B7E-4CC0-866E-404B6B7A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956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Revenue improves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6D49C3-2283-4815-9192-7FD7D1A9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52800"/>
            <a:ext cx="1885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Higher conversion, premium tolerance, and repeat intention.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C70224-BA24-41FA-96EA-162A99FAB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91100"/>
            <a:ext cx="94869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0E7C7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F4207F-AD43-4D9A-9586-6FCBC98C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43500"/>
            <a:ext cx="914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5821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Advertising claim moves from “trust us” to “inspect the evidence”. That is why the same product page can become more persuasive.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A0570A-11CB-44C4-A316-80E046EE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B6B652-7818-41A0-A5F8-FFDBAB6F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Ge (2022); Wang et al. (2021)</a:t>
            </a:r>
          </a:p>
        </p:txBody>
      </p:sp>
    </p:spTree>
    <p:extLst>
      <p:ext uri="{BB962C8B-B14F-4D97-AF65-F5344CB8AC3E}">
        <p14:creationId xmlns:p14="http://schemas.microsoft.com/office/powerpoint/2010/main" val="119524960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6689D6-316C-40A4-B9EC-6F76ABC16A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29CBAF-5301-41B6-8DE1-F995E79C1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PRODUCT METHOD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9D0622-5736-4F19-8F22-D736D904B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04 /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ABE26D-C693-498F-9DAC-1A31519C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85E701-F2B8-4EA1-A0A7-387AD74A6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1820"/>
                </a:solidFill>
              </a:defRPr>
            </a:pPr>
            <a:r>
              <a:rPr sz="3150" b="1">
                <a:solidFill>
                  <a:srgbClr val="121820"/>
                </a:solidFill>
              </a:rPr>
              <a:t>What a merchant should show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D25884-9901-43C8-89EA-3E985368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Oasis Finder is a display method plus data schema. We open-source the code, but merchants remain responsible for the truth of their data.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2E4F91-93FF-4CDF-8654-17B11C271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32766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5F4C0F-9D00-4F42-AED6-12440269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Product identity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90F98E-1A6A-425B-A2AC-28EFE7287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0350"/>
            <a:ext cx="285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SKU / GTIN, QR code, batch or lot 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B6DB6C-47F6-4D70-8B43-5CF1F7E3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05050"/>
            <a:ext cx="32766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F969F2-DBB2-438F-973F-286E5AB2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765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Place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04CFD2-3CDA-4962-90B2-D89CAA4B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00350"/>
            <a:ext cx="285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supplier, plant, warehouse, location code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D157BB-BC0B-45A9-8588-AFD7E66D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305050"/>
            <a:ext cx="32766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4FCD41-B07A-4626-8D90-08C91CC13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765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2DF393-E9BE-4542-B91B-2F47171C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285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531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harvest, production, receiving, shipping, arrival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A4D722-B05B-4C25-8FDE-9AEF5330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62350"/>
            <a:ext cx="32766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18E439-B586-48C7-A2FD-6905A9B3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338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Condition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CC1350-8FB7-404E-AB16-1BD81CDE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57650"/>
            <a:ext cx="285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276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temperature, breach minutes, freshness, shelf life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46A128-FADF-4646-A9C5-64349814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62350"/>
            <a:ext cx="32766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F39B84-7222-444D-BC55-453CC243F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338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Quality proof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24E581-7318-4F46-995E-1F132B81D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57650"/>
            <a:ext cx="285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192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inspection result, package score, residue/pathogen checks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290526-780D-462B-92AD-E556211D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62350"/>
            <a:ext cx="32766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376E3A-B83E-464F-B629-8CB20895D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73380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21820"/>
                </a:solidFill>
              </a:defRPr>
            </a:pPr>
            <a:r>
              <a:rPr sz="1725" b="1">
                <a:solidFill>
                  <a:srgbClr val="121820"/>
                </a:solidFill>
              </a:rPr>
              <a:t>Evidence owner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2645CC-65A8-43D4-9329-8B2D2E39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57650"/>
            <a:ext cx="2857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52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supplier, auditor, carrier, certificate URI or hash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B6988D-9B9F-47B8-96E8-DE65432A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100393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D95F4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7A350A-5BD4-4417-BE5A-2F4EC5C6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9696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5821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Data disclaimer: Oasis Finder provides interface, schema, and API slots. We do not guarantee merchant data authenticity; audits, IoT logs, and supplier records should validate claims.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4AA487-4624-486B-90BC-71DC8ACD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AAB624-C1C8-4E8A-BCD1-9C1FDB94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FDA FSMA 204; GS1 Traceability Standard</a:t>
            </a:r>
          </a:p>
        </p:txBody>
      </p:sp>
    </p:spTree>
    <p:extLst>
      <p:ext uri="{BB962C8B-B14F-4D97-AF65-F5344CB8AC3E}">
        <p14:creationId xmlns:p14="http://schemas.microsoft.com/office/powerpoint/2010/main" val="19880688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6689D6-316C-40A4-B9EC-6F76ABC16A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82D77A-403A-4EF2-9B2C-0DA92C24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BUILD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5874B6-461C-46AC-9227-FFEE4BE4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05 /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10937E-795B-42EE-87C6-72FB2C48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E189EF-6E2C-4D19-A1FA-D39E8AF5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1820"/>
                </a:solidFill>
              </a:defRPr>
            </a:pPr>
            <a:r>
              <a:rPr sz="3150" b="1">
                <a:solidFill>
                  <a:srgbClr val="121820"/>
                </a:solidFill>
              </a:rPr>
              <a:t>How we built the product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C7FD4F-7C52-4A4F-9EDC-D5B5BA95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The story is simple: research corrected the feature idea, then engineering turned the method into a working evidence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DADE9F-AA9C-489F-9FF8-AE0D222B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62350"/>
            <a:ext cx="9753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BB6A13-E69C-4DB7-A071-65F9AB35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2575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7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954328-3495-4F21-A2EB-B26F6A6B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812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66727C"/>
                </a:solidFill>
              </a:defRPr>
            </a:pPr>
            <a:r>
              <a:rPr sz="1575" b="1">
                <a:solidFill>
                  <a:srgbClr val="66727C"/>
                </a:solidFill>
              </a:rPr>
              <a:t>Week 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7826B-394C-45F1-955E-F0DB393A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21820"/>
                </a:solidFill>
              </a:defRPr>
            </a:pPr>
            <a:r>
              <a:rPr sz="1875" b="1">
                <a:solidFill>
                  <a:srgbClr val="121820"/>
                </a:solidFill>
              </a:rPr>
              <a:t>Open coding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1CF0C8-0FD8-4E44-8EAB-76A16240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QR traceability and analytics beat superficial visibility.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A7500F-D8BB-4E74-92CD-73381CFF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575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64A7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9866D-85B7-4B7F-B6B7-6B85B4B5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3812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66727C"/>
                </a:solidFill>
              </a:defRPr>
            </a:pPr>
            <a:r>
              <a:rPr sz="1575" b="1">
                <a:solidFill>
                  <a:srgbClr val="66727C"/>
                </a:solidFill>
              </a:rPr>
              <a:t>INF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E09331-8F82-4680-8AEC-5007DBF5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813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21820"/>
                </a:solidFill>
              </a:defRPr>
            </a:pPr>
            <a:r>
              <a:rPr sz="1875" b="1">
                <a:solidFill>
                  <a:srgbClr val="121820"/>
                </a:solidFill>
              </a:rPr>
              <a:t>Data 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6BB621-FE36-4440-AB77-FE920028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0386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17 tables connect facilities, lots, batches, shipments, risk, demand.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E4AA5E-30BB-468B-BF0D-5A7F1D7A7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575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9B35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FDE76D-6B85-40C3-AAEC-50226326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812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66727C"/>
                </a:solidFill>
              </a:defRPr>
            </a:pPr>
            <a:r>
              <a:rPr sz="1575" b="1">
                <a:solidFill>
                  <a:srgbClr val="66727C"/>
                </a:solidFill>
              </a:rPr>
              <a:t>Prototype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92432F-CE3B-4326-94D9-C9F322AAC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813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21820"/>
                </a:solidFill>
              </a:defRPr>
            </a:pPr>
            <a:r>
              <a:rPr sz="1875" b="1">
                <a:solidFill>
                  <a:srgbClr val="121820"/>
                </a:solidFill>
              </a:rPr>
              <a:t>Control tower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E90EA9-6FC9-4B4B-8608-3AD6610DC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0386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PySide6 interface shows dashboard, mesh, traceability, forecast, scenario.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D2AAE1-91D2-4546-A685-482A6102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2575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5F45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DE5F67-4AA2-4C33-8BF4-0258A263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812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66727C"/>
                </a:solidFill>
              </a:defRPr>
            </a:pPr>
            <a:r>
              <a:rPr sz="1575" b="1">
                <a:solidFill>
                  <a:srgbClr val="66727C"/>
                </a:solidFill>
              </a:rPr>
              <a:t>Now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D98778-2BB5-45B1-B528-06300D7F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813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21820"/>
                </a:solidFill>
              </a:defRPr>
            </a:pPr>
            <a:r>
              <a:rPr sz="1875" b="1">
                <a:solidFill>
                  <a:srgbClr val="121820"/>
                </a:solidFill>
              </a:rPr>
              <a:t>Node click proof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02E156-FBD5-41C8-8594-C0E32662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038600"/>
            <a:ext cx="2190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Every supply node exposes stage variables and preset values.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9868C1-A7EE-4209-913D-78F9726C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0E7C7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261F8E-2869-4083-A729-73E921DB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562600"/>
            <a:ext cx="8039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762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This turns the presentation from a concept pitch into a build narrative: question -&gt; evidence -&gt; system -&gt; proof.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23ED0D-1273-41A3-9177-B78CFEC4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856A75-0A69-44C3-8828-0F513AF1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Week 6 artefacts; INF report; repository runtime</a:t>
            </a:r>
          </a:p>
        </p:txBody>
      </p:sp>
    </p:spTree>
    <p:extLst>
      <p:ext uri="{BB962C8B-B14F-4D97-AF65-F5344CB8AC3E}">
        <p14:creationId xmlns:p14="http://schemas.microsoft.com/office/powerpoint/2010/main" val="212124150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6689D6-316C-40A4-B9EC-6F76ABC16A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379105-4A00-4308-92EE-4242329C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PRODUCT HOMEPAGE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259FF3-2DA0-4346-852B-39D725A0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06 /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F28A49-1A2B-47A1-A3AC-3AF33603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198F98-10A0-4BFA-8CF6-4FF018DC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572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1820"/>
                </a:solidFill>
              </a:defRPr>
            </a:pPr>
            <a:r>
              <a:rPr sz="3000" b="1">
                <a:solidFill>
                  <a:srgbClr val="121820"/>
                </a:solidFill>
              </a:rPr>
              <a:t>Start with a friendly product shelf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33688E-8E77-462E-89A6-13849612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5644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The home page now looks like a retail app: choose a product first, then inspect that product's route and proof.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b4f8f1831d4543"/>
          <a:srcRect xmlns:a="http://schemas.openxmlformats.org/drawingml/2006/main" l="0" t="21811" r="0" b="218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" y="2209800"/>
            <a:ext cx="6953250" cy="3714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389F04-D100-401C-A41D-C540D4BA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86000"/>
            <a:ext cx="3429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E31D25-CF93-4458-A4AE-CEE50E32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574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E7C72"/>
                </a:solidFill>
              </a:defRPr>
            </a:pPr>
            <a:r>
              <a:rPr sz="1950" b="1">
                <a:solidFill>
                  <a:srgbClr val="0E7C72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4A021D-9268-44E9-9350-B70EBD0C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4003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1820"/>
                </a:solidFill>
              </a:defRPr>
            </a:pPr>
            <a:r>
              <a:rPr sz="1650" b="1">
                <a:solidFill>
                  <a:srgbClr val="121820"/>
                </a:solidFill>
              </a:rPr>
              <a:t>Put the product first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070B78-6275-49DC-9B0E-953DF1230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67000"/>
            <a:ext cx="2438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79091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Show name, category, price, and a product image.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7FCE56-99AF-4DF3-B676-A3924AE9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62300"/>
            <a:ext cx="3429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11C7A3-F604-4BAD-A7A3-F721EA85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564A7"/>
                </a:solidFill>
              </a:defRPr>
            </a:pPr>
            <a:r>
              <a:rPr sz="1950" b="1">
                <a:solidFill>
                  <a:srgbClr val="3564A7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D3F76A-4EBB-42C1-BCFE-5B683341E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766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1820"/>
                </a:solidFill>
              </a:defRPr>
            </a:pPr>
            <a:r>
              <a:rPr sz="1650" b="1">
                <a:solidFill>
                  <a:srgbClr val="121820"/>
                </a:solidFill>
              </a:rPr>
              <a:t>Connect the batch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79E731-2DAE-4B21-A756-B72E76E4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43300"/>
            <a:ext cx="2438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882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Link SKU to QR, supplier lots, expiry, and QC.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60C8B6-CBEB-4EB2-AC99-FD26D5B6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38600"/>
            <a:ext cx="3429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5EBA0C-2D13-4462-93F1-74327B2F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10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89B35"/>
                </a:solidFill>
              </a:defRPr>
            </a:pPr>
            <a:r>
              <a:rPr sz="1950" b="1">
                <a:solidFill>
                  <a:srgbClr val="C89B35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0DF7AF-3A05-41BF-B3D2-2C6D82BC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1529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1820"/>
                </a:solidFill>
              </a:defRPr>
            </a:pPr>
            <a:r>
              <a:rPr sz="1650" b="1">
                <a:solidFill>
                  <a:srgbClr val="121820"/>
                </a:solidFill>
              </a:rPr>
              <a:t>Add proof images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8FD995-CFEA-4192-BD57-CEF56287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19600"/>
            <a:ext cx="2438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6128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Use image slots for packshot, origin, QC, and cold-chain log.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FC5C17-7978-4616-87F9-9F29294F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914900"/>
            <a:ext cx="3429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4DD423-3C8C-4CA6-A043-D72AA50C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086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95F45"/>
                </a:solidFill>
              </a:defRPr>
            </a:pPr>
            <a:r>
              <a:rPr sz="1950" b="1">
                <a:solidFill>
                  <a:srgbClr val="D95F45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364C51-BD77-49D6-995D-D64D44CD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029200"/>
            <a:ext cx="238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21820"/>
                </a:solidFill>
              </a:defRPr>
            </a:pPr>
            <a:r>
              <a:rPr sz="1650" b="1">
                <a:solidFill>
                  <a:srgbClr val="121820"/>
                </a:solidFill>
              </a:rPr>
              <a:t>Explain the route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CACE78-0E08-4A14-8E08-AD1D1E9D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295900"/>
            <a:ext cx="2438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4591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Click the product and show time, place, temperature, quality.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335E52-28B0-41FB-98CF-298B9F51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829300"/>
            <a:ext cx="32575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0E7C7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FE21A4-4857-4B86-8A31-2A880C25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981700"/>
            <a:ext cx="2914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54613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Plain idea: shoppers do not start from a network graph. They start from a product they want to buy.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37C7AB-DC50-4C50-BA03-B91941EA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FA1896-DA39-4CB1-B458-48D0CF198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Local runtime screenshot; repository code</a:t>
            </a:r>
          </a:p>
        </p:txBody>
      </p:sp>
    </p:spTree>
    <p:extLst>
      <p:ext uri="{BB962C8B-B14F-4D97-AF65-F5344CB8AC3E}">
        <p14:creationId xmlns:p14="http://schemas.microsoft.com/office/powerpoint/2010/main" val="10495215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6689D6-316C-40A4-B9EC-6F76ABC16A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96BE13-0A8A-4898-9130-16D9D7699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VENDOR MEDIA INTERFACE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46999A-000F-4362-8181-ADD11419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07 /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494F74-9BB9-4437-ADB1-29539E5B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B74F22-84D4-4E5C-995A-67338DB02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1820"/>
                </a:solidFill>
              </a:defRPr>
            </a:pPr>
            <a:r>
              <a:rPr sz="3150" b="1">
                <a:solidFill>
                  <a:srgbClr val="121820"/>
                </a:solidFill>
              </a:rPr>
              <a:t>We leave slots for merchant images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D139DD-0F23-434A-88B3-4E2358B34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Real stores need images. Oasis Finder reserves media interfaces now, and uses clean icon placeholders until the merchant uploads assets.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837165-EA7A-46DC-977E-873397B5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33DC29-9F45-4956-A734-CF52588B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09850"/>
            <a:ext cx="7048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15240">
            <a:solidFill>
              <a:srgbClr val="0E7C7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7EAB1-D352-4D06-B67D-4779FEBF8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003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95C474-1A48-46E6-8AF9-74243659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571750"/>
            <a:ext cx="2952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1820"/>
                </a:solidFill>
              </a:defRPr>
            </a:pPr>
            <a:r>
              <a:rPr sz="1800" b="1">
                <a:solidFill>
                  <a:srgbClr val="121820"/>
                </a:solidFill>
              </a:rPr>
              <a:t>Product photo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CBE4B5-817B-444E-AD10-E8937027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merchant_media.product_packshot_url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31EFAB-38C5-46E3-95EB-73A148F8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1051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What to upload: product packshot or shelf photo.</a:t>
            </a:r>
          </a:p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Why: shoppers recognize the item immediately.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E4DECB-6D29-4105-9282-20F12082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812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A2D2E1-6EBC-4642-B47B-B7A53FC6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09850"/>
            <a:ext cx="7048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15240">
            <a:solidFill>
              <a:srgbClr val="56B69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FB85DA-7B81-45C5-8C06-AA6FFA02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003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6B69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7F34C4-0B82-4D46-A5C8-9D50F041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71750"/>
            <a:ext cx="2952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1820"/>
                </a:solidFill>
              </a:defRPr>
            </a:pPr>
            <a:r>
              <a:rPr sz="1800" b="1">
                <a:solidFill>
                  <a:srgbClr val="121820"/>
                </a:solidFill>
              </a:rPr>
              <a:t>Origin image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1F415E-7A03-40D6-BB83-8DD12DE3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575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merchant_media.origin_image_url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E7E02D-E61F-4E98-A635-5AFB80DA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051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What to upload: farm, supplier, or source image.</a:t>
            </a:r>
          </a:p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Why: source becomes visible, not abstract.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195C7C-F218-4F5E-B3B2-D0C707EB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700413-CA02-4835-AE6C-0147A42A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48150"/>
            <a:ext cx="7048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15240">
            <a:solidFill>
              <a:srgbClr val="C89B3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3B4BB1-3D8F-43D9-8A2F-B61ACAF8B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38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C89B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CA0D55-8A95-4B22-90D7-1722CC1A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10050"/>
            <a:ext cx="2952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1820"/>
                </a:solidFill>
              </a:defRPr>
            </a:pPr>
            <a:r>
              <a:rPr sz="1800" b="1">
                <a:solidFill>
                  <a:srgbClr val="121820"/>
                </a:solidFill>
              </a:rPr>
              <a:t>QC certificate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C06EC0-D5D5-4B02-8885-8C4B1BE7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958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merchant_media.qc_certificate_url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3DE7A3-A5E9-4A8A-AE6C-42F76541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7434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9766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What to upload: inspection certificate or lab result.</a:t>
            </a:r>
          </a:p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Why: safety claims become reviewable.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FE9B98-50CE-435B-B448-30843B5A6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195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F0C20A-6668-4FC3-A0A9-9C853D08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48150"/>
            <a:ext cx="7048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4F7F5"/>
          </a:solidFill>
          <a:ln xmlns:a="http://schemas.openxmlformats.org/drawingml/2006/main" w="15240">
            <a:solidFill>
              <a:srgbClr val="D95F4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6CC07F-5C55-4099-8150-9400F8B5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386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F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93F09A-1850-4C15-BD61-E31936AE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2952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1820"/>
                </a:solidFill>
              </a:defRPr>
            </a:pPr>
            <a:r>
              <a:rPr sz="1800" b="1">
                <a:solidFill>
                  <a:srgbClr val="121820"/>
                </a:solidFill>
              </a:rPr>
              <a:t>Cold-chain log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0DBE11-5B1C-4B3C-A1A8-12EEC6CD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9580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merchant_media.temperature_log_url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951A2D-B7AD-449D-A03C-961A0C8C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7434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What to upload: temperature chart or delivery log.</a:t>
            </a:r>
          </a:p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Why: freshness proof is easy to understand.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0D2467-4B22-4044-901A-16F92DD3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562600"/>
            <a:ext cx="92583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0E7C7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6B2E6D-3894-47D3-BC75-50732CCB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715000"/>
            <a:ext cx="8915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Simple rule: product pictures help recognition; proof pictures build trust; route data explains why.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8B9302-6012-43D5-8575-8B5298BD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B93EB4-1EAF-4500-AE1F-E2446B94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Media slots implemented in Product Shelf UI</a:t>
            </a:r>
          </a:p>
        </p:txBody>
      </p:sp>
    </p:spTree>
    <p:extLst>
      <p:ext uri="{BB962C8B-B14F-4D97-AF65-F5344CB8AC3E}">
        <p14:creationId xmlns:p14="http://schemas.microsoft.com/office/powerpoint/2010/main" val="14606372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6689D6-316C-40A4-B9EC-6F76ABC16A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9296E2-B87E-41A1-A644-DD51E8C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OPEN SOURCE + INTERFACE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8F8299-25C2-4734-A65F-F344FD9A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08 /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08145-18CE-4BE9-9E88-5F64D42F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E2D36-4F26-47DD-8B4A-2FFD1405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5725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9166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21820"/>
                </a:solidFill>
              </a:defRPr>
            </a:pPr>
            <a:r>
              <a:rPr sz="2850" b="1">
                <a:solidFill>
                  <a:srgbClr val="121820"/>
                </a:solidFill>
              </a:rPr>
              <a:t>GitHub proves code openness, not merchant truth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F8CFED-35B3-457B-9785-9520B636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6858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9367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Reviewers can inspect our method. Merchant data still needs supplier, IoT, and audit validation.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fe02f73cef49b1"/>
          <a:srcRect xmlns:a="http://schemas.openxmlformats.org/drawingml/2006/main" l="0" t="16583" r="0" b="165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438400"/>
            <a:ext cx="4953000" cy="2724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4EC2F5-E1EC-429C-9567-B37D3579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1250"/>
            <a:ext cx="22669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CC016A-C757-4ED8-B439-1E7678FB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125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7AB666-B8A3-41C7-8F3B-6DC2B4AF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52700"/>
            <a:ext cx="1924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OPEN CODE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9BBFC5-0EF5-49BE-9706-A21C320B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194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E7C72"/>
                </a:solidFill>
              </a:defRPr>
            </a:pPr>
            <a:r>
              <a:rPr sz="2325" b="1">
                <a:solidFill>
                  <a:srgbClr val="0E7C72"/>
                </a:solidFill>
              </a:rPr>
              <a:t>main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1A6621-4FB1-4361-A39D-CA3E98AC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95650"/>
            <a:ext cx="1924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144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reproducible setup and evidence assets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B62D6B-0E36-4E5F-8CE5-B6409230C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81250"/>
            <a:ext cx="22669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7F4366-0668-40B6-96A5-403CE7DD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8125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4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B57809-4610-4E64-9C8D-832AE662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552700"/>
            <a:ext cx="1924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HEALTH GATE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BC6945-B221-4691-AC55-C4284908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1940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564A7"/>
                </a:solidFill>
              </a:defRPr>
            </a:pPr>
            <a:r>
              <a:rPr sz="2325" b="1">
                <a:solidFill>
                  <a:srgbClr val="3564A7"/>
                </a:solidFill>
              </a:rPr>
              <a:t>pass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889FAB-F1DA-4BD6-A8E1-96735B40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95650"/>
            <a:ext cx="1924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144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database, traces, forecasts, scenario checks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5A9160-3586-40A4-9D36-93A33E8BE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10000"/>
            <a:ext cx="22669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706A39-25D4-41BE-B14C-64FD6E093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1000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F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755972-70F2-4FB7-A46B-F9F748622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81450"/>
            <a:ext cx="1924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DATA TRUTH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82337F-E33E-48EF-AC08-A19564F8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2481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95F45"/>
                </a:solidFill>
              </a:defRPr>
            </a:pPr>
            <a:r>
              <a:rPr sz="2325" b="1">
                <a:solidFill>
                  <a:srgbClr val="D95F45"/>
                </a:solidFill>
              </a:rPr>
              <a:t>merchant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B13EED-9DA8-47EF-94D6-454F4597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724400"/>
            <a:ext cx="1924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144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supplier records, QR events, IoT logs, audits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5680E7-7B6F-42C3-A1B1-DE3E7E43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10000"/>
            <a:ext cx="22669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77ACB5-88D5-4238-BF9E-FF9613F03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1000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4CDEDF-6C82-4A87-82BA-AEB0EE59A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981450"/>
            <a:ext cx="1924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AI LAYER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5A98D0-DD32-4D42-9696-5C117169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248150"/>
            <a:ext cx="1924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89B35"/>
                </a:solidFill>
              </a:defRPr>
            </a:pPr>
            <a:r>
              <a:rPr sz="2325" b="1">
                <a:solidFill>
                  <a:srgbClr val="C89B35"/>
                </a:solidFill>
              </a:rPr>
              <a:t>optional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F04FB8-2161-4F49-AA23-0C59698C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24400"/>
            <a:ext cx="1924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6144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summarize evidence; never certify it alone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973489-21C9-407E-804F-2C0CE31A4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34000"/>
            <a:ext cx="4857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64A7"/>
                </a:solidFill>
              </a:defRPr>
            </a:pPr>
            <a:r>
              <a:rPr sz="1650" b="1">
                <a:solidFill>
                  <a:srgbClr val="3564A7"/>
                </a:solidFill>
              </a:rPr>
              <a:t>https://github.com/3351666087/Oasis-Finder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47EEE6-7D27-4D09-A6DA-A9DAB243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365349-11CA-4127-AF55-453C69FD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GitHub repository; FDA/GS1 data-field logic</a:t>
            </a:r>
          </a:p>
        </p:txBody>
      </p:sp>
    </p:spTree>
    <p:extLst>
      <p:ext uri="{BB962C8B-B14F-4D97-AF65-F5344CB8AC3E}">
        <p14:creationId xmlns:p14="http://schemas.microsoft.com/office/powerpoint/2010/main" val="17250990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6689D6-316C-40A4-B9EC-6F76ABC16A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8EA40A-CAC1-4799-838B-029A3C68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TECHNICAL CAPABILITY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DB1610-DCD3-43E6-AEEF-596909825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09 /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48ADC7-B111-4FE6-A83D-D40FCD67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2ABAAA-8112-4CA4-A205-15704FC4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3573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1820"/>
                </a:solidFill>
              </a:defRPr>
            </a:pPr>
            <a:r>
              <a:rPr sz="3150" b="1">
                <a:solidFill>
                  <a:srgbClr val="121820"/>
                </a:solidFill>
              </a:rPr>
              <a:t>A working digital twin supports the ad method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7D2DBC-46DA-4245-9884-C9AF6FAC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The consumer-facing transparency layer is backed by an operational model, not a static poster.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0A7A49-740A-4B96-B430-405277B1A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24193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8D1B63-4BF8-4CB5-AA51-49C0E577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7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855E90-FA6D-463B-83C8-E4AE29E2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76500"/>
            <a:ext cx="207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FACILITIES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06FC6D-C97A-4A1B-9CCD-C12D71A6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2076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E7C72"/>
                </a:solidFill>
              </a:defRPr>
            </a:pPr>
            <a:r>
              <a:rPr sz="2325" b="1">
                <a:solidFill>
                  <a:srgbClr val="0E7C72"/>
                </a:solidFill>
              </a:rPr>
              <a:t>97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5AD72-EBD8-4437-8323-C4214C1A9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2076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728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nodes across supplier, plant, downstream, and service tiers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353774-396B-4A29-9468-2A53D4D4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05050"/>
            <a:ext cx="24193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D63EF7-9BF7-47AF-893F-411457CF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050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4A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46E917-F982-44F8-85CE-7234A5C1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76500"/>
            <a:ext cx="207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ACTIVE LINKS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DF070B-4060-4270-BEC0-FCC22C23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743200"/>
            <a:ext cx="2076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564A7"/>
                </a:solidFill>
              </a:defRPr>
            </a:pPr>
            <a:r>
              <a:rPr sz="2325" b="1">
                <a:solidFill>
                  <a:srgbClr val="3564A7"/>
                </a:solidFill>
              </a:rPr>
              <a:t>200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898545-18A2-4C6E-9805-D9F35B5E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19450"/>
            <a:ext cx="2076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728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material and distribution relationships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F5E7F0-C9EC-432B-B2A7-F69646F9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05050"/>
            <a:ext cx="24193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2F55DF-5492-4281-AB19-3831D517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050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B3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53A3F4-763B-4540-9A68-2A34FA6F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76500"/>
            <a:ext cx="207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BATCHES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CB4E99-AA49-42E1-98D7-06F5A501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43200"/>
            <a:ext cx="2076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89B35"/>
                </a:solidFill>
              </a:defRPr>
            </a:pPr>
            <a:r>
              <a:rPr sz="2325" b="1">
                <a:solidFill>
                  <a:srgbClr val="C89B35"/>
                </a:solidFill>
              </a:rPr>
              <a:t>418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50D340-AA71-4747-B201-ED6412E39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19450"/>
            <a:ext cx="2076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728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finished-goods batches with trace paths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9442D3-0C77-46CF-BA55-1EB245B3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05050"/>
            <a:ext cx="24193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29C886-B403-480B-924E-DBDE8184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05050"/>
            <a:ext cx="76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F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61EA4-8F48-463C-BF91-0F175907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476500"/>
            <a:ext cx="207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27C"/>
                </a:solidFill>
              </a:defRPr>
            </a:pPr>
            <a:r>
              <a:rPr sz="975" b="1">
                <a:solidFill>
                  <a:srgbClr val="66727C"/>
                </a:solidFill>
              </a:rPr>
              <a:t>FORECAST DAYS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A885E9-52D6-43CA-B4C3-D1CB525F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743200"/>
            <a:ext cx="2076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95F45"/>
                </a:solidFill>
              </a:defRPr>
            </a:pPr>
            <a:r>
              <a:rPr sz="2325" b="1">
                <a:solidFill>
                  <a:srgbClr val="D95F45"/>
                </a:solidFill>
              </a:rPr>
              <a:t>30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CA0B97-0B15-4FFD-9B68-6E74CD74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219450"/>
            <a:ext cx="20764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728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5414A"/>
                </a:solidFill>
              </a:defRPr>
            </a:pPr>
            <a:r>
              <a:rPr sz="1200" b="0">
                <a:solidFill>
                  <a:srgbClr val="35414A"/>
                </a:solidFill>
              </a:rPr>
              <a:t>planning horizon for demand and inventory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57250" y="4210050"/>
          <a:ext xmlns:a="http://schemas.openxmlformats.org/drawingml/2006/main" cx="4476750" cy="1619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9b9b397d1b4d17"/>
          </a:graphicData>
        </a:graphic>
      </p:graphicFrame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d2434545634ba5"/>
          <a:srcRect xmlns:a="http://schemas.openxmlformats.org/drawingml/2006/main" l="0" t="22544" r="0" b="225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76950" y="4095750"/>
            <a:ext cx="4953000" cy="1695450"/>
          </a:xfrm>
          <a:prstGeom xmlns:a="http://schemas.openxmlformats.org/drawingml/2006/main" prst="rect">
            <a:avLst/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26AF85-7A6A-4449-B70F-7C3D73FD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60A05F-26A6-4591-9F00-B0DC5AE63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CSV: technical_model_metrics.csv; local health check</a:t>
            </a:r>
          </a:p>
        </p:txBody>
      </p:sp>
    </p:spTree>
    <p:extLst>
      <p:ext uri="{BB962C8B-B14F-4D97-AF65-F5344CB8AC3E}">
        <p14:creationId xmlns:p14="http://schemas.microsoft.com/office/powerpoint/2010/main" val="12100643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6689D6-316C-40A4-B9EC-6F76ABC16A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E0A819-0C0E-4F45-8630-23CA4ECA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MERCHANT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01C837-0871-46C0-B03B-57A65863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10 /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C2FDE2-5F9A-461E-AA4E-85BF0FE6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217FA7-A36F-4729-BD5C-9A047667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0204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1820"/>
                </a:solidFill>
              </a:defRPr>
            </a:pPr>
            <a:r>
              <a:rPr sz="3150" b="1">
                <a:solidFill>
                  <a:srgbClr val="121820"/>
                </a:solidFill>
              </a:rPr>
              <a:t>Why merchants can earn more with this method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C54940-1F84-40B2-B041-2E294F38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Oasis Finder is useful to merchants because it makes premium quality easier to believe before purchase.</a:t>
            </a:r>
          </a:p>
        </p:txBody>
      </p:sp>
      <p:graphicFrame>
        <p:nvGraphicFramePr>
          <p:cNvPr id="7" name="Chart"/>
          <p:cNvGraphicFramePr/>
          <p:nvPr/>
        </p:nvGraphicFramePr>
        <p:xfrm>
          <a:off xmlns:a="http://schemas.openxmlformats.org/drawingml/2006/main" x="666750" y="2152650"/>
          <a:ext xmlns:a="http://schemas.openxmlformats.org/drawingml/2006/main" cx="4953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f84896cabfd4e5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4E37CC-F73C-4298-B495-609C56D4D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09800"/>
            <a:ext cx="4572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759C63-546A-4FD0-AFB1-3C015F724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812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2"/>
                </a:solidFill>
              </a:defRPr>
            </a:pPr>
            <a:r>
              <a:rPr sz="1800" b="1">
                <a:solidFill>
                  <a:srgbClr val="0E7C72"/>
                </a:solidFill>
              </a:rPr>
              <a:t>Conversion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C632B2-8B3E-402A-B0DB-E577EEB3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4315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0543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5414A"/>
                </a:solidFill>
              </a:defRPr>
            </a:pPr>
            <a:r>
              <a:rPr sz="1425" b="0">
                <a:solidFill>
                  <a:srgbClr val="35414A"/>
                </a:solidFill>
              </a:rPr>
              <a:t>lower uncertainty at the exact buying moment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B28FE8-381B-4766-90BA-E5724ED9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4572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0DAB8E-5E36-47A6-AA92-E1619E82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099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89B35"/>
                </a:solidFill>
              </a:defRPr>
            </a:pPr>
            <a:r>
              <a:rPr sz="1800" b="1">
                <a:solidFill>
                  <a:srgbClr val="C89B35"/>
                </a:solidFill>
              </a:rPr>
              <a:t>Premium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A6E01B-EF89-43F5-ADE0-7622C07D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7185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0543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5414A"/>
                </a:solidFill>
              </a:defRPr>
            </a:pPr>
            <a:r>
              <a:rPr sz="1425" b="0">
                <a:solidFill>
                  <a:srgbClr val="35414A"/>
                </a:solidFill>
              </a:rPr>
              <a:t>traceability is linked with WTP and perceived value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1CAD7D-B1E8-4BC0-817B-EFD6DAEF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67200"/>
            <a:ext cx="4572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CFC0B1-0C94-46AD-9D32-635502DE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386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5F45"/>
                </a:solidFill>
              </a:defRPr>
            </a:pPr>
            <a:r>
              <a:rPr sz="1800" b="1">
                <a:solidFill>
                  <a:srgbClr val="D95F45"/>
                </a:solidFill>
              </a:rPr>
              <a:t>Retention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412D29-A6EB-4D89-BF30-BBFF36C3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400550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0543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35414A"/>
                </a:solidFill>
              </a:defRPr>
            </a:pPr>
            <a:r>
              <a:rPr sz="1425" b="0">
                <a:solidFill>
                  <a:srgbClr val="35414A"/>
                </a:solidFill>
              </a:rPr>
              <a:t>clearer evidence supports repeat intention and fewer disputes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B7BEB7-4237-4897-9477-7EDAD2FE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429250"/>
            <a:ext cx="7715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356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A4D644-5331-46C4-8DC1-C63EC1C1B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581650"/>
            <a:ext cx="7372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Use as ad copy: "scan the product journey, not just the package."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91C915-CE82-4914-9C79-E2236CE7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663892-1DA4-486C-976E-1AC8AD16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CSV: merchant_value_index.csv; Tran et al. (2024)</a:t>
            </a:r>
          </a:p>
        </p:txBody>
      </p:sp>
    </p:spTree>
    <p:extLst>
      <p:ext uri="{BB962C8B-B14F-4D97-AF65-F5344CB8AC3E}">
        <p14:creationId xmlns:p14="http://schemas.microsoft.com/office/powerpoint/2010/main" val="6765260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6689D6-316C-40A4-B9EC-6F76ABC16A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CB05F-C6E2-417C-AC3A-6C1637B0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PILOT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E734F8-E38E-4A69-AFBB-7CD8D486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11 /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6F4B64-B8F5-4AD1-936C-47C656176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8FF5C-B101-449D-AADA-E9A2EC15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001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21820"/>
                </a:solidFill>
              </a:defRPr>
            </a:pPr>
            <a:r>
              <a:rPr sz="3150" b="1">
                <a:solidFill>
                  <a:srgbClr val="121820"/>
                </a:solidFill>
              </a:rPr>
              <a:t>Next proof: merchant A/B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B82682-45C8-47FD-B11E-3690E450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5414A"/>
                </a:solidFill>
              </a:defRPr>
            </a:pPr>
            <a:r>
              <a:rPr sz="1650" b="0">
                <a:solidFill>
                  <a:srgbClr val="35414A"/>
                </a:solidFill>
              </a:rPr>
              <a:t>After the questionnaire signal, the next step is a real product-page experiment that links transparency to purchase behavior.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90FF40-858E-4D16-ABA5-0DB8AB50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4762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53BBEF-7391-4200-BB5A-9B747B4D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71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C72"/>
                </a:solidFill>
              </a:defRPr>
            </a:pPr>
            <a:r>
              <a:rPr sz="1800" b="1">
                <a:solidFill>
                  <a:srgbClr val="0E7C72"/>
                </a:solidFill>
              </a:rPr>
              <a:t>Test setup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FE4B13-608F-4742-8D38-C24AA7BE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146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Same product, same price, two product pages: baseline page versus Oasis Finder evidence page.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F37B0A-BB2C-478B-8A46-C5A415F2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00300"/>
            <a:ext cx="4762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BAA300-2F02-4A8A-98C2-1A4AED9A4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71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564A7"/>
                </a:solidFill>
              </a:defRPr>
            </a:pPr>
            <a:r>
              <a:rPr sz="1800" b="1">
                <a:solidFill>
                  <a:srgbClr val="3564A7"/>
                </a:solidFill>
              </a:rPr>
              <a:t>Product cells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03741-553E-4992-AB81-ED9159DD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146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Cake, seafood, meat, dairy, and ready-to-eat meals because freshness and safety concerns are high.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B14B-3214-4F38-ADBD-F2B9CEC1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24300"/>
            <a:ext cx="4762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D55B17-7017-4D3C-83B3-07EFAF42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9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89B35"/>
                </a:solidFill>
              </a:defRPr>
            </a:pPr>
            <a:r>
              <a:rPr sz="1800" b="1">
                <a:solidFill>
                  <a:srgbClr val="C89B35"/>
                </a:solidFill>
              </a:rPr>
              <a:t>Outcome metrics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C08E68-4A9E-455C-A804-ECF7D885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386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QR scan rate, evidence-panel clicks, add-to-cart, purchase conversion, willingness-to-pay, repeat intent.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6B4D50-5A40-4778-B012-B747D857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24300"/>
            <a:ext cx="4762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DE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D3BD4E-C0A3-45C4-9D0E-4E4A677E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9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5F45"/>
                </a:solidFill>
              </a:defRPr>
            </a:pPr>
            <a:r>
              <a:rPr sz="1800" b="1">
                <a:solidFill>
                  <a:srgbClr val="D95F45"/>
                </a:solidFill>
              </a:rPr>
              <a:t>Decision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458001-0896-482F-9537-DECEBCFC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38650"/>
            <a:ext cx="4171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5414A"/>
                </a:solidFill>
              </a:defRPr>
            </a:pPr>
            <a:r>
              <a:rPr sz="1350" b="0">
                <a:solidFill>
                  <a:srgbClr val="35414A"/>
                </a:solidFill>
              </a:rPr>
              <a:t>Adopt the method when purchase lift and trust lift both improve without increasing confusion.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F89973-31B0-4C4C-BA55-75422E63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676900"/>
            <a:ext cx="96012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6FAFA"/>
          </a:solidFill>
          <a:ln xmlns:a="http://schemas.openxmlformats.org/drawingml/2006/main" w="14288">
            <a:solidFill>
              <a:srgbClr val="0E7C7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CFF2A8-1C1E-4DB6-811F-32E3C838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829300"/>
            <a:ext cx="9258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82464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21820"/>
                </a:solidFill>
              </a:defRPr>
            </a:pPr>
            <a:r>
              <a:rPr sz="1575" b="1">
                <a:solidFill>
                  <a:srgbClr val="121820"/>
                </a:solidFill>
              </a:rPr>
              <a:t>Commercial validation target: prove that inspectable supply-chain evidence changes real purchase behavior, not only stated preference.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B3AF4C-1EFD-4798-B70A-03A1E623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14AB21-6F97-47AE-9DFB-F948B59E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649605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788" b="0">
                <a:solidFill>
                  <a:srgbClr val="66727C"/>
                </a:solidFill>
              </a:defRPr>
            </a:pPr>
            <a:r>
              <a:rPr sz="788" b="0">
                <a:solidFill>
                  <a:srgbClr val="66727C"/>
                </a:solidFill>
              </a:rPr>
              <a:t>Pilot metrics prepared for CSV event export</a:t>
            </a:r>
          </a:p>
        </p:txBody>
      </p:sp>
    </p:spTree>
    <p:extLst>
      <p:ext uri="{BB962C8B-B14F-4D97-AF65-F5344CB8AC3E}">
        <p14:creationId xmlns:p14="http://schemas.microsoft.com/office/powerpoint/2010/main" val="16383262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86689D6-316C-40A4-B9EC-6F76ABC16A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2FAE95-AD61-41E0-BA3A-D1CA367CB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533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C72"/>
                </a:solidFill>
              </a:defRPr>
            </a:pPr>
            <a:r>
              <a:rPr sz="1125" b="1">
                <a:solidFill>
                  <a:srgbClr val="0E7C72"/>
                </a:solidFill>
              </a:rPr>
              <a:t>APA 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A1E399-5BF4-4E55-9517-2142B488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47650"/>
            <a:ext cx="990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27C"/>
                </a:solidFill>
              </a:defRPr>
            </a:pPr>
            <a:r>
              <a:rPr sz="1125" b="1">
                <a:solidFill>
                  <a:srgbClr val="66727C"/>
                </a:solidFill>
              </a:rPr>
              <a:t>12 /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5AB06B-0CEB-4A18-AF67-3EE2D442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15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4BE72A-432C-486F-8715-0453B87B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57250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21820"/>
                </a:solidFill>
              </a:defRPr>
            </a:pPr>
            <a:r>
              <a:rPr sz="3000" b="1">
                <a:solidFill>
                  <a:srgbClr val="121820"/>
                </a:solidFill>
              </a:rPr>
              <a:t>References and closing claim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430344-56CF-44E9-A952-937F9139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98474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5414A"/>
                </a:solidFill>
              </a:defRPr>
            </a:pPr>
            <a:r>
              <a:rPr sz="1575" b="0">
                <a:solidFill>
                  <a:srgbClr val="35414A"/>
                </a:solidFill>
              </a:rPr>
              <a:t>Oasis Finder is a transparent-commerce method: open code, clear fields, and inspectable product evidence.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F891E6-C1C9-4697-994F-812BF5D6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1038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35414A"/>
                </a:solidFill>
              </a:defRPr>
            </a:pPr>
            <a:r>
              <a:rPr sz="1088" b="0">
                <a:solidFill>
                  <a:srgbClr val="35414A"/>
                </a:solidFill>
              </a:rPr>
              <a:t>Ge, L. (2022). To buy or not to buy? A research on the relationship between traceable food extrinsic cues and consumers' purchase intention. Frontiers in Psychology, 13, 873941. https://doi.org/10.3389/fpsyg.2022.873941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41F686-936E-4DDD-8C29-2EB67FEB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1038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35414A"/>
                </a:solidFill>
              </a:defRPr>
            </a:pPr>
            <a:r>
              <a:rPr sz="1088" b="0">
                <a:solidFill>
                  <a:srgbClr val="35414A"/>
                </a:solidFill>
              </a:rPr>
              <a:t>Tran, D., Schouteten, J. J., Gellynck, X., &amp; De Steur, H. (2024). How do consumers value food traceability? A meta-analysis. Food Control, 162, 110453. https://doi.org/10.1016/j.foodcont.2024.110453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F57704-4BD7-404E-B7CB-7F7F428C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38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35414A"/>
                </a:solidFill>
              </a:defRPr>
            </a:pPr>
            <a:r>
              <a:rPr sz="1088" b="0">
                <a:solidFill>
                  <a:srgbClr val="35414A"/>
                </a:solidFill>
              </a:rPr>
              <a:t>Wang, E. S.-T., Lin, H.-C., &amp; Tsai, M.-C. (2021). Effect of institutional trust on consumers' health and safety perceptions and repurchase intention for traceable fresh food. Foods, 10(12), 2898. https://doi.org/10.3390/foods10122898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04ECE8-E340-45CE-8F31-C11C91C77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76650"/>
            <a:ext cx="1038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35414A"/>
                </a:solidFill>
              </a:defRPr>
            </a:pPr>
            <a:r>
              <a:rPr sz="1088" b="0">
                <a:solidFill>
                  <a:srgbClr val="35414A"/>
                </a:solidFill>
              </a:rPr>
              <a:t>Badia-Melis, R., Mishra, P., &amp; Ruiz-García, L. (2015). Food traceability: New trends and recent advances. Food Control, 57, 393-401. https://doi.org/10.1016/j.foodcont.2015.05.005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48704D-B60B-423B-BCFD-19056319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1038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35414A"/>
                </a:solidFill>
              </a:defRPr>
            </a:pPr>
            <a:r>
              <a:rPr sz="1088" b="0">
                <a:solidFill>
                  <a:srgbClr val="35414A"/>
                </a:solidFill>
              </a:rPr>
              <a:t>World Economic Forum. (2019). Innovation with a purpose: Improving traceability in food value chains through technology innovations. https://www.weforum.org/publications/innovation-with-a-purpose-improving-traceability-in-food-value-chains-through-technology-innovations/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07764E-18C7-432B-BF04-180CFFCBA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29150"/>
            <a:ext cx="1038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35414A"/>
                </a:solidFill>
              </a:defRPr>
            </a:pPr>
            <a:r>
              <a:rPr sz="1088" b="0">
                <a:solidFill>
                  <a:srgbClr val="35414A"/>
                </a:solidFill>
              </a:rPr>
              <a:t>U.S. Food and Drug Administration. (2024). Food Traceability Rule: Critical Tracking Events and Key Data Elements. https://www.fda.gov/food/food-safety-modernization-act-fsma/fsma-proposed-rule-food-traceability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2AA27F-38A1-4674-B5CC-663E864C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05400"/>
            <a:ext cx="10382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35414A"/>
                </a:solidFill>
              </a:defRPr>
            </a:pPr>
            <a:r>
              <a:rPr sz="1088" b="0">
                <a:solidFill>
                  <a:srgbClr val="35414A"/>
                </a:solidFill>
              </a:rPr>
              <a:t>GS1. (n.d.). Traceability standards: Critical Tracking Events and Key Data Elements. https://www.gs1.org/standards/traceability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B4EA25-AD6B-407C-BEA6-27936943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43600"/>
            <a:ext cx="990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21820"/>
                </a:solidFill>
              </a:defRPr>
            </a:pPr>
            <a:r>
              <a:rPr sz="1800" b="1">
                <a:solidFill>
                  <a:srgbClr val="121820"/>
                </a:solidFill>
              </a:rPr>
              <a:t>Final line: We do not ask users to trust a slogan. We let them inspect the chain behind the product.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69BCBD-2F24-46C5-8BA6-84DC8F61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619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7C"/>
                </a:solidFill>
              </a:defRPr>
            </a:pPr>
            <a:r>
              <a:rPr sz="825" b="0">
                <a:solidFill>
                  <a:srgbClr val="66727C"/>
                </a:solidFill>
              </a:rPr>
              <a:t>Group 9 | Rui Huang and Zixiu Wang | 8-minute presentation</a:t>
            </a:r>
          </a:p>
        </p:txBody>
      </p:sp>
    </p:spTree>
    <p:extLst>
      <p:ext uri="{BB962C8B-B14F-4D97-AF65-F5344CB8AC3E}">
        <p14:creationId xmlns:p14="http://schemas.microsoft.com/office/powerpoint/2010/main" val="2511299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2026-04-28T04:31:22.4710000Z</dcterms:created>
  <dcterms:modified xsi:type="dcterms:W3CDTF">2026-04-28T04:31:22.4710000Z</dcterms:modified>
</coreProperties>
</file>