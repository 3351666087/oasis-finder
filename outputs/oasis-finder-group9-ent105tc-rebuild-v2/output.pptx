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2b556752a248e9" /><Relationship Type="http://schemas.openxmlformats.org/officeDocument/2006/relationships/extended-properties" Target="/docProps/app.xml" Id="R54a263e6193e4831" /><Relationship Type="http://schemas.openxmlformats.org/officeDocument/2006/relationships/officeDocument" Target="/ppt/presentation.xml" Id="R4217404abbc44c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545d17bf0b463d"/>
  </p:sldMasterIdLst>
  <p:notesMasterIdLst>
    <p:notesMasterId xmlns:r="http://schemas.openxmlformats.org/officeDocument/2006/relationships" r:id="Rdb986922659c460b"/>
  </p:notesMasterIdLst>
  <p:sldIdLst>
    <p:sldId xmlns:r="http://schemas.openxmlformats.org/officeDocument/2006/relationships" id="256" r:id="R0880e8c0ede54d1b"/>
    <p:sldId xmlns:r="http://schemas.openxmlformats.org/officeDocument/2006/relationships" id="257" r:id="Rad0aad5857ef4897"/>
    <p:sldId xmlns:r="http://schemas.openxmlformats.org/officeDocument/2006/relationships" id="258" r:id="Raf13d52fd9e84ccf"/>
    <p:sldId xmlns:r="http://schemas.openxmlformats.org/officeDocument/2006/relationships" id="259" r:id="R2a4d790d6d464b76"/>
    <p:sldId xmlns:r="http://schemas.openxmlformats.org/officeDocument/2006/relationships" id="260" r:id="R6ca7fa791ee54d4c"/>
    <p:sldId xmlns:r="http://schemas.openxmlformats.org/officeDocument/2006/relationships" id="261" r:id="R0ab37af69a3e4bfa"/>
    <p:sldId xmlns:r="http://schemas.openxmlformats.org/officeDocument/2006/relationships" id="262" r:id="Rc586b22c6c8b4ccb"/>
    <p:sldId xmlns:r="http://schemas.openxmlformats.org/officeDocument/2006/relationships" id="263" r:id="R935a1d128b234c7a"/>
    <p:sldId xmlns:r="http://schemas.openxmlformats.org/officeDocument/2006/relationships" id="264" r:id="R23b93a3e61aa4342"/>
    <p:sldId xmlns:r="http://schemas.openxmlformats.org/officeDocument/2006/relationships" id="265" r:id="Rff96ac987ff04ba0"/>
    <p:sldId xmlns:r="http://schemas.openxmlformats.org/officeDocument/2006/relationships" id="266" r:id="R43e9e405eda94410"/>
    <p:sldId xmlns:r="http://schemas.openxmlformats.org/officeDocument/2006/relationships" id="267" r:id="Rdeb8a8d232534d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45d17bf0b463d" /><Relationship Type="http://schemas.openxmlformats.org/officeDocument/2006/relationships/theme" Target="/ppt/theme/theme1.xml" Id="Rb5b9efc375e64d08" /><Relationship Type="http://schemas.openxmlformats.org/officeDocument/2006/relationships/notesMaster" Target="/ppt/notesMasters/notesMaster1.xml" Id="Rdb986922659c460b" /><Relationship Type="http://schemas.openxmlformats.org/officeDocument/2006/relationships/presProps" Target="/ppt/presProps.xml" Id="R676494f41ae84765" /><Relationship Type="http://schemas.openxmlformats.org/officeDocument/2006/relationships/viewProps" Target="/ppt/viewProps.xml" Id="R2a7eca420f1b4b04" /><Relationship Type="http://schemas.openxmlformats.org/officeDocument/2006/relationships/tableStyles" Target="/ppt/tableStyles.xml" Id="Rb736b265863a47f9" /><Relationship Type="http://schemas.openxmlformats.org/officeDocument/2006/relationships/slide" Target="/ppt/slides/slide1.xml" Id="R0880e8c0ede54d1b" /><Relationship Type="http://schemas.openxmlformats.org/officeDocument/2006/relationships/slide" Target="/ppt/slides/slide2.xml" Id="Rad0aad5857ef4897" /><Relationship Type="http://schemas.openxmlformats.org/officeDocument/2006/relationships/slide" Target="/ppt/slides/slide3.xml" Id="Raf13d52fd9e84ccf" /><Relationship Type="http://schemas.openxmlformats.org/officeDocument/2006/relationships/slide" Target="/ppt/slides/slide4.xml" Id="R2a4d790d6d464b76" /><Relationship Type="http://schemas.openxmlformats.org/officeDocument/2006/relationships/slide" Target="/ppt/slides/slide5.xml" Id="R6ca7fa791ee54d4c" /><Relationship Type="http://schemas.openxmlformats.org/officeDocument/2006/relationships/slide" Target="/ppt/slides/slide6.xml" Id="R0ab37af69a3e4bfa" /><Relationship Type="http://schemas.openxmlformats.org/officeDocument/2006/relationships/slide" Target="/ppt/slides/slide7.xml" Id="Rc586b22c6c8b4ccb" /><Relationship Type="http://schemas.openxmlformats.org/officeDocument/2006/relationships/slide" Target="/ppt/slides/slide8.xml" Id="R935a1d128b234c7a" /><Relationship Type="http://schemas.openxmlformats.org/officeDocument/2006/relationships/slide" Target="/ppt/slides/slide9.xml" Id="R23b93a3e61aa4342" /><Relationship Type="http://schemas.openxmlformats.org/officeDocument/2006/relationships/slide" Target="/ppt/slides/slide10.xml" Id="Rff96ac987ff04ba0" /><Relationship Type="http://schemas.openxmlformats.org/officeDocument/2006/relationships/slide" Target="/ppt/slides/slide11.xml" Id="R43e9e405eda94410" /><Relationship Type="http://schemas.openxmlformats.org/officeDocument/2006/relationships/slide" Target="/ppt/slides/slide12.xml" Id="Rdeb8a8d232534d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890f16f20e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201d444924748" /><Relationship Type="http://schemas.openxmlformats.org/officeDocument/2006/relationships/notesMaster" Target="/ppt/notesMasters/notesMaster1.xml" Id="R9c3daa3b04914b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b542c130ba40c0" /><Relationship Type="http://schemas.openxmlformats.org/officeDocument/2006/relationships/notesMaster" Target="/ppt/notesMasters/notesMaster1.xml" Id="R92f30112055348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8d09b07c7840e6" /><Relationship Type="http://schemas.openxmlformats.org/officeDocument/2006/relationships/notesMaster" Target="/ppt/notesMasters/notesMaster1.xml" Id="Radaaf63daf3d4b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f7c48d53e0471c" /><Relationship Type="http://schemas.openxmlformats.org/officeDocument/2006/relationships/notesMaster" Target="/ppt/notesMasters/notesMaster1.xml" Id="R96e90e128fc44b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b2bd486c554942" /><Relationship Type="http://schemas.openxmlformats.org/officeDocument/2006/relationships/notesMaster" Target="/ppt/notesMasters/notesMaster1.xml" Id="Re152ab803d3c4b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9fa70942a649c4" /><Relationship Type="http://schemas.openxmlformats.org/officeDocument/2006/relationships/notesMaster" Target="/ppt/notesMasters/notesMaster1.xml" Id="Rc6ffc9e600cc40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9b7054bf0e4eb1" /><Relationship Type="http://schemas.openxmlformats.org/officeDocument/2006/relationships/notesMaster" Target="/ppt/notesMasters/notesMaster1.xml" Id="R6bb24b29ee4d4c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1e1a4bc0334d40" /><Relationship Type="http://schemas.openxmlformats.org/officeDocument/2006/relationships/notesMaster" Target="/ppt/notesMasters/notesMaster1.xml" Id="R2d61e566697446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e671fb17684be9" /><Relationship Type="http://schemas.openxmlformats.org/officeDocument/2006/relationships/notesMaster" Target="/ppt/notesMasters/notesMaster1.xml" Id="R743a0ec515204f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9ba29ddfbc44dc" /><Relationship Type="http://schemas.openxmlformats.org/officeDocument/2006/relationships/notesMaster" Target="/ppt/notesMasters/notesMaster1.xml" Id="R5e4529328f6f45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95e7c81da94332" /><Relationship Type="http://schemas.openxmlformats.org/officeDocument/2006/relationships/notesMaster" Target="/ppt/notesMasters/notesMaster1.xml" Id="R41b203b095f54a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99719b63254231" /><Relationship Type="http://schemas.openxmlformats.org/officeDocument/2006/relationships/notesMaster" Target="/ppt/notesMasters/notesMaster1.xml" Id="R30c1afda80404f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Opening. Reframe Oasis Finder as a commercial transparency method: merchants show supply-chain structure and evidence so users feel safer and are more likely to buy.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explain the revised premise. We are testing purchase probability after a merchant shows supply-chain structure. Do not claim a precise sample statistic unless raw survey data is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Group 9 internal questionnaire direction (2026); raw response file is not stored in this repository, so charts are treated as directional evidence rather than population statistics.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explain why merchants would pay for this method. It is a marketing tool because traceable information quality and certification credibility affect perceived risk, perceived value, and purchase intention.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connect this to teacher feedback. The product layer must show exactly what variables appear when the user clicks a node. Mention FDA CTE/KDE logic and GS1 traceability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tell the build story. We started with a broad transparency idea, used research to narrow it, built the data foundation, and then added the click-to-inspect product evidence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  <a:p xmlns:a="http://schemas.openxmlformats.org/drawingml/2006/main">
            <a:r>
              <a:t>- Badia-Melis, R., Mishra, P., &amp; Ruiz-García, L. (2015). Food traceability: New trends and recent advances. Food Control, 57, 393-401. https://doi.org/10.1016/j.foodcont.2015.05.005</a:t>
            </a:r>
          </a:p>
          <a:p xmlns:a="http://schemas.openxmlformats.org/drawingml/2006/main">
            <a:r>
              <a:t>- World Economic Forum. (2019). Innovation with a purpose: Improving traceability in food value chains through technology innovations. https://www.weforum.org/publications/innovation-with-a-purpose-improving-traceability-in-food-value-chains-through-technology-innovations/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present this as commercialization. The screenshot is not a tutorial; it is proof that the sales page can surface trust evidence. The chart is an index model for the pitch, not a guaranteed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this is the sales packaging slide. Do not explain controls. Sell the trust layer as Starter, Pro, and Enterprise packages.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this slide replaces tutorial pages. It shows the current product state and the commercial proof of readiness: customer route, merchant editor, and packaged demo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show that the sales promise is backed by product data, a route graph, and a merchant editor. Mention 97 facilities, 200 links, 418 batches, and the packaged fallback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this slide answers why merchants gain. It is an indexed value model, not a guaranteed financial forecast. Tie it to WTP, purchase intention, perceived risk, and perceived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future-validation slide. It replaces the internal speaking-flow page, which is not useful for assessors. Explain that the project can move from stated preference to merchant A/B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Group 9 internal questionnaire direction (2026); raw response file is not stored in this repository, so charts are treated as directional evidence rather than population statistics.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Closing. State the final line slowly, then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  <a:p xmlns:a="http://schemas.openxmlformats.org/drawingml/2006/main">
            <a:r>
              <a:t>- 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  <a:p xmlns:a="http://schemas.openxmlformats.org/drawingml/2006/main">
            <a:r>
              <a:t>- Badia-Melis, R., Mishra, P., &amp; Ruiz-García, L. (2015). Food traceability: New trends and recent advances. Food Control, 57, 393-401. https://doi.org/10.1016/j.foodcont.2015.05.005</a:t>
            </a:r>
          </a:p>
          <a:p xmlns:a="http://schemas.openxmlformats.org/drawingml/2006/main">
            <a:r>
              <a:t>- World Economic Forum. (2019). Innovation with a purpose: Improving traceability in food value chains through technology innovations. https://www.weforum.org/publications/innovation-with-a-purpose-improving-traceability-in-food-value-chains-through-technology-innovations/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60fc514f94d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7EA0B2B6-B238-46B3-96D1-5146070E92C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7120C72-AE81-4980-8C86-6E67D76E864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9F083A-D853-441F-AEAA-27147EA3DE3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96ED42-BF99-4E85-8B5E-F266E29F292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9407b7dd057442d" /><Relationship Type="http://schemas.openxmlformats.org/officeDocument/2006/relationships/slideLayout" Target="/ppt/slideLayouts/slideLayout2.xml" Id="R35d01c4d78c54a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5A4EC4-D667-4ABC-A643-9A67D0F3798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01c4d78c54a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535c2bfdb341a6" /><Relationship Type="http://schemas.openxmlformats.org/officeDocument/2006/relationships/notesSlide" Target="/ppt/notesSlides/notesSlide1.xml" Id="R28b5c0303aff45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e30f69ceff4978" /><Relationship Type="http://schemas.openxmlformats.org/officeDocument/2006/relationships/chart" Target="/ppt/slides/charts/chart1.xml" Id="R708db12dc2aa49e1" /><Relationship Type="http://schemas.openxmlformats.org/officeDocument/2006/relationships/notesSlide" Target="/ppt/notesSlides/notesSlide2.xml" Id="Rb48c5341641341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e823d19571455e" /><Relationship Type="http://schemas.openxmlformats.org/officeDocument/2006/relationships/notesSlide" Target="/ppt/notesSlides/notesSlide3.xml" Id="Rb0954621b1cf47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abed418a054138" /><Relationship Type="http://schemas.openxmlformats.org/officeDocument/2006/relationships/notesSlide" Target="/ppt/notesSlides/notesSlide4.xml" Id="R0c475438f36f4b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c8c0653b214363" /><Relationship Type="http://schemas.openxmlformats.org/officeDocument/2006/relationships/notesSlide" Target="/ppt/notesSlides/notesSlide5.xml" Id="R9c32a37b8e2241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d5207366a34dfe" /><Relationship Type="http://schemas.openxmlformats.org/officeDocument/2006/relationships/image" Target="/ppt/media/image.png" Id="R44e3f269483e42a5" /><Relationship Type="http://schemas.openxmlformats.org/officeDocument/2006/relationships/chart" Target="/ppt/slides/charts/chart2.xml" Id="R98394c58fe224d37" /><Relationship Type="http://schemas.openxmlformats.org/officeDocument/2006/relationships/notesSlide" Target="/ppt/notesSlides/notesSlide6.xml" Id="R8951334274274e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45e555f1dd4fba" /><Relationship Type="http://schemas.openxmlformats.org/officeDocument/2006/relationships/chart" Target="/ppt/slides/charts/chart3.xml" Id="Ra5009c8695fa4e85" /><Relationship Type="http://schemas.openxmlformats.org/officeDocument/2006/relationships/notesSlide" Target="/ppt/notesSlides/notesSlide7.xml" Id="Rf92b698803f848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be287edc874ab9" /><Relationship Type="http://schemas.openxmlformats.org/officeDocument/2006/relationships/image" Target="/ppt/media/image2.png" Id="R27bc35a825224b3e" /><Relationship Type="http://schemas.openxmlformats.org/officeDocument/2006/relationships/image" Target="/ppt/media/image3.png" Id="Rd27eee4bc5324f5a" /><Relationship Type="http://schemas.openxmlformats.org/officeDocument/2006/relationships/notesSlide" Target="/ppt/notesSlides/notesSlide8.xml" Id="R4dc8f58c22ed48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95cadc4434e24" /><Relationship Type="http://schemas.openxmlformats.org/officeDocument/2006/relationships/chart" Target="/ppt/slides/charts/chart4.xml" Id="R54f3fb1ec75e4fb4" /><Relationship Type="http://schemas.openxmlformats.org/officeDocument/2006/relationships/image" Target="/ppt/media/image4.png" Id="R6e78ede19a9746cf" /><Relationship Type="http://schemas.openxmlformats.org/officeDocument/2006/relationships/notesSlide" Target="/ppt/notesSlides/notesSlide9.xml" Id="R7a2843154d5242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46e4c9648437b" /><Relationship Type="http://schemas.openxmlformats.org/officeDocument/2006/relationships/chart" Target="/ppt/slides/charts/chart5.xml" Id="R6fb343cceab24845" /><Relationship Type="http://schemas.openxmlformats.org/officeDocument/2006/relationships/notesSlide" Target="/ppt/notesSlides/notesSlide10.xml" Id="Rb4ed1241f5a743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689962f3fa4e39" /><Relationship Type="http://schemas.openxmlformats.org/officeDocument/2006/relationships/notesSlide" Target="/ppt/notesSlides/notesSlide11.xml" Id="Raef03d6aaf334f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28bbe045940a8" /><Relationship Type="http://schemas.openxmlformats.org/officeDocument/2006/relationships/notesSlide" Target="/ppt/notesSlides/notesSlide12.xml" Id="Ree2ed19c548c4d24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Relative buying-lift signal</c:v>
          </c:tx>
          <c:spPr>
            <a:solidFill xmlns:a="http://schemas.openxmlformats.org/drawingml/2006/main">
              <a:srgbClr val="0E7C72"/>
            </a:solidFill>
            <a:ln xmlns:a="http://schemas.openxmlformats.org/drawingml/2006/main" w="14288">
              <a:solidFill>
                <a:srgbClr val="0E7C72"/>
              </a:solidFill>
              <a:prstDash val="solid"/>
            </a:ln>
          </c:spPr>
          <c:cat>
            <c:strLit>
              <c:ptCount val="6"/>
              <c:pt idx="0">
                <c:v>Cake</c:v>
              </c:pt>
              <c:pt idx="1">
                <c:v>Seafood</c:v>
              </c:pt>
              <c:pt idx="2">
                <c:v>Meat</c:v>
              </c:pt>
              <c:pt idx="3">
                <c:v>Dairy</c:v>
              </c:pt>
              <c:pt idx="4">
                <c:v>Ready meal</c:v>
              </c:pt>
              <c:pt idx="5">
                <c:v>Beverage</c:v>
              </c:pt>
            </c:strLit>
          </c:cat>
          <c:val>
            <c:numLit>
              <c:formatCode/>
              <c:ptCount val="6"/>
              <c:pt idx="0">
                <c:v>4.8</c:v>
              </c:pt>
              <c:pt idx="1">
                <c:v>4.7</c:v>
              </c:pt>
              <c:pt idx="2">
                <c:v>4.6</c:v>
              </c:pt>
              <c:pt idx="3">
                <c:v>4.4</c:v>
              </c:pt>
              <c:pt idx="4">
                <c:v>4.2</c:v>
              </c:pt>
              <c:pt idx="5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Relative conversion index</c:v>
          </c:tx>
          <c:spPr>
            <a:solidFill xmlns:a="http://schemas.openxmlformats.org/drawingml/2006/main">
              <a:srgbClr val="0E7C72"/>
            </a:solidFill>
            <a:ln xmlns:a="http://schemas.openxmlformats.org/drawingml/2006/main" w="11430">
              <a:solidFill>
                <a:srgbClr val="0E7C72"/>
              </a:solidFill>
              <a:prstDash val="solid"/>
            </a:ln>
          </c:spPr>
          <c:cat>
            <c:strLit>
              <c:ptCount val="4"/>
              <c:pt idx="0">
                <c:v>Baseline page</c:v>
              </c:pt>
              <c:pt idx="1">
                <c:v>Proof page</c:v>
              </c:pt>
              <c:pt idx="2">
                <c:v>Proof + QR</c:v>
              </c:pt>
              <c:pt idx="3">
                <c:v>Proof + media</c:v>
              </c:pt>
            </c:strLit>
          </c:cat>
          <c:val>
            <c:numLit>
              <c:formatCode/>
              <c:ptCount val="4"/>
              <c:pt idx="0">
                <c:v>100</c:v>
              </c:pt>
              <c:pt idx="1">
                <c:v>111</c:v>
              </c:pt>
              <c:pt idx="2">
                <c:v>116</c:v>
              </c:pt>
              <c:pt idx="3">
                <c:v>121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bar"/>
        <c:varyColors val="0"/>
        <c:ser>
          <c:idx val="0"/>
          <c:order val="0"/>
          <c:tx>
            <c:v>Starter</c:v>
          </c:tx>
          <c:spPr>
            <a:solidFill xmlns:a="http://schemas.openxmlformats.org/drawingml/2006/main">
              <a:srgbClr val="0E7C72"/>
            </a:solidFill>
          </c:spPr>
          <c:cat>
            <c:strLit>
              <c:ptCount val="3"/>
              <c:pt idx="0">
                <c:v>Setup effort</c:v>
              </c:pt>
              <c:pt idx="1">
                <c:v>Trust impact</c:v>
              </c:pt>
              <c:pt idx="2">
                <c:v>Enterprise fit</c:v>
              </c:pt>
            </c:strLit>
          </c:cat>
          <c:val>
            <c:numLit>
              <c:formatCode/>
              <c:ptCount val="3"/>
              <c:pt idx="0">
                <c:v>35</c:v>
              </c:pt>
              <c:pt idx="1">
                <c:v>62</c:v>
              </c:pt>
              <c:pt idx="2">
                <c:v>30</c:v>
              </c:pt>
            </c:numLit>
          </c:val>
        </c:ser>
        <c:ser>
          <c:idx val="1"/>
          <c:order val="1"/>
          <c:tx>
            <c:v>Pro</c:v>
          </c:tx>
          <c:spPr>
            <a:solidFill xmlns:a="http://schemas.openxmlformats.org/drawingml/2006/main">
              <a:srgbClr val="C89B35"/>
            </a:solidFill>
          </c:spPr>
          <c:cat>
            <c:strLit>
              <c:ptCount val="3"/>
              <c:pt idx="0">
                <c:v>Setup effort</c:v>
              </c:pt>
              <c:pt idx="1">
                <c:v>Trust impact</c:v>
              </c:pt>
              <c:pt idx="2">
                <c:v>Enterprise fit</c:v>
              </c:pt>
            </c:strLit>
          </c:cat>
          <c:val>
            <c:numLit>
              <c:formatCode/>
              <c:ptCount val="3"/>
              <c:pt idx="0">
                <c:v>58</c:v>
              </c:pt>
              <c:pt idx="1">
                <c:v>86</c:v>
              </c:pt>
              <c:pt idx="2">
                <c:v>62</c:v>
              </c:pt>
            </c:numLit>
          </c:val>
        </c:ser>
        <c:ser>
          <c:idx val="2"/>
          <c:order val="2"/>
          <c:tx>
            <c:v>Enterprise</c:v>
          </c:tx>
          <c:spPr>
            <a:solidFill xmlns:a="http://schemas.openxmlformats.org/drawingml/2006/main">
              <a:srgbClr val="D95F45"/>
            </a:solidFill>
          </c:spPr>
          <c:cat>
            <c:strLit>
              <c:ptCount val="3"/>
              <c:pt idx="0">
                <c:v>Setup effort</c:v>
              </c:pt>
              <c:pt idx="1">
                <c:v>Trust impact</c:v>
              </c:pt>
              <c:pt idx="2">
                <c:v>Enterprise fit</c:v>
              </c:pt>
            </c:strLit>
          </c:cat>
          <c:val>
            <c:numLit>
              <c:formatCode/>
              <c:ptCount val="3"/>
              <c:pt idx="0">
                <c:v>82</c:v>
              </c:pt>
              <c:pt idx="1">
                <c:v>94</c:v>
              </c:pt>
              <c:pt idx="2">
                <c:v>96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Model metric</c:v>
          </c:tx>
          <c:spPr>
            <a:solidFill xmlns:a="http://schemas.openxmlformats.org/drawingml/2006/main">
              <a:srgbClr val="3564A7"/>
            </a:solidFill>
          </c:spPr>
          <c:cat>
            <c:strLit>
              <c:ptCount val="3"/>
              <c:pt idx="0">
                <c:v>Risk RMSE</c:v>
              </c:pt>
              <c:pt idx="1">
                <c:v>Risk MAE</c:v>
              </c:pt>
              <c:pt idx="2">
                <c:v>Forecast MAPE</c:v>
              </c:pt>
            </c:strLit>
          </c:cat>
          <c:val>
            <c:numLit>
              <c:formatCode/>
              <c:ptCount val="3"/>
              <c:pt idx="0">
                <c:v>5.83</c:v>
              </c:pt>
              <c:pt idx="1">
                <c:v>4.65</c:v>
              </c:pt>
              <c:pt idx="2">
                <c:v>4.81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Indexed merchant value</c:v>
          </c:tx>
          <c:spPr>
            <a:solidFill xmlns:a="http://schemas.openxmlformats.org/drawingml/2006/main">
              <a:srgbClr val="0E7C72"/>
            </a:solidFill>
          </c:spPr>
          <c:cat>
            <c:strLit>
              <c:ptCount val="4"/>
              <c:pt idx="0">
                <c:v>Baseline</c:v>
              </c:pt>
              <c:pt idx="1">
                <c:v>+ conversion</c:v>
              </c:pt>
              <c:pt idx="2">
                <c:v>+ premium trust</c:v>
              </c:pt>
              <c:pt idx="3">
                <c:v>- complaints</c:v>
              </c:pt>
            </c:strLit>
          </c:cat>
          <c:val>
            <c:numLit>
              <c:formatCode/>
              <c:ptCount val="4"/>
              <c:pt idx="0">
                <c:v>100</c:v>
              </c:pt>
              <c:pt idx="1">
                <c:v>108</c:v>
              </c:pt>
              <c:pt idx="2">
                <c:v>114</c:v>
              </c:pt>
              <c:pt idx="3">
                <c:v>116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24AB8-DB25-4272-B4F9-473711FA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C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3EDDA-893E-4F54-A79F-A58D1326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5065D-DCA1-4633-AD97-E8556D52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Oasis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Finder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45156-2812-4508-88FF-5EB57699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DEB"/>
                </a:solidFill>
              </a:defRPr>
            </a:pPr>
            <a:r>
              <a:rPr sz="1800" b="0">
                <a:solidFill>
                  <a:srgbClr val="DDEDEB"/>
                </a:solidFill>
              </a:rPr>
              <a:t>Supply-chain transparency as a merchant conversion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F1F69-8DD1-42DD-BBD2-20575A03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Open-source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DD688-D5CD-40EE-B6DC-F34519CE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Group 9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Rui Huang + Zixiu Wang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A005D-377F-4783-A2CC-2753292E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76300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2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Does supply-chain visibility make users more likely to buy?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66ACE-C999-4886-A7D6-F0377EA5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Our product is not a single app feature. It is a way for merchants to show credible product evidence at the buying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5009E-6C40-4317-8B56-F3C92EA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601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6F541-59E8-44B8-BD6C-747FD104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5676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Thesis: more credible supply-chain evidence reduces perceived risk and increases purchase confidence, especially for perishable or high-trust foods.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7923D-3F05-4ED4-9DF9-4CA8A617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64A7"/>
                </a:solidFill>
              </a:defRPr>
            </a:pPr>
            <a:r>
              <a:rPr sz="1575" b="1">
                <a:solidFill>
                  <a:srgbClr val="3564A7"/>
                </a:solidFill>
              </a:rPr>
              <a:t>https://github.com/3351666087/Oasis-Finder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7ADA1-346D-44A9-A573-9421B817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6735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5414A"/>
                </a:solidFill>
              </a:defRPr>
            </a:pPr>
            <a:r>
              <a:rPr sz="1500" b="0">
                <a:solidFill>
                  <a:srgbClr val="35414A"/>
                </a:solidFill>
              </a:rPr>
              <a:t>8-minute flow: problem -&gt; questionnaire signal -&gt; product proof -&gt; merchant value -&gt; build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D26B1-A5DE-41F2-AA25-5AF00205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936805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89A68-9547-4692-8E94-C9179999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COMMERCIAL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CB8D9-9938-4543-8C36-D20129E8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018B9-AFBD-4725-8F19-801D75CF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E3CF1-3F89-44CE-A900-F4A37A82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</a:defRPr>
            </a:pPr>
            <a:r>
              <a:rPr sz="2850" b="1">
                <a:solidFill>
                  <a:srgbClr val="121820"/>
                </a:solidFill>
              </a:rPr>
              <a:t>Evidence visibility becomes a buying trigger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8E611-E790-43C7-A9B3-97507053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638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5414A"/>
                </a:solidFill>
              </a:defRPr>
            </a:pPr>
            <a:r>
              <a:rPr sz="1500" b="0">
                <a:solidFill>
                  <a:srgbClr val="35414A"/>
                </a:solidFill>
              </a:rPr>
              <a:t>The question is not whether supply-chain data exists. The question is whether the shopper sees enough proof to trust the product before purchase.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1CEF7-C6DE-4ED7-A65B-01BB06C0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0AE58-1551-4B9A-9C58-F44FA6FE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57374-E588-4383-88F4-98142C6A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70E4C-79EC-43B1-9342-198EDF9E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447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7C72"/>
                </a:solidFill>
              </a:defRPr>
            </a:pPr>
            <a:r>
              <a:rPr sz="2325" b="1">
                <a:solidFill>
                  <a:srgbClr val="0E7C72"/>
                </a:solidFill>
              </a:rPr>
              <a:t>trust lift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C1C05-405B-4734-8E60-06971EA0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63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visible origin, batch, QC and temperature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1C854-2AC4-4490-A966-034B0C55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B2294-6A55-4D79-A937-9DC8404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02B1B-DE1B-47DF-9F95-A4943227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BUYER PAIN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781EF-1137-40A5-A755-7C8E48EE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00350"/>
            <a:ext cx="1447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F45"/>
                </a:solidFill>
              </a:defRPr>
            </a:pPr>
            <a:r>
              <a:rPr sz="2325" b="1">
                <a:solidFill>
                  <a:srgbClr val="D95F45"/>
                </a:solidFill>
              </a:rPr>
              <a:t>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BB2F4-74B3-47D1-AEA3-8407F2E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766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00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freshness and safety are hard to inspect by eye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ED07F-3348-4E55-870B-9FC9AD2A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1790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3AC17-51C5-4F0D-8A08-9B430625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CF63F-9AE2-4E99-BCAC-97ABEBDC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MERCHANT 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C3648-19FA-47AE-9CFE-3FFE64ED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1447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9B35"/>
                </a:solidFill>
              </a:defRPr>
            </a:pPr>
            <a:r>
              <a:rPr sz="2325" b="1">
                <a:solidFill>
                  <a:srgbClr val="C89B35"/>
                </a:solidFill>
              </a:rPr>
              <a:t>proof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525D5-5724-4B52-BE0D-D2C07BC8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766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78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convert evidence into a sales asset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0B6E5-0183-4561-B281-76622903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5581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BA4C3-1CA5-4EBA-BA25-9389DC87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Sales line: show the journey behind the food, so quality is no longer just a promise.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0" y="1143000"/>
          <a:ext xmlns:a="http://schemas.openxmlformats.org/drawingml/2006/main" cx="419100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8db12dc2aa49e1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6CC32-08FD-4FEF-97C8-22FF03F7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7810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27C"/>
                </a:solidFill>
              </a:defRPr>
            </a:pPr>
            <a:r>
              <a:rPr sz="1200" b="1">
                <a:solidFill>
                  <a:srgbClr val="66727C"/>
                </a:solidFill>
              </a:rPr>
              <a:t>Relative buying-lift signal by category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DB3FD1-15FB-431C-A4C3-9543A7BB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0191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9FC0F8-1B1D-405A-ADA7-C9A7A30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820"/>
                </a:solidFill>
              </a:defRPr>
            </a:pPr>
            <a:r>
              <a:rPr sz="1050" b="1">
                <a:solidFill>
                  <a:srgbClr val="121820"/>
                </a:solidFill>
              </a:rPr>
              <a:t>Cake / bakery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616C99-7F3F-4847-A28F-A8E570D9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2442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14A"/>
                </a:solidFill>
              </a:defRPr>
            </a:pPr>
            <a:r>
              <a:rPr sz="1050" b="0">
                <a:solidFill>
                  <a:srgbClr val="35414A"/>
                </a:solidFill>
              </a:rPr>
              <a:t>freshness + ingredients + allergy trust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23F9B-53F2-419F-A026-4593D2E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191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7620">
            <a:solidFill>
              <a:srgbClr val="D7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957354-4EE0-4594-8D87-C959FAA8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482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820"/>
                </a:solidFill>
              </a:defRPr>
            </a:pPr>
            <a:r>
              <a:rPr sz="1050" b="1">
                <a:solidFill>
                  <a:srgbClr val="121820"/>
                </a:solidFill>
              </a:rPr>
              <a:t>Seafood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286659-2BC2-48E7-9DC3-B428813C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482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14A"/>
                </a:solidFill>
              </a:defRPr>
            </a:pPr>
            <a:r>
              <a:rPr sz="1050" b="0">
                <a:solidFill>
                  <a:srgbClr val="35414A"/>
                </a:solidFill>
              </a:rPr>
              <a:t>cold-chain and origin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9BD360-56A6-4611-B4DF-CDBA210D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191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D0E1AF-DA59-4713-92BC-38037CC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820"/>
                </a:solidFill>
              </a:defRPr>
            </a:pPr>
            <a:r>
              <a:rPr sz="1050" b="1">
                <a:solidFill>
                  <a:srgbClr val="121820"/>
                </a:solidFill>
              </a:rPr>
              <a:t>Meat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E4D80D-7BEE-4BC1-A1E6-478988FD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14A"/>
                </a:solidFill>
              </a:defRPr>
            </a:pPr>
            <a:r>
              <a:rPr sz="1050" b="0">
                <a:solidFill>
                  <a:srgbClr val="35414A"/>
                </a:solidFill>
              </a:rPr>
              <a:t>safety expiry inspection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9E4F41-C2BA-4285-B5CC-11734E41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191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7620">
            <a:solidFill>
              <a:srgbClr val="D7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711958-3D1C-40D9-8BEA-E9FCA5E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959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820"/>
                </a:solidFill>
              </a:defRPr>
            </a:pPr>
            <a:r>
              <a:rPr sz="1050" b="1">
                <a:solidFill>
                  <a:srgbClr val="121820"/>
                </a:solidFill>
              </a:rPr>
              <a:t>Dairy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896BC6-81A3-4C47-833E-8F1E8496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959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5414A"/>
                </a:solidFill>
              </a:defRPr>
            </a:pPr>
            <a:r>
              <a:rPr sz="1050" b="0">
                <a:solidFill>
                  <a:srgbClr val="35414A"/>
                </a:solidFill>
              </a:rPr>
              <a:t>safety expiry inspection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F19187-9484-4BA6-A5B5-E2746FDD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482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7C"/>
                </a:solidFill>
              </a:defRPr>
            </a:pPr>
            <a:r>
              <a:rPr sz="975" b="0">
                <a:solidFill>
                  <a:srgbClr val="66727C"/>
                </a:solidFill>
              </a:rPr>
              <a:t>Directional 1-5 response coding. It supports commercial positioning; it should be validated later with real product-page A/B testing.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E038E5-7E2C-4D94-B5BB-EF4B184A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93BB5D-E176-423A-859E-E4C7EB17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Ge (2022); Tran et al. (2024); Group 9 questionnaire direction</a:t>
            </a:r>
          </a:p>
        </p:txBody>
      </p:sp>
    </p:spTree>
    <p:extLst>
      <p:ext uri="{BB962C8B-B14F-4D97-AF65-F5344CB8AC3E}">
        <p14:creationId xmlns:p14="http://schemas.microsoft.com/office/powerpoint/2010/main" val="935632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C50BB-374D-49F2-B2C6-C426FEE6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WHY IT PAYS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08EAA-7C21-4E16-ADA1-B3FA1E46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03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8B8EA-256C-4441-AB80-1270DF56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EAE2-9508-43AD-855A-3FDC73CE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48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The commercial mechanism is risk reduction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AD199-2859-4477-A49C-A33EE284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Transparency works as advertising because it turns an invisible quality claim into a visible decision cue.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5088A-A3DA-4DA4-A611-D481E9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9A078-61AE-4168-8027-B0DF3F4E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622FC-18F3-4CAD-A3EB-EB6AB667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6CED3-8D4C-4CB8-A40E-396EA5EC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Evidence shown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506F7-2EF5-4DAA-8AB6-50C3EAB2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Supplier map, batch, timestamp, location, temperature, certificate.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B2864-33BD-4F75-9758-8A8C26FA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E8172-F589-4FF7-B7EA-082D9899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7D248-F4CB-49D3-9DEA-46975828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790FD-E3F2-471C-9443-C35531C7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Risk drops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62575-31EF-4F5B-AAE5-06032049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Consumers feel less uncertainty about freshness and safety.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F9122-1C70-4F2E-A02D-F7D730BE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BF661-25DE-4D92-B6A1-DC98B6F3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F7250-518E-4324-9259-B633EDC7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DE85E-BE87-4CE7-8D4D-14ABFEF1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Value rises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55471-DCBE-48A2-9C5B-C6E2C620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The product becomes easier to trust and easier to justify.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E22C4-3DA1-474D-8C61-D008A568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FF8FE-7279-4FB6-8C0D-935506E1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BE42F-BC70-4DE5-B507-F7E1D85F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CA3F71-0C91-4D96-8B8A-3BB56914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Revenue improves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34D1D-8CE6-4746-AD1D-757F7E49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Higher conversion, premium tolerance, and repeat intention.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ED5B4-BE88-422C-9C2A-C5F8975C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9110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9C879A-31D4-4BBA-9E3B-8C2AE3C8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Advertising claim moves from “trust us” to “inspect the evidence”. That is why the same product page can become more persuasive.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12C05C-C916-405D-9909-68BE0AEE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2C4A5-86FD-45CB-9601-F0B37A24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Ge (2022); Wang et al. (2021)</a:t>
            </a:r>
          </a:p>
        </p:txBody>
      </p:sp>
    </p:spTree>
    <p:extLst>
      <p:ext uri="{BB962C8B-B14F-4D97-AF65-F5344CB8AC3E}">
        <p14:creationId xmlns:p14="http://schemas.microsoft.com/office/powerpoint/2010/main" val="268851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E5E56-F03C-483D-A75A-C036D179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PRODUCT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08BEF-2676-414B-BFAA-48913001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04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409E0-C9AD-495F-88FC-27C9D1FA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3306A-24AD-4683-984D-D1FF141E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What a merchant should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C216B-5058-4C5B-8FD5-60A05A82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Oasis Finder is a display method plus data schema. We open-source the code, but merchants remain responsible for the truth of their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781AC-FE78-44FF-886D-AA1D0194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201FB-6EAD-418F-93F1-3987179D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Product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82188-0DDB-481C-95B0-974BBF36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SKU / GTIN, QR code, batch or lot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D4C5E-F3F8-497D-AE09-5311C4C6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33162-5FBA-4399-8BBD-30550475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798B6-45E6-4B11-B5BE-385337E6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supplier, plant, warehouse, location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67D05-ECB1-41B2-B39B-03016FAD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DAF25-8479-4D22-B615-2668E9A5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73D94-1EB5-4A7A-85A6-C4BC4625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5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harvest, production, receiving, shipping, arrival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5134E-D7EA-473D-9A21-1A9E72B2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2A473-7DAC-494F-9F5A-AF517BFA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Condition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AB9E2-DCB6-4993-AC91-8FAF2F4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7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temperature, breach minutes, freshness, shelf life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981E7-0666-4DD6-A1E9-3F951292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623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796C2-0BA6-4035-B26E-318C8D63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Quality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84571-F89A-4ADA-82E1-0CDB7295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57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inspection result, package score, residue/pathogen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6A902-14D4-4442-96B7-7E26E8CE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BF9EE-7B95-4550-B17C-1D39A982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Evidence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F4E72-1C02-4623-9868-2A27A083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5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supplier, auditor, carrier, certificate URI or hash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0CD26-0470-410C-96AD-5FF70F6D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0039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D95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D1B16-1857-4C3F-A17A-1C7F1D67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Data disclaimer: Oasis Finder provides interface, schema, and API slots. We do not guarantee merchant data authenticity; audits, IoT logs, and supplier records should validate claims.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023F2-F79B-402F-81CB-F63FF464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28F486-14ED-408F-9390-9D0102EF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FDA FSMA 204; GS1 Traceability Standard</a:t>
            </a:r>
          </a:p>
        </p:txBody>
      </p:sp>
    </p:spTree>
    <p:extLst>
      <p:ext uri="{BB962C8B-B14F-4D97-AF65-F5344CB8AC3E}">
        <p14:creationId xmlns:p14="http://schemas.microsoft.com/office/powerpoint/2010/main" val="1055908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C3747-4AE2-4825-9AAD-710A8D7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COURSE METHOD + BUILD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41E7A-7979-4AF0-B5EB-8D2FC618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05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599F8-2BDB-4889-A029-6E7887C3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4CF12-EB2D-4B84-BFDD-6A99AA03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Course concepts shaped the product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29D47-0C40-48B8-A44F-0FF38AC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project uses Week 2-8 knowledge as a chain: strategic question, evidence plan, coding, survey signal, and mixed-method recommendation.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96F43-B767-4E36-912D-E39930AA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EB014-894F-4988-9BDC-C589F0FE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0FF31-2BD4-42A8-A4FE-8EBE04AA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27C"/>
                </a:solidFill>
              </a:defRPr>
            </a:pPr>
            <a:r>
              <a:rPr sz="1350" b="1">
                <a:solidFill>
                  <a:srgbClr val="66727C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44467-2AD8-441A-80E7-98C028F6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820"/>
                </a:solidFill>
              </a:defRPr>
            </a:pPr>
            <a:r>
              <a:rPr sz="1650" b="1">
                <a:solidFill>
                  <a:srgbClr val="121820"/>
                </a:solidFill>
              </a:rPr>
              <a:t>Evidence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6D3FF-9DCA-43DB-AFAF-0785CDFC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35414A"/>
                </a:solidFill>
              </a:defRPr>
            </a:pPr>
            <a:r>
              <a:rPr sz="1163" b="0">
                <a:solidFill>
                  <a:srgbClr val="35414A"/>
                </a:solidFill>
              </a:rPr>
              <a:t>Define one decision: can proof at the buying moment increase confidence?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D648C-626A-4D5B-B41E-40DF476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3A4CC-E4FD-4C7A-8B8A-97E53C5E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86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27C"/>
                </a:solidFill>
              </a:defRPr>
            </a:pPr>
            <a:r>
              <a:rPr sz="1350" b="1">
                <a:solidFill>
                  <a:srgbClr val="66727C"/>
                </a:solidFill>
              </a:rPr>
              <a:t>Week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0C843-3C80-45E7-A1F7-61A0E1A2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28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820"/>
                </a:solidFill>
              </a:defRPr>
            </a:pPr>
            <a:r>
              <a:rPr sz="1650" b="1">
                <a:solidFill>
                  <a:srgbClr val="121820"/>
                </a:solidFill>
              </a:rPr>
              <a:t>Data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513D1-470E-470D-9F86-84E59A52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814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35414A"/>
                </a:solidFill>
              </a:defRPr>
            </a:pPr>
            <a:r>
              <a:rPr sz="1163" b="0">
                <a:solidFill>
                  <a:srgbClr val="35414A"/>
                </a:solidFill>
              </a:rPr>
              <a:t>Turn uncertainty into variables: trust, proof score, route clicks, purchase intent.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84628-52DB-4F6E-9190-EC08A8FF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3D195-D5FA-41A9-99C8-4DBD3D08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86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27C"/>
                </a:solidFill>
              </a:defRPr>
            </a:pPr>
            <a:r>
              <a:rPr sz="1350" b="1">
                <a:solidFill>
                  <a:srgbClr val="66727C"/>
                </a:solidFill>
              </a:rPr>
              <a:t>Week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39C40-18D6-4BFE-9C25-5C4EBC0C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820"/>
                </a:solidFill>
              </a:defRPr>
            </a:pPr>
            <a:r>
              <a:rPr sz="1650" b="1">
                <a:solidFill>
                  <a:srgbClr val="121820"/>
                </a:solidFill>
              </a:rPr>
              <a:t>Open coding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DC2FB-71E6-48F4-8B65-C561E1D6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814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35414A"/>
                </a:solidFill>
              </a:defRPr>
            </a:pPr>
            <a:r>
              <a:rPr sz="1163" b="0">
                <a:solidFill>
                  <a:srgbClr val="35414A"/>
                </a:solidFill>
              </a:rPr>
              <a:t>Convert route evidence into reusable tags, patterns, and insight labels.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EBEAC-4236-4C7C-8923-0DDEA514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FE6B2-E201-41F1-827B-424DE462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27C"/>
                </a:solidFill>
              </a:defRPr>
            </a:pPr>
            <a:r>
              <a:rPr sz="1350" b="1">
                <a:solidFill>
                  <a:srgbClr val="66727C"/>
                </a:solidFill>
              </a:rPr>
              <a:t>Week 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3E419-CEC8-4D2E-8466-563DC684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820"/>
                </a:solidFill>
              </a:defRPr>
            </a:pPr>
            <a:r>
              <a:rPr sz="1650" b="1">
                <a:solidFill>
                  <a:srgbClr val="121820"/>
                </a:solidFill>
              </a:rPr>
              <a:t>Questionnaire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00C3C2-6987-4E71-BFAB-8189555E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35414A"/>
                </a:solidFill>
              </a:defRPr>
            </a:pPr>
            <a:r>
              <a:rPr sz="1163" b="0">
                <a:solidFill>
                  <a:srgbClr val="35414A"/>
                </a:solidFill>
              </a:rPr>
              <a:t>Use DV/IV logic: visibility of evidence -&gt; stated buying probability.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03C13-F499-40F2-B9FE-2191A5C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B69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B5ED1-3FDC-4962-8FF7-3152127E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27C"/>
                </a:solidFill>
              </a:defRPr>
            </a:pPr>
            <a:r>
              <a:rPr sz="1350" b="1">
                <a:solidFill>
                  <a:srgbClr val="66727C"/>
                </a:solidFill>
              </a:rPr>
              <a:t>Week 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96FF9-2772-4B5F-BEC0-9284EBFB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28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820"/>
                </a:solidFill>
              </a:defRPr>
            </a:pPr>
            <a:r>
              <a:rPr sz="1650" b="1">
                <a:solidFill>
                  <a:srgbClr val="121820"/>
                </a:solidFill>
              </a:rPr>
              <a:t>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4E9F5A-421F-41E8-9274-095F4BE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35414A"/>
                </a:solidFill>
              </a:defRPr>
            </a:pPr>
            <a:r>
              <a:rPr sz="1163" b="0">
                <a:solidFill>
                  <a:srgbClr val="35414A"/>
                </a:solidFill>
              </a:rPr>
              <a:t>Combine survey direction, qualitative meaning, secondary sources, and prototype proof.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11110-372B-4A6D-A858-D53C5145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E9842-A6CD-463B-B734-60127A92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62600"/>
            <a:ext cx="803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Build narrative: course method -&gt; evidence requirement -&gt; working proof page -&gt; merchant sales story.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F5F73-758C-4057-8969-5B6A4B2A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D53E16-CD4D-458C-9C10-7E1CD9F1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Source: ENT_结构化知识点整理_重构版.docx; Week 2-8</a:t>
            </a:r>
          </a:p>
        </p:txBody>
      </p:sp>
    </p:spTree>
    <p:extLst>
      <p:ext uri="{BB962C8B-B14F-4D97-AF65-F5344CB8AC3E}">
        <p14:creationId xmlns:p14="http://schemas.microsoft.com/office/powerpoint/2010/main" val="805519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401DB-D029-4B16-8561-DB365E1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COMMERCIAL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F120E-E2A9-455D-BB4E-323BB263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06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2DB09-4A09-42AC-B8A9-6EF1D823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DB4E3-4331-4E80-A6BD-DCD9920A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820"/>
                </a:solidFill>
              </a:defRPr>
            </a:pPr>
            <a:r>
              <a:rPr sz="3000" b="1">
                <a:solidFill>
                  <a:srgbClr val="121820"/>
                </a:solidFill>
              </a:rPr>
              <a:t>Turn proof into a conversion asset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5187B-2B5E-4104-892D-0C4FAB8C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Oasis Finder lets a merchant sell the same product with stronger trust signals: route proof, quality proof, and freshness proof are visible before checkout.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3f269483e42a5"/>
          <a:srcRect xmlns:a="http://schemas.openxmlformats.org/drawingml/2006/main" l="0" t="4973" r="0" b="49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266950"/>
            <a:ext cx="5381625" cy="30289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553200" y="2171700"/>
          <a:ext xmlns:a="http://schemas.openxmlformats.org/drawingml/2006/main" cx="42862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394c58fe224d3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D5C35-0BA5-40C0-96FF-96CC5301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81DBA-E88C-43F4-B371-CEB60178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3392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72"/>
                </a:solidFill>
              </a:defRPr>
            </a:pPr>
            <a:r>
              <a:rPr sz="1350" b="1">
                <a:solidFill>
                  <a:srgbClr val="0E7C72"/>
                </a:solidFill>
              </a:rPr>
              <a:t>Trust 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66566-1B94-4DE2-A44C-1850786B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33925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5414A"/>
                </a:solidFill>
              </a:defRPr>
            </a:pPr>
            <a:r>
              <a:rPr sz="1163" b="0">
                <a:solidFill>
                  <a:srgbClr val="35414A"/>
                </a:solidFill>
              </a:rPr>
              <a:t>Origin, batch, QC and cold-chain evidence reduce uncertainty.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56932-A44C-4A07-B47F-8AE13639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4629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55B51-8427-44F5-91B3-FE9F8BBA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482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35"/>
                </a:solidFill>
              </a:defRPr>
            </a:pPr>
            <a:r>
              <a:rPr sz="1350" b="1">
                <a:solidFill>
                  <a:srgbClr val="C89B35"/>
                </a:solidFill>
              </a:rPr>
              <a:t>Price defense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82C09-CB9B-4165-8C8C-2852ED60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48275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5414A"/>
                </a:solidFill>
              </a:defRPr>
            </a:pPr>
            <a:r>
              <a:rPr sz="1163" b="0">
                <a:solidFill>
                  <a:srgbClr val="35414A"/>
                </a:solidFill>
              </a:rPr>
              <a:t>Premium products become easier to justify when proof is inspectable.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470D3-595F-4BE2-A625-A56977B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76900"/>
            <a:ext cx="4629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73C10-C631-44E9-B7DF-EB5D0371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6262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F45"/>
                </a:solidFill>
              </a:defRPr>
            </a:pPr>
            <a:r>
              <a:rPr sz="1350" b="1">
                <a:solidFill>
                  <a:srgbClr val="D95F45"/>
                </a:solidFill>
              </a:rPr>
              <a:t>Repeat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25EC3-7EC0-4DD1-B7B9-0FFF37D9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762625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5414A"/>
                </a:solidFill>
              </a:defRPr>
            </a:pPr>
            <a:r>
              <a:rPr sz="1163" b="0">
                <a:solidFill>
                  <a:srgbClr val="35414A"/>
                </a:solidFill>
              </a:rPr>
              <a:t>QR and evidence panels keep the product memorable after purchase.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99E33-E86B-4812-92C7-0AEAF84D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4810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3564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36270-868A-452C-9281-726BC307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446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9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Pitch line: same SKU, stronger proof, lower hesitation.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12224-4983-4810-A18C-B21F299A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4CAED-1F7C-4B29-BFEA-6BFA25D0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Indexed sales model for pitch use; validate with A/B testing</a:t>
            </a:r>
          </a:p>
        </p:txBody>
      </p:sp>
    </p:spTree>
    <p:extLst>
      <p:ext uri="{BB962C8B-B14F-4D97-AF65-F5344CB8AC3E}">
        <p14:creationId xmlns:p14="http://schemas.microsoft.com/office/powerpoint/2010/main" val="1834927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09A0B-8A06-48A1-8880-1FF6A06A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MERCHANT OFFER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CC23D-8520-4AD3-8E80-F8BB234C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07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4377A-D172-4D61-8DA9-99D6F817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897C0-6D0E-4E6E-962B-D3343952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Sell the method as a trust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D3D6E-B8D1-4D27-95D4-AA955B73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merchant offer is not a software feature list. It is a product-page trust layer for high-risk or premium fresh food.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B5F10-7761-4C01-B322-509B063E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05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E7C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2537C-44CB-4D77-9798-73845CE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C72"/>
                </a:solidFill>
              </a:defRPr>
            </a:pPr>
            <a:r>
              <a:rPr sz="2100" b="1">
                <a:solidFill>
                  <a:srgbClr val="0E7C72"/>
                </a:solidFill>
              </a:rPr>
              <a:t>Starter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2AD28-2965-400B-AF1E-33CE3139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QR route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932D9-9CEC-4C87-840C-14CCED2A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For merchants that need a simple origin 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99B46-B4B7-4944-8018-B4D3AD61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low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B9647-BE8E-4B87-8F59-5CE3503A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3105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89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CA3B5-4631-40A0-90D4-36A4CFD3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9B35"/>
                </a:solidFill>
              </a:defRPr>
            </a:pPr>
            <a:r>
              <a:rPr sz="2100" b="1">
                <a:solidFill>
                  <a:srgbClr val="C89B35"/>
                </a:solidFill>
              </a:rPr>
              <a:t>Pro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21F32-E88D-4EC4-BAB4-A66DF017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Route + QC + media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FB2CA-1441-40A7-82D0-E859F94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62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For premium perishables where trust affects price.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B18DA-2F33-411B-9E90-25DABE40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best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4058F-6D35-4BC5-8251-D53A71BF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3105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5F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CC5A1-C343-4A17-A751-F9650223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90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5F45"/>
                </a:solidFill>
              </a:defRPr>
            </a:pPr>
            <a:r>
              <a:rPr sz="2100" b="1">
                <a:solidFill>
                  <a:srgbClr val="D95F45"/>
                </a:solidFill>
              </a:rPr>
              <a:t>Enterprise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AF7D1-BB24-467D-96FA-38504B2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API + audit + IoT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C6AD8-9F32-4A99-9468-1BA934E1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623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For large chains that need supplier governance.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3AF69-5808-47B8-A771-2C00969D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5290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scalable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1428750" y="5029200"/>
          <a:ext xmlns:a="http://schemas.openxmlformats.org/drawingml/2006/main" cx="8953500" cy="990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009c8695fa4e85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A84DB-1F8B-4161-82A0-3ED192CD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26C9B-BCC9-45EC-98EA-8D3AB92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Commercial packaging model for merchant pitch</a:t>
            </a:r>
          </a:p>
        </p:txBody>
      </p:sp>
    </p:spTree>
    <p:extLst>
      <p:ext uri="{BB962C8B-B14F-4D97-AF65-F5344CB8AC3E}">
        <p14:creationId xmlns:p14="http://schemas.microsoft.com/office/powerpoint/2010/main" val="874148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8C600-CBBC-4683-AE9F-92C127BF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LIVE PRODUCT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F7566-C7B7-459D-8744-2733AE37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08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6CDC0-12C0-4338-B219-11CC8DEA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78610-E924-4D41-BECA-9934E07F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</a:defRPr>
            </a:pPr>
            <a:r>
              <a:rPr sz="2850" b="1">
                <a:solidFill>
                  <a:srgbClr val="121820"/>
                </a:solidFill>
              </a:rPr>
              <a:t>The current product is already demonstrable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FED85-CA59-4430-8E1E-94E3B219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Instead of explaining a workflow page by page, we show the live customer page and merchant studio as proof that the commercial method can run.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c35a825224b3e"/>
          <a:srcRect xmlns:a="http://schemas.openxmlformats.org/drawingml/2006/main" l="131" t="0" r="1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247900"/>
            <a:ext cx="5010150" cy="26860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eee4bc5324f5a"/>
          <a:srcRect xmlns:a="http://schemas.openxmlformats.org/drawingml/2006/main" l="0" t="7110" r="0" b="7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247900"/>
            <a:ext cx="5010150" cy="2686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A048C-1E43-4D49-8EAC-96DFEA08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E1921-ED00-4F32-914D-0C553FBC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C7E52-80AF-46CC-815F-4B6FFEBC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9115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CUSTOMER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35B7E-E853-478C-A16D-2FFA78E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7C72"/>
                </a:solidFill>
              </a:defRPr>
            </a:pPr>
            <a:r>
              <a:rPr sz="2325" b="1">
                <a:solidFill>
                  <a:srgbClr val="0E7C72"/>
                </a:solidFill>
              </a:rPr>
              <a:t>route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1DA9E-84E5-45E1-AA0A-D7AA350E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34100"/>
            <a:ext cx="17526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thumbnail-first product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5F22D-7303-4ADC-8D66-6F3B3A1A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CE686-0D00-475D-847B-2FBA560F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67FB6-8278-465E-8CE0-04458EFC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9115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MERCHANT STUDIO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21E3E-0383-4505-B0B2-077927BB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57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64A7"/>
                </a:solidFill>
              </a:defRPr>
            </a:pPr>
            <a:r>
              <a:rPr sz="2325" b="1">
                <a:solidFill>
                  <a:srgbClr val="3564A7"/>
                </a:solidFill>
              </a:rPr>
              <a:t>flow editor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ABA7A-A0A0-417D-A046-A70C2EA1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134100"/>
            <a:ext cx="17526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tagged nodes and arrow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1F540-3F3B-4A9B-AC02-5334EE64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19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97C64-5F70-4252-80C7-F79D86D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19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7D72F-4D61-4976-80B4-ADE17C1C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9115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PACKAGED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A1D76-04D5-4853-9210-072B30BD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57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9B35"/>
                </a:solidFill>
              </a:defRPr>
            </a:pPr>
            <a:r>
              <a:rPr sz="2325" b="1">
                <a:solidFill>
                  <a:srgbClr val="C89B35"/>
                </a:solidFill>
              </a:rPr>
              <a:t>offline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6CF31-EDB8-4796-AD5C-F04096D9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134100"/>
            <a:ext cx="17526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fallback data for new PCs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7BF17-DAA0-4546-8E34-00C821D7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19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02244-6357-4495-AC6D-CDD80726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197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E6F5B-9542-48A7-9941-0200D141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9115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OPEN DEMO URL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D21EE5-3026-4ED0-BB3E-494E3DC6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57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F45"/>
                </a:solidFill>
              </a:defRPr>
            </a:pPr>
            <a:r>
              <a:rPr sz="2325" b="1">
                <a:solidFill>
                  <a:srgbClr val="D95F45"/>
                </a:solidFill>
              </a:rPr>
              <a:t>127.0.0.1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95C210-2046-4F11-B7A3-9175788E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134100"/>
            <a:ext cx="17526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browser showcase launcher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6704A-8449-45B2-BCDD-AF6F33E7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477A3-BA3D-436C-A13F-8F5E189B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Current local screenshots; packaged demo fallback</a:t>
            </a:r>
          </a:p>
        </p:txBody>
      </p:sp>
    </p:spTree>
    <p:extLst>
      <p:ext uri="{BB962C8B-B14F-4D97-AF65-F5344CB8AC3E}">
        <p14:creationId xmlns:p14="http://schemas.microsoft.com/office/powerpoint/2010/main" val="2057871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FCEFA-56EF-491A-8E49-954E2204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TECHNICAL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85605-B05F-42FC-999B-A9434CC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09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5DDF9-F4AB-40F5-9E84-1D7DDA7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A09CD-EB26-4F8E-B60B-F6677EEF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A real backend supports the sales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B12EF-A462-449B-BBAA-324E1444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commercial trust layer is backed by route data, editable flow logic, packaged fallback data, and an operational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AD286-6D0B-4714-B32A-A2937BE4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BA811-DB61-4B16-B76B-D44F8D74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31109-F38F-44EA-8AEF-69457AAF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FACILITIES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E0309-A3BB-416A-9D79-06AD7DEB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7C72"/>
                </a:solidFill>
              </a:defRPr>
            </a:pPr>
            <a:r>
              <a:rPr sz="2325" b="1">
                <a:solidFill>
                  <a:srgbClr val="0E7C72"/>
                </a:solidFill>
              </a:rPr>
              <a:t>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94FA3-3044-494E-82A3-02DF06B6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nodes across supplier, plant, downstream, and service tiers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BE9DC-0FFF-40C1-99D4-51194416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01EB8-A212-4965-8F10-2BFD228E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3E6F5-7996-4EC5-B1D5-28A8C8C2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ACTIVE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39E2E-3560-4D2C-A111-F1711692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64A7"/>
                </a:solidFill>
              </a:defRPr>
            </a:pPr>
            <a:r>
              <a:rPr sz="2325" b="1">
                <a:solidFill>
                  <a:srgbClr val="3564A7"/>
                </a:solidFill>
              </a:rPr>
              <a:t>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FB808-2D84-475D-B537-A13DFF01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material and distribution relationships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7A3D2-92F5-4E17-B629-8445C1A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0F8DA-4223-45F9-8D38-D6A793BA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37AE9-B653-4DD6-88ED-071DE9E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BATCHES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76F6E-0C07-4A6B-AF03-4973983D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9B35"/>
                </a:solidFill>
              </a:defRPr>
            </a:pPr>
            <a:r>
              <a:rPr sz="2325" b="1">
                <a:solidFill>
                  <a:srgbClr val="C89B35"/>
                </a:solidFill>
              </a:rPr>
              <a:t>418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84DAF-3D75-4BF3-9018-3FE1403D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finished-goods batches with trace paths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920D7-3823-4334-9D83-54904A7E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ABAD1-B9B1-4977-A1D6-83BE17FA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45FE9-DDC8-45A5-BE57-52819CB2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FORECAST DAYS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2DB3F-8FF2-4D6F-942E-9F50F16B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F45"/>
                </a:solidFill>
              </a:defRPr>
            </a:pPr>
            <a:r>
              <a:rPr sz="2325" b="1">
                <a:solidFill>
                  <a:srgbClr val="D95F45"/>
                </a:solidFill>
              </a:rPr>
              <a:t>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F730FF-70D9-42BA-9D36-B5DAB6DB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planning horizon for demand and inventory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57250" y="4210050"/>
          <a:ext xmlns:a="http://schemas.openxmlformats.org/drawingml/2006/main" cx="44767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f3fb1ec75e4fb4"/>
          </a:graphicData>
        </a:graphic>
      </p:graphicFrame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8ede19a9746cf"/>
          <a:srcRect xmlns:a="http://schemas.openxmlformats.org/drawingml/2006/main" l="0" t="109" r="0" b="1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4095750"/>
            <a:ext cx="4953000" cy="1695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7F4A2-A0A5-42A4-ADCB-11489BA7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38AC67-8ACF-4540-B008-85CD366A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CSV: technical_model_metrics.csv; current flow editor screenshot</a:t>
            </a:r>
          </a:p>
        </p:txBody>
      </p:sp>
    </p:spTree>
    <p:extLst>
      <p:ext uri="{BB962C8B-B14F-4D97-AF65-F5344CB8AC3E}">
        <p14:creationId xmlns:p14="http://schemas.microsoft.com/office/powerpoint/2010/main" val="1393436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8A1C7-CB3D-4CAC-9E41-430F5C6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MERCHANT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CB3AF-8AA9-4017-AF4B-5268598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10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74403-6360-4987-B964-27629534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DC3E9-C2FB-442E-BA3D-30F3FD8D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0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Why merchants can earn more with this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836AE-887C-4F43-97A9-6F135A3D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Oasis Finder is useful to merchants because it makes premium quality easier to believe before purchase.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b343cceab2484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3F39C-CBE1-45DF-85D6-C51A8D00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FD1A6-3B08-4A81-AD9F-056171F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2"/>
                </a:solidFill>
              </a:defRPr>
            </a:pPr>
            <a:r>
              <a:rPr sz="1800" b="1">
                <a:solidFill>
                  <a:srgbClr val="0E7C72"/>
                </a:solidFill>
              </a:rPr>
              <a:t>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31E6C-AB23-4F67-858F-0FF74B8F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lower uncertainty at the exact buying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B9F13-793D-4AE9-ACB0-DE1F1CD8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96082-0755-401E-9332-6631F617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9B35"/>
                </a:solidFill>
              </a:defRPr>
            </a:pPr>
            <a:r>
              <a:rPr sz="1800" b="1">
                <a:solidFill>
                  <a:srgbClr val="C89B35"/>
                </a:solidFill>
              </a:rPr>
              <a:t>Premium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8485B-0BFC-41D2-863E-5A032ED3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traceability is linked with WTP and perceived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7CCE2-D909-4C92-AC61-976ADC5E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D2E1B-3A45-4F99-AF2F-BCE415B7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386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F45"/>
                </a:solidFill>
              </a:defRPr>
            </a:pPr>
            <a:r>
              <a:rPr sz="1800" b="1">
                <a:solidFill>
                  <a:srgbClr val="D95F45"/>
                </a:solidFill>
              </a:rPr>
              <a:t>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D60F6-3344-441E-9658-7C0D81F5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clearer evidence supports repeat intention and fewer disputes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5DEFA-6E56-43DB-A313-5EEAFD59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29250"/>
            <a:ext cx="7715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3564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29DD5-DB64-4DA0-B8B5-AD21D27D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81650"/>
            <a:ext cx="737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Use as ad copy: "scan the product journey, not just the package."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8193A-6B95-4037-A87F-F8EFD9FC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5D41D-4CAB-491A-B971-7D5F1A37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CSV: merchant_value_index.csv; Tran et al. (2024)</a:t>
            </a:r>
          </a:p>
        </p:txBody>
      </p:sp>
    </p:spTree>
    <p:extLst>
      <p:ext uri="{BB962C8B-B14F-4D97-AF65-F5344CB8AC3E}">
        <p14:creationId xmlns:p14="http://schemas.microsoft.com/office/powerpoint/2010/main" val="138899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4A9AA-2CA9-4CE7-8D3D-603FFDC4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PILOT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3845C-A611-4FBC-94E8-24685A86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11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26D03-A51B-448B-BD27-C287E231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98B61-5905-4768-AE5F-111FFFE9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Next proof: merchant A/B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476A3-D28D-4667-BE00-1AF0C800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After the questionnaire signal, the next step is a real product-page experiment that links transparency to purchase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2ACA3-B5F8-4479-B470-F716148C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EB4BA-8A24-4F17-A87B-4338D741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2"/>
                </a:solidFill>
              </a:defRPr>
            </a:pPr>
            <a:r>
              <a:rPr sz="1800" b="1">
                <a:solidFill>
                  <a:srgbClr val="0E7C72"/>
                </a:solidFill>
              </a:rPr>
              <a:t>Test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98B10-B10C-48F1-BE76-FB8EAB95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Same product, same price, two product pages: baseline page versus Oasis Finder evidence page.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E0237-01A8-4210-A2E8-234B68EF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0BE9A-98D3-4360-B1AF-A03D5374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4A7"/>
                </a:solidFill>
              </a:defRPr>
            </a:pPr>
            <a:r>
              <a:rPr sz="1800" b="1">
                <a:solidFill>
                  <a:srgbClr val="3564A7"/>
                </a:solidFill>
              </a:rPr>
              <a:t>Product cells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184DD-6D85-45E4-BE9D-36611EFC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Cake, seafood, meat, dairy, and ready-to-eat meals because freshness and safety concerns are high.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CFB17-95CD-4143-8873-3A481F10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DE61E-C651-495C-B68A-8836CAE7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9B35"/>
                </a:solidFill>
              </a:defRPr>
            </a:pPr>
            <a:r>
              <a:rPr sz="1800" b="1">
                <a:solidFill>
                  <a:srgbClr val="C89B35"/>
                </a:solidFill>
              </a:rPr>
              <a:t>Outcome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8EDA4-80D3-4F5E-9B41-83D0CD54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QR scan rate, evidence-panel clicks, add-to-cart, purchase conversion, willingness-to-pay, repeat intent.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4D6F3-698C-43FC-AD31-C89160E3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1DA46-089E-404B-80B1-3CDB0C66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F45"/>
                </a:solidFill>
              </a:defRPr>
            </a:pPr>
            <a:r>
              <a:rPr sz="1800" b="1">
                <a:solidFill>
                  <a:srgbClr val="D95F45"/>
                </a:solidFill>
              </a:rPr>
              <a:t>Decision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B9687-DE03-46DC-B768-EE333128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Adopt the method when purchase lift and trust lift both improve without increasing confusion.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8AE63-8B84-40E4-B40A-95E7CC2D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76900"/>
            <a:ext cx="9601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AB0EA-D197-483A-8E5E-0568DE4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29300"/>
            <a:ext cx="925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46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Commercial validation target: prove that inspectable supply-chain evidence changes real purchase behavior, not only stated preference.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68123-B99F-415F-98DA-C16B0D88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062F9-97B3-407F-87A5-0F085A57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Pilot metrics prepared for CSV event export</a:t>
            </a:r>
          </a:p>
        </p:txBody>
      </p:sp>
    </p:spTree>
    <p:extLst>
      <p:ext uri="{BB962C8B-B14F-4D97-AF65-F5344CB8AC3E}">
        <p14:creationId xmlns:p14="http://schemas.microsoft.com/office/powerpoint/2010/main" val="2060393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AB18CA-09AC-4823-B833-A2142474D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8B044-8941-4724-8168-12A07EAC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APA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27AE5-3A1E-4F3A-928D-B7AB0F56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12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19487-F3DE-4E43-9165-5481DB30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3EFCE-FAE7-4B70-AB0F-1715E52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820"/>
                </a:solidFill>
              </a:defRPr>
            </a:pPr>
            <a:r>
              <a:rPr sz="3000" b="1">
                <a:solidFill>
                  <a:srgbClr val="121820"/>
                </a:solidFill>
              </a:rPr>
              <a:t>References and closing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4AF50-6E45-46EE-9CFD-E6A07009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4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5414A"/>
                </a:solidFill>
              </a:defRPr>
            </a:pPr>
            <a:r>
              <a:rPr sz="1575" b="0">
                <a:solidFill>
                  <a:srgbClr val="35414A"/>
                </a:solidFill>
              </a:rPr>
              <a:t>Oasis Finder is a transparent-commerce method: open code, clear fields, and inspectable product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8DAB5-C11F-4B3F-8422-285A934F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Ge, L. (2022). To buy or not to buy? A research on the relationship between traceable food extrinsic cues and consumers' purchase intention. Frontiers in Psychology, 13, 873941. https://doi.org/10.3389/fpsyg.2022.873941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29ECD-6CC2-48BF-92A6-78B98853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E4340-9134-4D81-AF0A-4F289B3A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271A9-6AAB-408C-BB5D-E5CE87B8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Badia-Melis, R., Mishra, P., &amp; Ruiz-García, L. (2015). Food traceability: New trends and recent advances. Food Control, 57, 393-401. https://doi.org/10.1016/j.foodcont.2015.05.005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2E560-DF07-4457-B639-2D88E9DA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World Economic Forum. (2019). Innovation with a purpose: Improving traceability in food value chains through technology innovations. https://www.weforum.org/publications/innovation-with-a-purpose-improving-traceability-in-food-value-chains-through-technology-innovations/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FCBB9-416F-4230-8840-52EA859A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U.S. Food and Drug Administration. (2024). Food Traceability Rule: Critical Tracking Events and Key Data Elements. https://www.fda.gov/food/food-safety-modernization-act-fsma/fsma-proposed-rule-food-traceability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F17F7-2DBC-4DA2-8864-443F5DCE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GS1. (n.d.). Traceability standards: Critical Tracking Events and Key Data Elements. https://www.gs1.org/standards/traceability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7BE0F-6067-4C10-BB5E-D6E2EE5A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1820"/>
                </a:solidFill>
              </a:defRPr>
            </a:pPr>
            <a:r>
              <a:rPr sz="1800" b="1">
                <a:solidFill>
                  <a:srgbClr val="121820"/>
                </a:solidFill>
              </a:rPr>
              <a:t>Final line: We do not ask users to trust a slogan. We let them inspect the chain behind the product.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9A141-CB01-4BDA-A169-174D0FEC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41341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2026-04-28T15:46:12.3850000Z</dcterms:created>
  <dcterms:modified xsi:type="dcterms:W3CDTF">2026-04-28T15:46:12.3850000Z</dcterms:modified>
</coreProperties>
</file>